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Medium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Roboto SemiBold"/>
      <p:regular r:id="rId38"/>
      <p:bold r:id="rId39"/>
      <p:italic r:id="rId40"/>
      <p:boldItalic r:id="rId41"/>
    </p:embeddedFont>
    <p:embeddedFont>
      <p:font typeface="Helvetica Neue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miBold-italic.fntdata"/><Relationship Id="rId42" Type="http://schemas.openxmlformats.org/officeDocument/2006/relationships/font" Target="fonts/HelveticaNeue-regular.fntdata"/><Relationship Id="rId41" Type="http://schemas.openxmlformats.org/officeDocument/2006/relationships/font" Target="fonts/RobotoSemiBold-boldItalic.fntdata"/><Relationship Id="rId44" Type="http://schemas.openxmlformats.org/officeDocument/2006/relationships/font" Target="fonts/HelveticaNeue-italic.fntdata"/><Relationship Id="rId43" Type="http://schemas.openxmlformats.org/officeDocument/2006/relationships/font" Target="fonts/HelveticaNeue-bold.fntdata"/><Relationship Id="rId45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33" Type="http://schemas.openxmlformats.org/officeDocument/2006/relationships/font" Target="fonts/RobotoMedium-boldItalic.fntdata"/><Relationship Id="rId32" Type="http://schemas.openxmlformats.org/officeDocument/2006/relationships/font" Target="fonts/RobotoMedium-italic.fntdata"/><Relationship Id="rId35" Type="http://schemas.openxmlformats.org/officeDocument/2006/relationships/font" Target="fonts/Roboto-bold.fntdata"/><Relationship Id="rId34" Type="http://schemas.openxmlformats.org/officeDocument/2006/relationships/font" Target="fonts/Roboto-regular.fntdata"/><Relationship Id="rId37" Type="http://schemas.openxmlformats.org/officeDocument/2006/relationships/font" Target="fonts/Roboto-boldItalic.fntdata"/><Relationship Id="rId36" Type="http://schemas.openxmlformats.org/officeDocument/2006/relationships/font" Target="fonts/Roboto-italic.fntdata"/><Relationship Id="rId39" Type="http://schemas.openxmlformats.org/officeDocument/2006/relationships/font" Target="fonts/RobotoSemiBold-bold.fntdata"/><Relationship Id="rId38" Type="http://schemas.openxmlformats.org/officeDocument/2006/relationships/font" Target="fonts/RobotoSemiBold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57eda05d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Olivier</a:t>
            </a:r>
            <a:endParaRPr/>
          </a:p>
        </p:txBody>
      </p:sp>
      <p:sp>
        <p:nvSpPr>
          <p:cNvPr id="461" name="Google Shape;461;g357eda05d0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35f3fe253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35f3fe253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Olivier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35f3fe253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35f3fe253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Olivier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35f3fe253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35f3fe253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Olivier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7eda05d0b_1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57eda05d0b_1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Olivier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35f3fe25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35f3fe25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Mélanie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35f65d29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35f65d29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35f3fe253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35f3fe253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53bcacd16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53bcacd16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35f3fe253c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35f3fe253c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  <p:sp>
        <p:nvSpPr>
          <p:cNvPr id="596" name="Google Shape;596;g335f3fe253c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35f3fe253c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35f3fe253c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  <p:sp>
        <p:nvSpPr>
          <p:cNvPr id="612" name="Google Shape;612;g335f3fe253c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5b751d353a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35b751d353a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Victor</a:t>
            </a:r>
            <a:endParaRPr/>
          </a:p>
        </p:txBody>
      </p:sp>
      <p:sp>
        <p:nvSpPr>
          <p:cNvPr id="628" name="Google Shape;628;g35b751d353a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53bcacd16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53bcacd16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- En mode co-construction. Vision cible. En mode co-construction. Actuellement le processus est manuel. Demain on souhaite proposer un espace dans lequel vous pourrez par exemple importer en masse vos collaborateurs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361845082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361845082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612cc3f2d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612cc3f2d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- En mode co-construction. Vision cible. En mode co-construction. Actuellement le processus est manuel. Demain on souhaite proposer un espace dans lequel vous pourrez par exemple importer en masse vos collaborateurs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35f3fe253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35f3fe253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Mélanie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57eda05d0b_1_7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57eda05d0b_1_7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Mélanie</a:t>
            </a:r>
            <a:endParaRPr/>
          </a:p>
        </p:txBody>
      </p:sp>
      <p:sp>
        <p:nvSpPr>
          <p:cNvPr id="710" name="Google Shape;710;g357eda05d0b_1_7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67ff44d45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67ff44d45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67ff44d4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67ff44d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Victor - En mode co-construction. Vision cible. En mode co-construction. Actuellement le processus est manuel. Demain on souhaite proposer un espace dans lequel vous pourrez par exemple importer en masse vos collaborateurs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53bcacd16e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Mélanie</a:t>
            </a:r>
            <a:endParaRPr/>
          </a:p>
        </p:txBody>
      </p:sp>
      <p:sp>
        <p:nvSpPr>
          <p:cNvPr id="762" name="Google Shape;762;g353bcacd16e_3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5399cd43e0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5399cd43e0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5fa2eb0d3e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5fa2eb0d3e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Mélanie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5399cd43e0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5399cd43e0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Olivier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57eda05d0b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57eda05d0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Mélanie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presentation">
  <p:cSld name="Titre de presentation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477147" y="2179745"/>
            <a:ext cx="7210369" cy="23991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boto Medium"/>
              <a:buNone/>
              <a:defRPr b="0" i="0" sz="41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03191" y="1888825"/>
            <a:ext cx="7184324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500"/>
              <a:buNone/>
              <a:defRPr sz="1500">
                <a:solidFill>
                  <a:srgbClr val="1041BE"/>
                </a:solidFill>
              </a:defRPr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None/>
              <a:defRPr sz="1400">
                <a:solidFill>
                  <a:srgbClr val="1041BE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200"/>
              <a:buNone/>
              <a:defRPr sz="1200">
                <a:solidFill>
                  <a:srgbClr val="1041BE"/>
                </a:solidFill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52248" y="4406462"/>
            <a:ext cx="1174531" cy="7370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e image contenant texte, Police, logo, Graphique&#10;&#10;Description générée automatiquement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602" y="289750"/>
            <a:ext cx="2171372" cy="127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Graphique, graphisme, Police, logo&#10;&#10;Description générée automatiquement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775" y="289747"/>
            <a:ext cx="2103124" cy="11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69875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650"/>
              <a:buFont typeface="Roboto"/>
              <a:buChar char="•"/>
              <a:defRPr sz="65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9400" lvl="1" marL="914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2pPr>
            <a:lvl3pPr indent="-279400" lvl="2" marL="1371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3pPr>
            <a:lvl4pPr indent="-279400" lvl="3" marL="1828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4pPr>
            <a:lvl5pPr indent="-279400" lvl="4" marL="22860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</a:defRPr>
            </a:lvl5pPr>
            <a:lvl6pPr indent="-279400" lvl="5" marL="27432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9400" lvl="6" marL="32004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79400" lvl="7" marL="36576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79400" lvl="8" marL="4114800">
              <a:spcBef>
                <a:spcPts val="400"/>
              </a:spcBef>
              <a:spcAft>
                <a:spcPts val="0"/>
              </a:spcAft>
              <a:buClr>
                <a:srgbClr val="7A869A"/>
              </a:buClr>
              <a:buSzPts val="800"/>
              <a:buFont typeface="Roboto"/>
              <a:buChar char="•"/>
              <a:defRPr sz="8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>
  <p:cSld name="Sommaire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7" type="body"/>
          </p:nvPr>
        </p:nvSpPr>
        <p:spPr>
          <a:xfrm>
            <a:off x="931075" y="3357873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8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indent="-3810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indent="-3810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indent="-3810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6" type="body"/>
          </p:nvPr>
        </p:nvSpPr>
        <p:spPr>
          <a:xfrm>
            <a:off x="503050" y="2789899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7" type="body"/>
          </p:nvPr>
        </p:nvSpPr>
        <p:spPr>
          <a:xfrm>
            <a:off x="503050" y="3357874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18" type="body"/>
          </p:nvPr>
        </p:nvSpPr>
        <p:spPr>
          <a:xfrm>
            <a:off x="503050" y="3925850"/>
            <a:ext cx="504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2300"/>
              <a:buFont typeface="Roboto"/>
              <a:buNone/>
              <a:defRPr b="1" i="0" sz="23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None/>
              <a:defRPr b="1" sz="1400">
                <a:solidFill>
                  <a:srgbClr val="1041BE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041BE"/>
              </a:buClr>
              <a:buSzPts val="1400"/>
              <a:buFont typeface="Roboto"/>
              <a:buChar char="•"/>
              <a:defRPr b="1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17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1">
  <p:cSld name="Titre de chapitre 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Medium"/>
              <a:buNone/>
              <a:defRPr b="0" i="0" sz="32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>
            <a:off x="0" y="0"/>
            <a:ext cx="235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1100"/>
              <a:buNone/>
              <a:defRPr sz="11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title="losange blanc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875" y="2187553"/>
            <a:ext cx="822652" cy="92072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1BE"/>
              </a:buClr>
              <a:buSzPts val="2200"/>
              <a:buNone/>
              <a:defRPr i="0" sz="2200">
                <a:solidFill>
                  <a:srgbClr val="1041BE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oboto"/>
              <a:buNone/>
              <a:defRPr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chapitre 2">
  <p:cSld name="Titre de chapitre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-1" y="0"/>
            <a:ext cx="6095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ctrTitle"/>
          </p:nvPr>
        </p:nvSpPr>
        <p:spPr>
          <a:xfrm>
            <a:off x="512267" y="2125276"/>
            <a:ext cx="50250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 Medium"/>
              <a:buNone/>
              <a:defRPr b="0" i="0" sz="3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29684" y="1834356"/>
            <a:ext cx="384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100"/>
              <a:buNone/>
              <a:defRPr sz="11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6" name="Google Shape;46;p5"/>
          <p:cNvSpPr/>
          <p:nvPr>
            <p:ph idx="2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pic>
        <p:nvPicPr>
          <p:cNvPr id="47" name="Google Shape;47;p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8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Large-1col">
  <p:cSld name="Texte-Titre-Parag-Large-1col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idx="1" type="body"/>
          </p:nvPr>
        </p:nvSpPr>
        <p:spPr>
          <a:xfrm>
            <a:off x="502542" y="1206109"/>
            <a:ext cx="8066387" cy="34718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0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503039" y="-1501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502541" y="56352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Titre-Parag-Medium-1col">
  <p:cSld name="Texte-Titre-Parag-Medium-1col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502542" y="561713"/>
            <a:ext cx="612059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502542" y="1323594"/>
            <a:ext cx="8066387" cy="33543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Parag-large-1col">
  <p:cSld name="Texte-Parag-large-1col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502541" y="376881"/>
            <a:ext cx="8131730" cy="4301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1 col">
  <p:cSld name="Titre + Texte - Parag Medium - 2 blocs - 1 col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3" type="body"/>
          </p:nvPr>
        </p:nvSpPr>
        <p:spPr>
          <a:xfrm>
            <a:off x="502541" y="1320022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4" type="body"/>
          </p:nvPr>
        </p:nvSpPr>
        <p:spPr>
          <a:xfrm>
            <a:off x="502541" y="1635591"/>
            <a:ext cx="7634190" cy="1241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5" type="body"/>
          </p:nvPr>
        </p:nvSpPr>
        <p:spPr>
          <a:xfrm>
            <a:off x="502541" y="3111711"/>
            <a:ext cx="7634190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6" type="body"/>
          </p:nvPr>
        </p:nvSpPr>
        <p:spPr>
          <a:xfrm>
            <a:off x="502541" y="3427280"/>
            <a:ext cx="7634190" cy="1243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Small - 3 blocs - 1 col">
  <p:cSld name="Titre + Texte - Parag Small - 3 blocs - 1 col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3" type="body"/>
          </p:nvPr>
        </p:nvSpPr>
        <p:spPr>
          <a:xfrm>
            <a:off x="939546" y="131907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4" type="body"/>
          </p:nvPr>
        </p:nvSpPr>
        <p:spPr>
          <a:xfrm>
            <a:off x="939546" y="161148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5" type="body"/>
          </p:nvPr>
        </p:nvSpPr>
        <p:spPr>
          <a:xfrm>
            <a:off x="939546" y="2442962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6" type="body"/>
          </p:nvPr>
        </p:nvSpPr>
        <p:spPr>
          <a:xfrm>
            <a:off x="939546" y="2729034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7" type="body"/>
          </p:nvPr>
        </p:nvSpPr>
        <p:spPr>
          <a:xfrm>
            <a:off x="939546" y="3563009"/>
            <a:ext cx="7197185" cy="2786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8" type="body"/>
          </p:nvPr>
        </p:nvSpPr>
        <p:spPr>
          <a:xfrm>
            <a:off x="939546" y="3869656"/>
            <a:ext cx="7197185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0"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sur-titre - 4 blocs - 2 col">
  <p:cSld name="Texte - parag Medium - sur-titre - 4 blocs - 2 col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2" type="body"/>
          </p:nvPr>
        </p:nvSpPr>
        <p:spPr>
          <a:xfrm>
            <a:off x="502541" y="599312"/>
            <a:ext cx="8569426" cy="7457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3" type="body"/>
          </p:nvPr>
        </p:nvSpPr>
        <p:spPr>
          <a:xfrm>
            <a:off x="50254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4" type="body"/>
          </p:nvPr>
        </p:nvSpPr>
        <p:spPr>
          <a:xfrm>
            <a:off x="4711471" y="1612273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5" type="body"/>
          </p:nvPr>
        </p:nvSpPr>
        <p:spPr>
          <a:xfrm>
            <a:off x="50254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6" type="body"/>
          </p:nvPr>
        </p:nvSpPr>
        <p:spPr>
          <a:xfrm>
            <a:off x="4711471" y="3095848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7" type="body"/>
          </p:nvPr>
        </p:nvSpPr>
        <p:spPr>
          <a:xfrm>
            <a:off x="500644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8" type="body"/>
          </p:nvPr>
        </p:nvSpPr>
        <p:spPr>
          <a:xfrm>
            <a:off x="500644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9" type="body"/>
          </p:nvPr>
        </p:nvSpPr>
        <p:spPr>
          <a:xfrm>
            <a:off x="4707356" y="1411772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3" type="body"/>
          </p:nvPr>
        </p:nvSpPr>
        <p:spPr>
          <a:xfrm>
            <a:off x="4707356" y="2896493"/>
            <a:ext cx="3855853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blocs - 2 col">
  <p:cSld name="Titre + Texte - Parag Medium - 2 blocs - 2 col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50254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50254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5" type="body"/>
          </p:nvPr>
        </p:nvSpPr>
        <p:spPr>
          <a:xfrm>
            <a:off x="4711471" y="1315231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6" type="body"/>
          </p:nvPr>
        </p:nvSpPr>
        <p:spPr>
          <a:xfrm>
            <a:off x="4711471" y="1630800"/>
            <a:ext cx="3853955" cy="28825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2 col - Light/Dark">
  <p:cSld name="Titre + Texte - Parag Medium - 2 col - Light/Dar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572001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516192" y="901055"/>
            <a:ext cx="3400936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516193" y="1181566"/>
            <a:ext cx="3400936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516193" y="1497135"/>
            <a:ext cx="3400936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5" type="body"/>
          </p:nvPr>
        </p:nvSpPr>
        <p:spPr>
          <a:xfrm>
            <a:off x="5156143" y="901055"/>
            <a:ext cx="340371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Roboto"/>
              <a:buNone/>
              <a:defRPr i="0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oboto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None/>
              <a:defRPr>
                <a:solidFill>
                  <a:schemeClr val="accent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•"/>
              <a:defRPr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6" type="body"/>
          </p:nvPr>
        </p:nvSpPr>
        <p:spPr>
          <a:xfrm>
            <a:off x="5156143" y="1181566"/>
            <a:ext cx="340371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7" type="body"/>
          </p:nvPr>
        </p:nvSpPr>
        <p:spPr>
          <a:xfrm>
            <a:off x="5156143" y="1497135"/>
            <a:ext cx="3403717" cy="3180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3 blocs - sur-titre - 3 col">
  <p:cSld name="Texte - parag Medium - 3 blocs - sur-titre - 3 col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2" type="body"/>
          </p:nvPr>
        </p:nvSpPr>
        <p:spPr>
          <a:xfrm>
            <a:off x="502542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3" type="body"/>
          </p:nvPr>
        </p:nvSpPr>
        <p:spPr>
          <a:xfrm>
            <a:off x="502542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5" type="body"/>
          </p:nvPr>
        </p:nvSpPr>
        <p:spPr>
          <a:xfrm>
            <a:off x="3388171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6" type="body"/>
          </p:nvPr>
        </p:nvSpPr>
        <p:spPr>
          <a:xfrm>
            <a:off x="3388171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7" type="body"/>
          </p:nvPr>
        </p:nvSpPr>
        <p:spPr>
          <a:xfrm>
            <a:off x="6216039" y="1251223"/>
            <a:ext cx="243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8" type="body"/>
          </p:nvPr>
        </p:nvSpPr>
        <p:spPr>
          <a:xfrm>
            <a:off x="6216039" y="1566791"/>
            <a:ext cx="2430000" cy="25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Small - 6 blocs - sur-titre - 3 col">
  <p:cSld name="Texte - parag Small - 6 blocs - sur-titre - 3 col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502542" y="8799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502542" y="11955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3388172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3388172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6216039" y="8799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6216039" y="1195551"/>
            <a:ext cx="2430000" cy="1295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7" type="body"/>
          </p:nvPr>
        </p:nvSpPr>
        <p:spPr>
          <a:xfrm>
            <a:off x="50254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8" type="body"/>
          </p:nvPr>
        </p:nvSpPr>
        <p:spPr>
          <a:xfrm>
            <a:off x="50254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9" type="body"/>
          </p:nvPr>
        </p:nvSpPr>
        <p:spPr>
          <a:xfrm>
            <a:off x="3388172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3" type="body"/>
          </p:nvPr>
        </p:nvSpPr>
        <p:spPr>
          <a:xfrm>
            <a:off x="3388172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4" type="body"/>
          </p:nvPr>
        </p:nvSpPr>
        <p:spPr>
          <a:xfrm>
            <a:off x="6216039" y="2937383"/>
            <a:ext cx="2430000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5" type="body"/>
          </p:nvPr>
        </p:nvSpPr>
        <p:spPr>
          <a:xfrm>
            <a:off x="6216039" y="3252952"/>
            <a:ext cx="2430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6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+ Media">
  <p:cSld name="Titre + Texte + Media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2" type="body"/>
          </p:nvPr>
        </p:nvSpPr>
        <p:spPr>
          <a:xfrm>
            <a:off x="502541" y="648296"/>
            <a:ext cx="347533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3" type="body"/>
          </p:nvPr>
        </p:nvSpPr>
        <p:spPr>
          <a:xfrm>
            <a:off x="502541" y="963864"/>
            <a:ext cx="3475337" cy="3480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16"/>
          <p:cNvSpPr/>
          <p:nvPr>
            <p:ph idx="4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Dark">
  <p:cSld name="Texte + Parag Medium + Image - 1 col - Dar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091518" y="1"/>
            <a:ext cx="3052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17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Light">
  <p:cSld name="Texte-Exergue-3Parag Medium - Ligh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b="0" i="0"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arag Medium - Dark">
  <p:cSld name="Texte-Exergue-3Parag Medium - Dark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502444" y="1579749"/>
            <a:ext cx="8066485" cy="18220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50254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3388172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body"/>
          </p:nvPr>
        </p:nvSpPr>
        <p:spPr>
          <a:xfrm>
            <a:off x="6216039" y="3860832"/>
            <a:ext cx="2430000" cy="8120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19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liers">
  <p:cSld name="3 valeurs - Center - Ligh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55" name="Google Shape;155;p20"/>
          <p:cNvCxnSpPr/>
          <p:nvPr/>
        </p:nvCxnSpPr>
        <p:spPr>
          <a:xfrm>
            <a:off x="4572000" y="1104025"/>
            <a:ext cx="0" cy="35928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597800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7" name="Google Shape;157;p20"/>
          <p:cNvCxnSpPr/>
          <p:nvPr/>
        </p:nvCxnSpPr>
        <p:spPr>
          <a:xfrm rot="10800000">
            <a:off x="567525" y="2900425"/>
            <a:ext cx="8017500" cy="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20"/>
          <p:cNvSpPr txBox="1"/>
          <p:nvPr>
            <p:ph idx="3" type="subTitle"/>
          </p:nvPr>
        </p:nvSpPr>
        <p:spPr>
          <a:xfrm>
            <a:off x="5978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4" type="subTitle"/>
          </p:nvPr>
        </p:nvSpPr>
        <p:spPr>
          <a:xfrm>
            <a:off x="4787500" y="419920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5" type="subTitle"/>
          </p:nvPr>
        </p:nvSpPr>
        <p:spPr>
          <a:xfrm>
            <a:off x="4826325" y="1098950"/>
            <a:ext cx="3758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lvl="1" rtl="0" algn="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6" type="body"/>
          </p:nvPr>
        </p:nvSpPr>
        <p:spPr>
          <a:xfrm>
            <a:off x="597800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7" type="body"/>
          </p:nvPr>
        </p:nvSpPr>
        <p:spPr>
          <a:xfrm>
            <a:off x="4826325" y="1446925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8" type="body"/>
          </p:nvPr>
        </p:nvSpPr>
        <p:spPr>
          <a:xfrm>
            <a:off x="597800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9" type="body"/>
          </p:nvPr>
        </p:nvSpPr>
        <p:spPr>
          <a:xfrm>
            <a:off x="4826325" y="3066400"/>
            <a:ext cx="3758700" cy="56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13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liers">
  <p:cSld name="3 valeurs - Center - Light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2" type="body"/>
          </p:nvPr>
        </p:nvSpPr>
        <p:spPr>
          <a:xfrm>
            <a:off x="575072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3" type="body"/>
          </p:nvPr>
        </p:nvSpPr>
        <p:spPr>
          <a:xfrm>
            <a:off x="3492001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4" type="body"/>
          </p:nvPr>
        </p:nvSpPr>
        <p:spPr>
          <a:xfrm>
            <a:off x="6408929" y="395417"/>
            <a:ext cx="2160000" cy="4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71" name="Google Shape;171;p21"/>
          <p:cNvCxnSpPr/>
          <p:nvPr/>
        </p:nvCxnSpPr>
        <p:spPr>
          <a:xfrm flipH="1">
            <a:off x="2971642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21"/>
          <p:cNvCxnSpPr/>
          <p:nvPr/>
        </p:nvCxnSpPr>
        <p:spPr>
          <a:xfrm flipH="1">
            <a:off x="5876495" y="1981812"/>
            <a:ext cx="303300" cy="560700"/>
          </a:xfrm>
          <a:prstGeom prst="straightConnector1">
            <a:avLst/>
          </a:prstGeom>
          <a:noFill/>
          <a:ln cap="flat" cmpd="sng" w="38100">
            <a:solidFill>
              <a:srgbClr val="1041B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 - Light">
  <p:cSld name="Texte-Exergue-3pointsclés - Ligh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7" name="Google Shape;177;p22"/>
          <p:cNvSpPr/>
          <p:nvPr/>
        </p:nvSpPr>
        <p:spPr>
          <a:xfrm>
            <a:off x="5004197" y="0"/>
            <a:ext cx="4139803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474216" y="457200"/>
            <a:ext cx="3996928" cy="4220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3" type="body"/>
          </p:nvPr>
        </p:nvSpPr>
        <p:spPr>
          <a:xfrm>
            <a:off x="6093056" y="755848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4" type="body"/>
          </p:nvPr>
        </p:nvSpPr>
        <p:spPr>
          <a:xfrm>
            <a:off x="6093056" y="1114226"/>
            <a:ext cx="2475872" cy="8566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5" type="body"/>
          </p:nvPr>
        </p:nvSpPr>
        <p:spPr>
          <a:xfrm>
            <a:off x="6093056" y="2095282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6" type="body"/>
          </p:nvPr>
        </p:nvSpPr>
        <p:spPr>
          <a:xfrm>
            <a:off x="6093056" y="2453661"/>
            <a:ext cx="2475872" cy="8579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3" name="Google Shape;183;p22"/>
          <p:cNvSpPr txBox="1"/>
          <p:nvPr>
            <p:ph idx="7" type="body"/>
          </p:nvPr>
        </p:nvSpPr>
        <p:spPr>
          <a:xfrm>
            <a:off x="6093056" y="3463976"/>
            <a:ext cx="2475872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i="0" sz="18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8" type="body"/>
          </p:nvPr>
        </p:nvSpPr>
        <p:spPr>
          <a:xfrm>
            <a:off x="6093056" y="3822355"/>
            <a:ext cx="2475872" cy="8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2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2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2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3pointsclés-Dark">
  <p:cSld name="Texte-Exergue-3pointsclés-Dark"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Roboto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" name="Google Shape;190;p23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 rot="10800000">
            <a:off x="5694323" y="785266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3"/>
          <p:cNvSpPr/>
          <p:nvPr/>
        </p:nvSpPr>
        <p:spPr>
          <a:xfrm rot="10800000">
            <a:off x="5694323" y="213729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3"/>
          <p:cNvSpPr/>
          <p:nvPr/>
        </p:nvSpPr>
        <p:spPr>
          <a:xfrm rot="10800000">
            <a:off x="5694323" y="3497568"/>
            <a:ext cx="263770" cy="184639"/>
          </a:xfrm>
          <a:custGeom>
            <a:rect b="b" l="l" r="r" t="t"/>
            <a:pathLst>
              <a:path extrusionOk="0" h="246184" w="351692">
                <a:moveTo>
                  <a:pt x="340702" y="112102"/>
                </a:moveTo>
                <a:lnTo>
                  <a:pt x="91528" y="112102"/>
                </a:lnTo>
                <a:lnTo>
                  <a:pt x="154481" y="48973"/>
                </a:lnTo>
                <a:lnTo>
                  <a:pt x="129687" y="24179"/>
                </a:lnTo>
                <a:lnTo>
                  <a:pt x="24179" y="129687"/>
                </a:lnTo>
                <a:lnTo>
                  <a:pt x="129687" y="235194"/>
                </a:lnTo>
                <a:lnTo>
                  <a:pt x="154481" y="210400"/>
                </a:lnTo>
                <a:lnTo>
                  <a:pt x="91528" y="147271"/>
                </a:lnTo>
                <a:lnTo>
                  <a:pt x="340702" y="147271"/>
                </a:lnTo>
                <a:lnTo>
                  <a:pt x="340702" y="1121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3"/>
          <p:cNvSpPr txBox="1"/>
          <p:nvPr>
            <p:ph idx="2" type="body"/>
          </p:nvPr>
        </p:nvSpPr>
        <p:spPr>
          <a:xfrm>
            <a:off x="502444" y="479323"/>
            <a:ext cx="4429480" cy="4198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3" type="body"/>
          </p:nvPr>
        </p:nvSpPr>
        <p:spPr>
          <a:xfrm>
            <a:off x="6093056" y="70569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4" type="body"/>
          </p:nvPr>
        </p:nvSpPr>
        <p:spPr>
          <a:xfrm>
            <a:off x="6093056" y="2063583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5" type="body"/>
          </p:nvPr>
        </p:nvSpPr>
        <p:spPr>
          <a:xfrm>
            <a:off x="6093056" y="3414609"/>
            <a:ext cx="2475872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8" name="Google Shape;198;p23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Light">
  <p:cSld name="Texte-Exergue + Media - Light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2" type="body"/>
          </p:nvPr>
        </p:nvSpPr>
        <p:spPr>
          <a:xfrm>
            <a:off x="502445" y="537520"/>
            <a:ext cx="3854054" cy="4015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24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 + Media - Dark">
  <p:cSld name="Texte-Exergue + Media - Dark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2" type="body"/>
          </p:nvPr>
        </p:nvSpPr>
        <p:spPr>
          <a:xfrm>
            <a:off x="502445" y="554047"/>
            <a:ext cx="3854054" cy="3999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"/>
              <a:buNone/>
              <a:defRPr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6" name="Google Shape;206;p25"/>
          <p:cNvSpPr/>
          <p:nvPr>
            <p:ph idx="3" type="pic"/>
          </p:nvPr>
        </p:nvSpPr>
        <p:spPr>
          <a:xfrm>
            <a:off x="4787503" y="0"/>
            <a:ext cx="4356497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5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Dark">
  <p:cSld name="Texte + Parag Medium + Tablette - 1 col - Dar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3" name="Google Shape;213;p26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16" name="Google Shape;21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6"/>
          <p:cNvSpPr txBox="1"/>
          <p:nvPr>
            <p:ph idx="6" type="body"/>
          </p:nvPr>
        </p:nvSpPr>
        <p:spPr>
          <a:xfrm>
            <a:off x="3193975" y="45687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Light">
  <p:cSld name="Texte + Parag Medium + Tablette - 1 col - Ligh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2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3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3" name="Google Shape;2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9314" y="964798"/>
            <a:ext cx="5069615" cy="305197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7"/>
          <p:cNvSpPr/>
          <p:nvPr>
            <p:ph idx="4" type="pic"/>
          </p:nvPr>
        </p:nvSpPr>
        <p:spPr>
          <a:xfrm>
            <a:off x="3908097" y="1163439"/>
            <a:ext cx="4251119" cy="2654696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7"/>
          <p:cNvSpPr txBox="1"/>
          <p:nvPr>
            <p:ph idx="5" type="body"/>
          </p:nvPr>
        </p:nvSpPr>
        <p:spPr>
          <a:xfrm>
            <a:off x="3499325" y="4073150"/>
            <a:ext cx="50697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Tablette">
  <p:cSld name="Device - Front - Tablett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228" name="Google Shape;22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00322" y="701796"/>
            <a:ext cx="5943356" cy="357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/>
          <p:nvPr>
            <p:ph idx="2" type="pic"/>
          </p:nvPr>
        </p:nvSpPr>
        <p:spPr>
          <a:xfrm>
            <a:off x="2077985" y="931375"/>
            <a:ext cx="4983794" cy="3112229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8"/>
          <p:cNvSpPr txBox="1"/>
          <p:nvPr>
            <p:ph idx="3" type="body"/>
          </p:nvPr>
        </p:nvSpPr>
        <p:spPr>
          <a:xfrm>
            <a:off x="1600325" y="4313625"/>
            <a:ext cx="59433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Right + Texte - parag small">
  <p:cSld name="Tablette Big Right + Texte - parag small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idx="1" type="body"/>
          </p:nvPr>
        </p:nvSpPr>
        <p:spPr>
          <a:xfrm>
            <a:off x="711183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2" type="body"/>
          </p:nvPr>
        </p:nvSpPr>
        <p:spPr>
          <a:xfrm>
            <a:off x="711183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2" y="4790424"/>
            <a:ext cx="520589" cy="285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1940" y="4861365"/>
            <a:ext cx="624461" cy="144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moniteur, équipement électronique, écran, ordinateur&#10;&#10;Description générée automatiquement" id="236" name="Google Shape;2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476473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/>
          <p:nvPr>
            <p:ph idx="3" type="pic"/>
          </p:nvPr>
        </p:nvSpPr>
        <p:spPr>
          <a:xfrm>
            <a:off x="-2635160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9"/>
          <p:cNvSpPr txBox="1"/>
          <p:nvPr>
            <p:ph idx="4" type="body"/>
          </p:nvPr>
        </p:nvSpPr>
        <p:spPr>
          <a:xfrm>
            <a:off x="190175" y="61275"/>
            <a:ext cx="6699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tte Big Left + Texte - parag small">
  <p:cSld name="Tablette Big Left + Texte - parag small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moniteur, équipement électronique, écran, ordinateur&#10;&#10;Description générée automatiquement" id="240" name="Google Shape;24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3961" y="281179"/>
            <a:ext cx="10423463" cy="627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/>
          <p:nvPr>
            <p:ph idx="2" type="pic"/>
          </p:nvPr>
        </p:nvSpPr>
        <p:spPr>
          <a:xfrm>
            <a:off x="3355274" y="690141"/>
            <a:ext cx="8740582" cy="5458231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511660" y="458867"/>
            <a:ext cx="177613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 b="0" i="0" sz="1400">
                <a:solidFill>
                  <a:srgbClr val="0A1F4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3" name="Google Shape;243;p30"/>
          <p:cNvSpPr txBox="1"/>
          <p:nvPr>
            <p:ph idx="3" type="body"/>
          </p:nvPr>
        </p:nvSpPr>
        <p:spPr>
          <a:xfrm>
            <a:off x="511660" y="774436"/>
            <a:ext cx="177613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283A5B"/>
              </a:buClr>
              <a:buSzPts val="1100"/>
              <a:buNone/>
              <a:defRPr b="0" i="0" sz="1100">
                <a:solidFill>
                  <a:srgbClr val="283A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4" type="body"/>
          </p:nvPr>
        </p:nvSpPr>
        <p:spPr>
          <a:xfrm>
            <a:off x="2513950" y="612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69">
          <p15:clr>
            <a:srgbClr val="FBAE40"/>
          </p15:clr>
        </p15:guide>
        <p15:guide id="2" pos="2880">
          <p15:clr>
            <a:srgbClr val="FBAE40"/>
          </p15:clr>
        </p15:guide>
        <p15:guide id="3" pos="362">
          <p15:clr>
            <a:srgbClr val="FBAE40"/>
          </p15:clr>
        </p15:guide>
        <p15:guide id="4" pos="635">
          <p15:clr>
            <a:srgbClr val="FBAE40"/>
          </p15:clr>
        </p15:guide>
        <p15:guide id="5" pos="3016">
          <p15:clr>
            <a:srgbClr val="FBAE40"/>
          </p15:clr>
        </p15:guide>
        <p15:guide id="6" pos="5125">
          <p15:clr>
            <a:srgbClr val="FBAE40"/>
          </p15:clr>
        </p15:guide>
        <p15:guide id="7" pos="5398">
          <p15:clr>
            <a:srgbClr val="FBAE40"/>
          </p15:clr>
        </p15:guide>
        <p15:guide id="8" orient="horz" pos="191">
          <p15:clr>
            <a:srgbClr val="FBAE40"/>
          </p15:clr>
        </p15:guide>
        <p15:guide id="9" orient="horz" pos="2947">
          <p15:clr>
            <a:srgbClr val="FBAE40"/>
          </p15:clr>
        </p15:guide>
        <p15:guide id="10" pos="27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Dark">
  <p:cSld name="Texte + Parag Medium + Laptop - 1 col - Dar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6091518" y="0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9" name="Google Shape;249;p31"/>
          <p:cNvSpPr txBox="1"/>
          <p:nvPr>
            <p:ph idx="2" type="body"/>
          </p:nvPr>
        </p:nvSpPr>
        <p:spPr>
          <a:xfrm>
            <a:off x="502542" y="1145676"/>
            <a:ext cx="2523047" cy="2682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2" name="Google Shape;25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31"/>
          <p:cNvSpPr txBox="1"/>
          <p:nvPr>
            <p:ph idx="6" type="body"/>
          </p:nvPr>
        </p:nvSpPr>
        <p:spPr>
          <a:xfrm>
            <a:off x="3193975" y="4644975"/>
            <a:ext cx="57774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3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Light">
  <p:cSld name="Texte + Parag Medium + Laptop - 1 col - Ligh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58" name="Google Shape;25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8523" y="832348"/>
            <a:ext cx="5695638" cy="323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/>
          <p:nvPr>
            <p:ph idx="2" type="pic"/>
          </p:nvPr>
        </p:nvSpPr>
        <p:spPr>
          <a:xfrm>
            <a:off x="4302305" y="1039607"/>
            <a:ext cx="4127082" cy="2343539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2"/>
          <p:cNvSpPr txBox="1"/>
          <p:nvPr>
            <p:ph idx="3" type="body"/>
          </p:nvPr>
        </p:nvSpPr>
        <p:spPr>
          <a:xfrm>
            <a:off x="502542" y="964798"/>
            <a:ext cx="2523047" cy="3040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4" type="body"/>
          </p:nvPr>
        </p:nvSpPr>
        <p:spPr>
          <a:xfrm>
            <a:off x="502542" y="1280366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32"/>
          <p:cNvSpPr txBox="1"/>
          <p:nvPr>
            <p:ph idx="5" type="body"/>
          </p:nvPr>
        </p:nvSpPr>
        <p:spPr>
          <a:xfrm>
            <a:off x="3915425" y="3959175"/>
            <a:ext cx="50559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●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○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32"/>
          <p:cNvSpPr/>
          <p:nvPr/>
        </p:nvSpPr>
        <p:spPr>
          <a:xfrm>
            <a:off x="4302300" y="870350"/>
            <a:ext cx="934500" cy="1623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- Front - Laptop">
  <p:cSld name="Device - Front - Laptop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266" name="Google Shape;26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55705" y="537721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/>
          <p:nvPr>
            <p:ph idx="2" type="pic"/>
          </p:nvPr>
        </p:nvSpPr>
        <p:spPr>
          <a:xfrm>
            <a:off x="1865151" y="803366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33"/>
          <p:cNvSpPr txBox="1"/>
          <p:nvPr>
            <p:ph idx="3" type="body"/>
          </p:nvPr>
        </p:nvSpPr>
        <p:spPr>
          <a:xfrm>
            <a:off x="1387550" y="4576475"/>
            <a:ext cx="6582600" cy="219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algn="ctr">
              <a:spcBef>
                <a:spcPts val="800"/>
              </a:spcBef>
              <a:spcAft>
                <a:spcPts val="0"/>
              </a:spcAft>
              <a:buClr>
                <a:srgbClr val="7A869A"/>
              </a:buClr>
              <a:buSzPts val="800"/>
              <a:buChar char="•"/>
              <a:defRPr sz="800">
                <a:solidFill>
                  <a:srgbClr val="7A869A"/>
                </a:solidFill>
              </a:defRPr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4pPr>
            <a:lvl5pPr indent="-298450" lvl="4" marL="2286000"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9" name="Google Shape;269;p33"/>
          <p:cNvSpPr/>
          <p:nvPr/>
        </p:nvSpPr>
        <p:spPr>
          <a:xfrm>
            <a:off x="1843725" y="602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">
  <p:cSld name="Texte + Parag Medium + Browser - 1 col - Gre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3" name="Google Shape;273;p34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34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5" name="Google Shape;275;p34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76" name="Google Shape;27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/>
          <p:nvPr>
            <p:ph idx="5" type="pic"/>
          </p:nvPr>
        </p:nvSpPr>
        <p:spPr>
          <a:xfrm>
            <a:off x="3149925" y="1065675"/>
            <a:ext cx="5750700" cy="361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Grey 1">
  <p:cSld name="Texte + Parag Medium + Browser - 1 col - Grey_2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479725" y="29800"/>
            <a:ext cx="6184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2" type="body"/>
          </p:nvPr>
        </p:nvSpPr>
        <p:spPr>
          <a:xfrm>
            <a:off x="503042" y="6250"/>
            <a:ext cx="2580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81" name="Google Shape;28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5075" y="331801"/>
            <a:ext cx="7993875" cy="530009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>
            <p:ph idx="3" type="pic"/>
          </p:nvPr>
        </p:nvSpPr>
        <p:spPr>
          <a:xfrm>
            <a:off x="575075" y="815552"/>
            <a:ext cx="7993800" cy="5021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3 col + Browser">
  <p:cSld name="Texte + Parag Medium + Browser - 1 col - Grey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5" name="Google Shape;285;p36"/>
          <p:cNvSpPr txBox="1"/>
          <p:nvPr>
            <p:ph idx="2" type="body"/>
          </p:nvPr>
        </p:nvSpPr>
        <p:spPr>
          <a:xfrm>
            <a:off x="502542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3" type="body"/>
          </p:nvPr>
        </p:nvSpPr>
        <p:spPr>
          <a:xfrm>
            <a:off x="502542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7" name="Google Shape;287;p36"/>
          <p:cNvSpPr txBox="1"/>
          <p:nvPr>
            <p:ph idx="4" type="body"/>
          </p:nvPr>
        </p:nvSpPr>
        <p:spPr>
          <a:xfrm>
            <a:off x="3311971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idx="5" type="body"/>
          </p:nvPr>
        </p:nvSpPr>
        <p:spPr>
          <a:xfrm>
            <a:off x="3311971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36"/>
          <p:cNvSpPr txBox="1"/>
          <p:nvPr>
            <p:ph idx="6" type="body"/>
          </p:nvPr>
        </p:nvSpPr>
        <p:spPr>
          <a:xfrm>
            <a:off x="6139839" y="1337183"/>
            <a:ext cx="2430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36"/>
          <p:cNvSpPr txBox="1"/>
          <p:nvPr>
            <p:ph idx="7" type="body"/>
          </p:nvPr>
        </p:nvSpPr>
        <p:spPr>
          <a:xfrm>
            <a:off x="6139839" y="1652751"/>
            <a:ext cx="2430000" cy="12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91" name="Google Shape;29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755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>
            <p:ph idx="8" type="pic"/>
          </p:nvPr>
        </p:nvSpPr>
        <p:spPr>
          <a:xfrm>
            <a:off x="56099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3" name="Google Shape;2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8817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6"/>
          <p:cNvSpPr/>
          <p:nvPr>
            <p:ph idx="9" type="pic"/>
          </p:nvPr>
        </p:nvSpPr>
        <p:spPr>
          <a:xfrm>
            <a:off x="3388171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5" name="Google Shape;29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3701" y="2312974"/>
            <a:ext cx="2342788" cy="155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6"/>
          <p:cNvSpPr/>
          <p:nvPr>
            <p:ph idx="13" type="pic"/>
          </p:nvPr>
        </p:nvSpPr>
        <p:spPr>
          <a:xfrm>
            <a:off x="6227146" y="2394739"/>
            <a:ext cx="2342700" cy="1471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6"/>
          <p:cNvSpPr txBox="1"/>
          <p:nvPr>
            <p:ph idx="14" type="body"/>
          </p:nvPr>
        </p:nvSpPr>
        <p:spPr>
          <a:xfrm>
            <a:off x="502542" y="561713"/>
            <a:ext cx="61206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re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0" name="Google Shape;300;p37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vide - entete + pied">
  <p:cSld name="Page vide - entete + pied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Page vide - entete + pied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5" name="Google Shape;305;p39"/>
          <p:cNvSpPr txBox="1"/>
          <p:nvPr>
            <p:ph idx="2" type="body"/>
          </p:nvPr>
        </p:nvSpPr>
        <p:spPr>
          <a:xfrm>
            <a:off x="502541" y="599312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06" name="Google Shape;306;p39"/>
          <p:cNvCxnSpPr/>
          <p:nvPr/>
        </p:nvCxnSpPr>
        <p:spPr>
          <a:xfrm>
            <a:off x="-21679" y="2574141"/>
            <a:ext cx="9180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9"/>
          <p:cNvSpPr txBox="1"/>
          <p:nvPr>
            <p:ph idx="3" type="subTitle"/>
          </p:nvPr>
        </p:nvSpPr>
        <p:spPr>
          <a:xfrm>
            <a:off x="5216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4" type="body"/>
          </p:nvPr>
        </p:nvSpPr>
        <p:spPr>
          <a:xfrm>
            <a:off x="5216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09" name="Google Shape;309;p39"/>
          <p:cNvSpPr txBox="1"/>
          <p:nvPr>
            <p:ph idx="5" type="subTitle"/>
          </p:nvPr>
        </p:nvSpPr>
        <p:spPr>
          <a:xfrm>
            <a:off x="24153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9"/>
          <p:cNvSpPr txBox="1"/>
          <p:nvPr>
            <p:ph idx="6" type="body"/>
          </p:nvPr>
        </p:nvSpPr>
        <p:spPr>
          <a:xfrm>
            <a:off x="24153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7" type="subTitle"/>
          </p:nvPr>
        </p:nvSpPr>
        <p:spPr>
          <a:xfrm>
            <a:off x="4280300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9"/>
          <p:cNvSpPr txBox="1"/>
          <p:nvPr>
            <p:ph idx="8" type="body"/>
          </p:nvPr>
        </p:nvSpPr>
        <p:spPr>
          <a:xfrm>
            <a:off x="4280300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9" type="subTitle"/>
          </p:nvPr>
        </p:nvSpPr>
        <p:spPr>
          <a:xfrm>
            <a:off x="5869250" y="1914675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13" type="body"/>
          </p:nvPr>
        </p:nvSpPr>
        <p:spPr>
          <a:xfrm>
            <a:off x="5869250" y="1664775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  <p:sp>
        <p:nvSpPr>
          <p:cNvPr id="315" name="Google Shape;315;p39"/>
          <p:cNvSpPr txBox="1"/>
          <p:nvPr>
            <p:ph idx="14" type="subTitle"/>
          </p:nvPr>
        </p:nvSpPr>
        <p:spPr>
          <a:xfrm>
            <a:off x="6972175" y="3087700"/>
            <a:ext cx="17445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39"/>
          <p:cNvSpPr txBox="1"/>
          <p:nvPr>
            <p:ph idx="15" type="body"/>
          </p:nvPr>
        </p:nvSpPr>
        <p:spPr>
          <a:xfrm>
            <a:off x="6972175" y="2837800"/>
            <a:ext cx="1744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95FEC"/>
              </a:buClr>
              <a:buSzPts val="1200"/>
              <a:buChar char="•"/>
              <a:defRPr sz="1200">
                <a:solidFill>
                  <a:srgbClr val="295FEC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 sz="1400">
                <a:solidFill>
                  <a:srgbClr val="295FEC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95FEC"/>
              </a:buClr>
              <a:buSzPts val="1400"/>
              <a:buChar char="•"/>
              <a:defRPr>
                <a:solidFill>
                  <a:srgbClr val="295FEC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1">
  <p:cSld name="Sommaire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/>
          <p:nvPr/>
        </p:nvSpPr>
        <p:spPr>
          <a:xfrm>
            <a:off x="575072" y="1977271"/>
            <a:ext cx="8568928" cy="13529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03043" y="632949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503043" y="3325053"/>
            <a:ext cx="8704589" cy="1352913"/>
          </a:xfrm>
          <a:prstGeom prst="rect">
            <a:avLst/>
          </a:prstGeom>
          <a:solidFill>
            <a:srgbClr val="E0E0E0">
              <a:alpha val="2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989112" y="770894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989112" y="2089270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989112" y="3433168"/>
            <a:ext cx="4860000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989113" y="1038310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i="0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5" type="body"/>
          </p:nvPr>
        </p:nvSpPr>
        <p:spPr>
          <a:xfrm>
            <a:off x="989113" y="2356396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40"/>
          <p:cNvSpPr txBox="1"/>
          <p:nvPr>
            <p:ph idx="6" type="body"/>
          </p:nvPr>
        </p:nvSpPr>
        <p:spPr>
          <a:xfrm>
            <a:off x="989113" y="3705991"/>
            <a:ext cx="4860000" cy="8655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  <a:def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7" name="Google Shape;327;p40"/>
          <p:cNvSpPr/>
          <p:nvPr>
            <p:ph idx="7" type="pic"/>
          </p:nvPr>
        </p:nvSpPr>
        <p:spPr>
          <a:xfrm>
            <a:off x="6096000" y="-1"/>
            <a:ext cx="3048000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 txBox="1"/>
          <p:nvPr>
            <p:ph idx="8" type="body"/>
          </p:nvPr>
        </p:nvSpPr>
        <p:spPr>
          <a:xfrm>
            <a:off x="503043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29" name="Google Shape;329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714989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/>
          <p:nvPr/>
        </p:nvSpPr>
        <p:spPr>
          <a:xfrm>
            <a:off x="654782" y="760675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pic>
        <p:nvPicPr>
          <p:cNvPr id="331" name="Google Shape;331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20200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0"/>
          <p:cNvSpPr/>
          <p:nvPr/>
        </p:nvSpPr>
        <p:spPr>
          <a:xfrm>
            <a:off x="654782" y="20657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pic>
        <p:nvPicPr>
          <p:cNvPr id="333" name="Google Shape;333;p40" title="losange rouge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900" y="3370714"/>
            <a:ext cx="334352" cy="37613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/>
          <p:nvPr/>
        </p:nvSpPr>
        <p:spPr>
          <a:xfrm>
            <a:off x="654782" y="3416400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3 column">
  <p:cSld name="Sommaire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2600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7012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 title="losange bleu roi fva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5075" y="1418525"/>
            <a:ext cx="334348" cy="3742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502541" y="569700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" type="body"/>
          </p:nvPr>
        </p:nvSpPr>
        <p:spPr>
          <a:xfrm>
            <a:off x="980100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3" type="body"/>
          </p:nvPr>
        </p:nvSpPr>
        <p:spPr>
          <a:xfrm>
            <a:off x="980100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4" type="body"/>
          </p:nvPr>
        </p:nvSpPr>
        <p:spPr>
          <a:xfrm>
            <a:off x="3732614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5" type="body"/>
          </p:nvPr>
        </p:nvSpPr>
        <p:spPr>
          <a:xfrm>
            <a:off x="3732614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6" type="body"/>
          </p:nvPr>
        </p:nvSpPr>
        <p:spPr>
          <a:xfrm>
            <a:off x="6485129" y="1476000"/>
            <a:ext cx="2160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1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7" type="body"/>
          </p:nvPr>
        </p:nvSpPr>
        <p:spPr>
          <a:xfrm>
            <a:off x="6485129" y="1860070"/>
            <a:ext cx="21600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  <a:defRPr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8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41"/>
          <p:cNvSpPr/>
          <p:nvPr/>
        </p:nvSpPr>
        <p:spPr>
          <a:xfrm>
            <a:off x="609957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sz="1100"/>
          </a:p>
        </p:txBody>
      </p:sp>
      <p:sp>
        <p:nvSpPr>
          <p:cNvPr id="348" name="Google Shape;348;p41"/>
          <p:cNvSpPr/>
          <p:nvPr/>
        </p:nvSpPr>
        <p:spPr>
          <a:xfrm>
            <a:off x="3357470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sz="1100"/>
          </a:p>
        </p:txBody>
      </p:sp>
      <p:sp>
        <p:nvSpPr>
          <p:cNvPr id="349" name="Google Shape;349;p41"/>
          <p:cNvSpPr/>
          <p:nvPr/>
        </p:nvSpPr>
        <p:spPr>
          <a:xfrm>
            <a:off x="6104995" y="1464212"/>
            <a:ext cx="264600" cy="264600"/>
          </a:xfrm>
          <a:prstGeom prst="ellipse">
            <a:avLst/>
          </a:prstGeom>
          <a:solidFill>
            <a:srgbClr val="1041B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sz="110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2 blocs - 2 col">
  <p:cSld name="Texte - Parag Medium - 2 blocs - 2 col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2" name="Google Shape;352;p42"/>
          <p:cNvSpPr txBox="1"/>
          <p:nvPr>
            <p:ph idx="2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3" type="body"/>
          </p:nvPr>
        </p:nvSpPr>
        <p:spPr>
          <a:xfrm>
            <a:off x="50254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4" name="Google Shape;354;p42"/>
          <p:cNvSpPr txBox="1"/>
          <p:nvPr>
            <p:ph idx="4" type="body"/>
          </p:nvPr>
        </p:nvSpPr>
        <p:spPr>
          <a:xfrm>
            <a:off x="4711471" y="1323594"/>
            <a:ext cx="3853955" cy="3189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- parag Medium - 4 blocs - 2 col">
  <p:cSld name="Texte - parag Medium - 4 blocs - 2 col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p43"/>
          <p:cNvSpPr txBox="1"/>
          <p:nvPr>
            <p:ph idx="2" type="body"/>
          </p:nvPr>
        </p:nvSpPr>
        <p:spPr>
          <a:xfrm>
            <a:off x="502541" y="599312"/>
            <a:ext cx="8569426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43"/>
          <p:cNvSpPr txBox="1"/>
          <p:nvPr>
            <p:ph idx="3" type="body"/>
          </p:nvPr>
        </p:nvSpPr>
        <p:spPr>
          <a:xfrm>
            <a:off x="50254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9" name="Google Shape;359;p43"/>
          <p:cNvSpPr txBox="1"/>
          <p:nvPr>
            <p:ph idx="4" type="body"/>
          </p:nvPr>
        </p:nvSpPr>
        <p:spPr>
          <a:xfrm>
            <a:off x="4711471" y="1324237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43"/>
          <p:cNvSpPr txBox="1"/>
          <p:nvPr>
            <p:ph idx="5" type="body"/>
          </p:nvPr>
        </p:nvSpPr>
        <p:spPr>
          <a:xfrm>
            <a:off x="50254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1" name="Google Shape;361;p43"/>
          <p:cNvSpPr txBox="1"/>
          <p:nvPr>
            <p:ph idx="6" type="body"/>
          </p:nvPr>
        </p:nvSpPr>
        <p:spPr>
          <a:xfrm>
            <a:off x="4711471" y="2534884"/>
            <a:ext cx="3853955" cy="10737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Texte - parag Medium - 4 blocs - 2 col">
  <p:cSld name="Titre + Texte - parag Medium - 4 blocs - 2 col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4" name="Google Shape;364;p44"/>
          <p:cNvSpPr txBox="1"/>
          <p:nvPr>
            <p:ph idx="2" type="body"/>
          </p:nvPr>
        </p:nvSpPr>
        <p:spPr>
          <a:xfrm>
            <a:off x="50254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5" name="Google Shape;365;p44"/>
          <p:cNvSpPr txBox="1"/>
          <p:nvPr>
            <p:ph idx="3" type="body"/>
          </p:nvPr>
        </p:nvSpPr>
        <p:spPr>
          <a:xfrm>
            <a:off x="50254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6" name="Google Shape;366;p44"/>
          <p:cNvSpPr txBox="1"/>
          <p:nvPr>
            <p:ph idx="4" type="body"/>
          </p:nvPr>
        </p:nvSpPr>
        <p:spPr>
          <a:xfrm>
            <a:off x="4711471" y="1320270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7" name="Google Shape;367;p44"/>
          <p:cNvSpPr txBox="1"/>
          <p:nvPr>
            <p:ph idx="5" type="body"/>
          </p:nvPr>
        </p:nvSpPr>
        <p:spPr>
          <a:xfrm>
            <a:off x="4711471" y="1635838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8" name="Google Shape;368;p44"/>
          <p:cNvSpPr txBox="1"/>
          <p:nvPr>
            <p:ph idx="6" type="body"/>
          </p:nvPr>
        </p:nvSpPr>
        <p:spPr>
          <a:xfrm>
            <a:off x="50254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9" name="Google Shape;369;p44"/>
          <p:cNvSpPr txBox="1"/>
          <p:nvPr>
            <p:ph idx="7" type="body"/>
          </p:nvPr>
        </p:nvSpPr>
        <p:spPr>
          <a:xfrm>
            <a:off x="50254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44"/>
          <p:cNvSpPr txBox="1"/>
          <p:nvPr>
            <p:ph idx="8" type="body"/>
          </p:nvPr>
        </p:nvSpPr>
        <p:spPr>
          <a:xfrm>
            <a:off x="4711471" y="3082885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9" type="body"/>
          </p:nvPr>
        </p:nvSpPr>
        <p:spPr>
          <a:xfrm>
            <a:off x="4711471" y="3398454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13" type="body"/>
          </p:nvPr>
        </p:nvSpPr>
        <p:spPr>
          <a:xfrm>
            <a:off x="502541" y="599312"/>
            <a:ext cx="8569426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i="0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 - parag Medium - sur-titre - 4 blocs - 2 col">
  <p:cSld name="Titre+Texte - parag Medium - sur-titre - 4 blocs - 2 col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p45"/>
          <p:cNvSpPr txBox="1"/>
          <p:nvPr>
            <p:ph idx="2" type="body"/>
          </p:nvPr>
        </p:nvSpPr>
        <p:spPr>
          <a:xfrm>
            <a:off x="50254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45"/>
          <p:cNvSpPr txBox="1"/>
          <p:nvPr>
            <p:ph idx="3" type="body"/>
          </p:nvPr>
        </p:nvSpPr>
        <p:spPr>
          <a:xfrm>
            <a:off x="50254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7" name="Google Shape;377;p45"/>
          <p:cNvSpPr txBox="1"/>
          <p:nvPr>
            <p:ph idx="4" type="body"/>
          </p:nvPr>
        </p:nvSpPr>
        <p:spPr>
          <a:xfrm>
            <a:off x="50254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8" name="Google Shape;378;p45"/>
          <p:cNvSpPr txBox="1"/>
          <p:nvPr>
            <p:ph idx="5" type="body"/>
          </p:nvPr>
        </p:nvSpPr>
        <p:spPr>
          <a:xfrm>
            <a:off x="4711470" y="6009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9" name="Google Shape;379;p45"/>
          <p:cNvSpPr txBox="1"/>
          <p:nvPr>
            <p:ph idx="6" type="body"/>
          </p:nvPr>
        </p:nvSpPr>
        <p:spPr>
          <a:xfrm>
            <a:off x="4711471" y="881467"/>
            <a:ext cx="3853955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0" name="Google Shape;380;p45"/>
          <p:cNvSpPr txBox="1"/>
          <p:nvPr>
            <p:ph idx="7" type="body"/>
          </p:nvPr>
        </p:nvSpPr>
        <p:spPr>
          <a:xfrm>
            <a:off x="4711471" y="11970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1" name="Google Shape;381;p45"/>
          <p:cNvSpPr txBox="1"/>
          <p:nvPr>
            <p:ph idx="8" type="body"/>
          </p:nvPr>
        </p:nvSpPr>
        <p:spPr>
          <a:xfrm>
            <a:off x="50254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2" name="Google Shape;382;p45"/>
          <p:cNvSpPr txBox="1"/>
          <p:nvPr>
            <p:ph idx="9" type="body"/>
          </p:nvPr>
        </p:nvSpPr>
        <p:spPr>
          <a:xfrm>
            <a:off x="50254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3" name="Google Shape;383;p45"/>
          <p:cNvSpPr txBox="1"/>
          <p:nvPr>
            <p:ph idx="13" type="body"/>
          </p:nvPr>
        </p:nvSpPr>
        <p:spPr>
          <a:xfrm>
            <a:off x="50254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45"/>
          <p:cNvSpPr txBox="1"/>
          <p:nvPr>
            <p:ph idx="14" type="body"/>
          </p:nvPr>
        </p:nvSpPr>
        <p:spPr>
          <a:xfrm>
            <a:off x="4711470" y="2658356"/>
            <a:ext cx="3853955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5" name="Google Shape;385;p45"/>
          <p:cNvSpPr txBox="1"/>
          <p:nvPr>
            <p:ph idx="15" type="body"/>
          </p:nvPr>
        </p:nvSpPr>
        <p:spPr>
          <a:xfrm>
            <a:off x="4711471" y="2938868"/>
            <a:ext cx="3853955" cy="3155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45"/>
          <p:cNvSpPr txBox="1"/>
          <p:nvPr>
            <p:ph idx="16" type="body"/>
          </p:nvPr>
        </p:nvSpPr>
        <p:spPr>
          <a:xfrm>
            <a:off x="4711471" y="3254436"/>
            <a:ext cx="3853955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Light">
  <p:cSld name="Texte-Exergue-Light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/>
          <p:nvPr>
            <p:ph idx="1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Font typeface="Roboto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9" name="Google Shape;389;p46"/>
          <p:cNvSpPr txBox="1"/>
          <p:nvPr>
            <p:ph idx="2" type="body"/>
          </p:nvPr>
        </p:nvSpPr>
        <p:spPr>
          <a:xfrm>
            <a:off x="502444" y="619433"/>
            <a:ext cx="8066485" cy="3933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Roboto"/>
              <a:buNone/>
              <a:defRPr i="0" sz="4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-Exergue-Dark">
  <p:cSld name="Texte-Exergue-Dark">
    <p:bg>
      <p:bgPr>
        <a:solidFill>
          <a:schemeClr val="dk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92" name="Google Shape;392;p47"/>
          <p:cNvSpPr txBox="1"/>
          <p:nvPr>
            <p:ph idx="1" type="body"/>
          </p:nvPr>
        </p:nvSpPr>
        <p:spPr>
          <a:xfrm>
            <a:off x="502444" y="0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3" name="Google Shape;393;p47"/>
          <p:cNvSpPr txBox="1"/>
          <p:nvPr>
            <p:ph idx="2" type="body"/>
          </p:nvPr>
        </p:nvSpPr>
        <p:spPr>
          <a:xfrm>
            <a:off x="502444" y="604684"/>
            <a:ext cx="8066485" cy="3948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 i="0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394" name="Google Shape;394;p47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Light">
  <p:cSld name="Texte + Parag Medium + Image - 1 col - Ligh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8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7" name="Google Shape;397;p48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8" name="Google Shape;398;p48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9" name="Google Shape;399;p48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48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Image - 1 col - Grey">
  <p:cSld name="Texte + Parag Medium + Image - 1 col - Gre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5" name="Google Shape;405;p49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6" name="Google Shape;406;p49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7" name="Google Shape;407;p49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8" name="Google Shape;408;p49"/>
          <p:cNvSpPr/>
          <p:nvPr>
            <p:ph idx="5" type="pic"/>
          </p:nvPr>
        </p:nvSpPr>
        <p:spPr>
          <a:xfrm>
            <a:off x="3426041" y="865165"/>
            <a:ext cx="5717960" cy="381280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Tablette - 1 col - Grey">
  <p:cSld name="Texte + Parag Medium + Tablette - 1 col - Gre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1" name="Google Shape;411;p50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3" name="Google Shape;413;p50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4" name="Google Shape;414;p50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5" name="Google Shape;415;p50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moniteur, équipement électronique, écran, ordinateur&#10;&#10;Description générée automatiquement" id="416" name="Google Shape;41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2852" y="607495"/>
            <a:ext cx="6462551" cy="389054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0"/>
          <p:cNvSpPr/>
          <p:nvPr>
            <p:ph idx="5" type="pic"/>
          </p:nvPr>
        </p:nvSpPr>
        <p:spPr>
          <a:xfrm>
            <a:off x="3724835" y="858441"/>
            <a:ext cx="5419165" cy="33841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Laptop - 1 col - Grey">
  <p:cSld name="Texte + Parag Medium + Laptop - 1 col - Gre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0" name="Google Shape;420;p51"/>
          <p:cNvSpPr/>
          <p:nvPr/>
        </p:nvSpPr>
        <p:spPr>
          <a:xfrm>
            <a:off x="6091525" y="0"/>
            <a:ext cx="3052500" cy="514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1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0" i="0" sz="9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2" name="Google Shape;422;p51"/>
          <p:cNvSpPr txBox="1"/>
          <p:nvPr>
            <p:ph idx="2" type="body"/>
          </p:nvPr>
        </p:nvSpPr>
        <p:spPr>
          <a:xfrm>
            <a:off x="502542" y="1145676"/>
            <a:ext cx="2523047" cy="3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3" name="Google Shape;423;p51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4" name="Google Shape;424;p51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descr="Une image contenant portable, ordinateur, équipement électronique, moniteur&#10;&#10;Description générée automatiquement" id="425" name="Google Shape;42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93733" y="607495"/>
            <a:ext cx="7492379" cy="4258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1"/>
          <p:cNvSpPr/>
          <p:nvPr>
            <p:ph idx="5" type="pic"/>
          </p:nvPr>
        </p:nvSpPr>
        <p:spPr>
          <a:xfrm>
            <a:off x="3703179" y="873139"/>
            <a:ext cx="5419165" cy="3077241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51"/>
          <p:cNvSpPr/>
          <p:nvPr/>
        </p:nvSpPr>
        <p:spPr>
          <a:xfrm>
            <a:off x="3703175" y="669975"/>
            <a:ext cx="1247100" cy="200400"/>
          </a:xfrm>
          <a:prstGeom prst="rect">
            <a:avLst/>
          </a:prstGeom>
          <a:solidFill>
            <a:srgbClr val="4448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Light">
  <p:cSld name="Texte + Parag Medium + Browser - 1 col - Ligh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0" name="Google Shape;430;p52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1" name="Google Shape;431;p52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Parag Medium + Browser - 1 col - Dark">
  <p:cSld name="Texte + Parag Medium + Browser - 1 col - Dar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/>
          <p:nvPr/>
        </p:nvSpPr>
        <p:spPr>
          <a:xfrm>
            <a:off x="6091518" y="1"/>
            <a:ext cx="3052482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3"/>
          <p:cNvSpPr txBox="1"/>
          <p:nvPr>
            <p:ph idx="1" type="body"/>
          </p:nvPr>
        </p:nvSpPr>
        <p:spPr>
          <a:xfrm>
            <a:off x="502541" y="865165"/>
            <a:ext cx="2523047" cy="200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0538"/>
              </a:buClr>
              <a:buSzPts val="900"/>
              <a:buNone/>
              <a:defRPr b="0" i="0" sz="900">
                <a:solidFill>
                  <a:srgbClr val="CA053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7" name="Google Shape;437;p53"/>
          <p:cNvSpPr txBox="1"/>
          <p:nvPr>
            <p:ph idx="2" type="body"/>
          </p:nvPr>
        </p:nvSpPr>
        <p:spPr>
          <a:xfrm>
            <a:off x="502542" y="1145676"/>
            <a:ext cx="2523047" cy="3040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8" name="Google Shape;438;p53"/>
          <p:cNvSpPr txBox="1"/>
          <p:nvPr>
            <p:ph idx="3" type="body"/>
          </p:nvPr>
        </p:nvSpPr>
        <p:spPr>
          <a:xfrm>
            <a:off x="502542" y="1461245"/>
            <a:ext cx="2523047" cy="32167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9" name="Google Shape;439;p53"/>
          <p:cNvSpPr txBox="1"/>
          <p:nvPr>
            <p:ph idx="4" type="body"/>
          </p:nvPr>
        </p:nvSpPr>
        <p:spPr>
          <a:xfrm>
            <a:off x="503039" y="6248"/>
            <a:ext cx="8568928" cy="30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041BE"/>
              </a:buClr>
              <a:buSzPts val="900"/>
              <a:buNone/>
              <a:defRPr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40" name="Google Shape;44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45733" y="865165"/>
            <a:ext cx="5750584" cy="38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urtitre - page vide">
  <p:cSld name="2_Surtitre - page vide">
    <p:bg>
      <p:bgPr>
        <a:solidFill>
          <a:schemeClr val="dk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/>
        </p:nvSpPr>
        <p:spPr>
          <a:xfrm>
            <a:off x="3323630" y="2225501"/>
            <a:ext cx="2496741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1100"/>
          </a:p>
        </p:txBody>
      </p:sp>
      <p:sp>
        <p:nvSpPr>
          <p:cNvPr id="443" name="Google Shape;443;p54"/>
          <p:cNvSpPr/>
          <p:nvPr/>
        </p:nvSpPr>
        <p:spPr>
          <a:xfrm>
            <a:off x="0" y="4624388"/>
            <a:ext cx="1949947" cy="51286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54"/>
          <p:cNvSpPr/>
          <p:nvPr/>
        </p:nvSpPr>
        <p:spPr>
          <a:xfrm>
            <a:off x="4063050" y="941250"/>
            <a:ext cx="1017900" cy="1017900"/>
          </a:xfrm>
          <a:prstGeom prst="ellipse">
            <a:avLst/>
          </a:prstGeom>
          <a:solidFill>
            <a:srgbClr val="1041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?</a:t>
            </a:r>
            <a:endParaRPr sz="24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445" name="Google Shape;445;p54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2_Surtitre - page vide_1">
    <p:bg>
      <p:bgPr>
        <a:solidFill>
          <a:schemeClr val="dk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5"/>
          <p:cNvSpPr txBox="1"/>
          <p:nvPr/>
        </p:nvSpPr>
        <p:spPr>
          <a:xfrm>
            <a:off x="498879" y="1012126"/>
            <a:ext cx="24966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  <a:endParaRPr sz="1100"/>
          </a:p>
        </p:txBody>
      </p:sp>
      <p:sp>
        <p:nvSpPr>
          <p:cNvPr id="448" name="Google Shape;448;p55"/>
          <p:cNvSpPr/>
          <p:nvPr/>
        </p:nvSpPr>
        <p:spPr>
          <a:xfrm>
            <a:off x="0" y="4624388"/>
            <a:ext cx="1950000" cy="51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55" title="fvae_logo_couleur_inverse@2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3050" y="4773606"/>
            <a:ext cx="504008" cy="27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55" title="fvae_logo_couleur_inverse@2x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152400" y="-463324"/>
            <a:ext cx="11169725" cy="607014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5"/>
          <p:cNvSpPr/>
          <p:nvPr/>
        </p:nvSpPr>
        <p:spPr>
          <a:xfrm>
            <a:off x="0" y="310325"/>
            <a:ext cx="167700" cy="4367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6"/>
          <p:cNvSpPr txBox="1"/>
          <p:nvPr>
            <p:ph type="title"/>
          </p:nvPr>
        </p:nvSpPr>
        <p:spPr>
          <a:xfrm>
            <a:off x="363390" y="707118"/>
            <a:ext cx="84033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4" name="Google Shape;454;p56"/>
          <p:cNvSpPr txBox="1"/>
          <p:nvPr>
            <p:ph idx="1" type="body"/>
          </p:nvPr>
        </p:nvSpPr>
        <p:spPr>
          <a:xfrm>
            <a:off x="363390" y="1678916"/>
            <a:ext cx="8403300" cy="3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5" name="Google Shape;455;p56"/>
          <p:cNvSpPr txBox="1"/>
          <p:nvPr>
            <p:ph idx="10" type="dt"/>
          </p:nvPr>
        </p:nvSpPr>
        <p:spPr>
          <a:xfrm>
            <a:off x="361305" y="4767263"/>
            <a:ext cx="880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6" name="Google Shape;456;p5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7" name="Google Shape;457;p56"/>
          <p:cNvSpPr txBox="1"/>
          <p:nvPr>
            <p:ph idx="12" type="sldNum"/>
          </p:nvPr>
        </p:nvSpPr>
        <p:spPr>
          <a:xfrm>
            <a:off x="6709194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58" name="Google Shape;458;p56"/>
          <p:cNvSpPr txBox="1"/>
          <p:nvPr>
            <p:ph idx="2" type="body"/>
          </p:nvPr>
        </p:nvSpPr>
        <p:spPr>
          <a:xfrm>
            <a:off x="360759" y="1277541"/>
            <a:ext cx="8420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1500"/>
              <a:buNone/>
              <a:defRPr b="1" sz="1500">
                <a:solidFill>
                  <a:srgbClr val="7F7F7F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1375" y="327428"/>
            <a:ext cx="7886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Medium"/>
              <a:buNone/>
              <a:defRPr b="0" i="0" sz="24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1375" y="1306325"/>
            <a:ext cx="78867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i="0" sz="18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•"/>
              <a:defRPr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•"/>
              <a:defRPr i="0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•"/>
              <a:defRPr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6596895" y="4677965"/>
            <a:ext cx="1972186" cy="465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fld id="{00000000-1234-1234-1234-123412341234}" type="slidenum">
              <a:rPr b="0" i="0" lang="fr" sz="600" u="none" cap="none" strike="noStrike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Une image contenant Graphique, graphisme, Police, logo&#10;&#10;Description générée automatiquement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03050" y="4773606"/>
            <a:ext cx="504225" cy="27426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</p:sldLayoutIdLst>
  <mc:AlternateContent>
    <mc:Choice Requires="p14">
      <p:transition p14:dur="2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orient="horz" pos="409">
          <p15:clr>
            <a:srgbClr val="F26B43"/>
          </p15:clr>
        </p15:guide>
        <p15:guide id="3" pos="2880">
          <p15:clr>
            <a:srgbClr val="F26B43"/>
          </p15:clr>
        </p15:guide>
        <p15:guide id="4" pos="2744">
          <p15:clr>
            <a:srgbClr val="F26B43"/>
          </p15:clr>
        </p15:guide>
        <p15:guide id="5" pos="3016">
          <p15:clr>
            <a:srgbClr val="F26B43"/>
          </p15:clr>
        </p15:guide>
        <p15:guide id="6" pos="5398">
          <p15:clr>
            <a:srgbClr val="F26B43"/>
          </p15:clr>
        </p15:guide>
        <p15:guide id="7" orient="horz" pos="191">
          <p15:clr>
            <a:srgbClr val="F26B43"/>
          </p15:clr>
        </p15:guide>
        <p15:guide id="8" orient="horz" pos="2947">
          <p15:clr>
            <a:srgbClr val="F26B43"/>
          </p15:clr>
        </p15:guide>
        <p15:guide id="9" pos="362">
          <p15:clr>
            <a:srgbClr val="F26B43"/>
          </p15:clr>
        </p15:guide>
        <p15:guide id="10" pos="635">
          <p15:clr>
            <a:srgbClr val="F26B43"/>
          </p15:clr>
        </p15:guide>
        <p15:guide id="11" pos="5125">
          <p15:clr>
            <a:srgbClr val="F26B43"/>
          </p15:clr>
        </p15:guide>
        <p15:guide id="12" orient="horz" pos="973">
          <p15:clr>
            <a:srgbClr val="F26B43"/>
          </p15:clr>
        </p15:guide>
        <p15:guide id="13" pos="383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hyperlink" Target="https://www.figma.com/proto/FErHY4C4J3bSd71vze2Mj1/VAE-Collective---Exploration-S1-2025?page-id=61%3A7623&amp;node-id=79-6095&amp;p=f&amp;viewport=139%2C740%2C0.09&amp;t=FWjI0GmTXsZzk1lh-1&amp;scaling=contain&amp;content-scaling=fixed&amp;starting-point-node-id=61%3A7835" TargetMode="External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NCLFgoT-LmCg_wTTXkykiihqBvcDRiqF/view" TargetMode="External"/><Relationship Id="rId4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hyperlink" Target="https://vae.gouv.fr/savoir-plus/articles/espace-certificateurs/" TargetMode="External"/><Relationship Id="rId5" Type="http://schemas.openxmlformats.org/officeDocument/2006/relationships/hyperlink" Target="https://tally.so/r/wQWo0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hyperlink" Target="https://scribehow.com/viewer/Tutoriel__Candidat_invite_sur_un_projet_de_VAE_collective__NAgLXDLlStmYpT7eVultqw" TargetMode="External"/><Relationship Id="rId6" Type="http://schemas.openxmlformats.org/officeDocument/2006/relationships/hyperlink" Target="https://tally.so/r/wQWo0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 txBox="1"/>
          <p:nvPr>
            <p:ph type="ctrTitle"/>
          </p:nvPr>
        </p:nvSpPr>
        <p:spPr>
          <a:xfrm>
            <a:off x="477147" y="2179745"/>
            <a:ext cx="7210500" cy="23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Medium"/>
              <a:buNone/>
            </a:pPr>
            <a:r>
              <a:rPr lang="fr"/>
              <a:t>Initier son projet </a:t>
            </a:r>
            <a:br>
              <a:rPr lang="fr"/>
            </a:br>
            <a:r>
              <a:rPr lang="fr"/>
              <a:t>de VAE collective </a:t>
            </a:r>
            <a:endParaRPr/>
          </a:p>
        </p:txBody>
      </p:sp>
      <p:sp>
        <p:nvSpPr>
          <p:cNvPr id="464" name="Google Shape;464;p57"/>
          <p:cNvSpPr txBox="1"/>
          <p:nvPr>
            <p:ph idx="1" type="subTitle"/>
          </p:nvPr>
        </p:nvSpPr>
        <p:spPr>
          <a:xfrm>
            <a:off x="503191" y="1888825"/>
            <a:ext cx="7184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fr"/>
              <a:t>WEBINAIRE - VAE COLLECTIVE</a:t>
            </a:r>
            <a:endParaRPr/>
          </a:p>
        </p:txBody>
      </p:sp>
      <p:sp>
        <p:nvSpPr>
          <p:cNvPr id="465" name="Google Shape;465;p57"/>
          <p:cNvSpPr txBox="1"/>
          <p:nvPr>
            <p:ph idx="2" type="body"/>
          </p:nvPr>
        </p:nvSpPr>
        <p:spPr>
          <a:xfrm>
            <a:off x="575075" y="4684150"/>
            <a:ext cx="3281400" cy="459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Présentation projet</a:t>
            </a:r>
            <a:endParaRPr/>
          </a:p>
        </p:txBody>
      </p:sp>
      <p:sp>
        <p:nvSpPr>
          <p:cNvPr id="466" name="Google Shape;466;p57"/>
          <p:cNvSpPr txBox="1"/>
          <p:nvPr/>
        </p:nvSpPr>
        <p:spPr>
          <a:xfrm>
            <a:off x="3585907" y="4677965"/>
            <a:ext cx="1972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A869A"/>
              </a:buClr>
              <a:buSzPts val="600"/>
              <a:buFont typeface="Roboto"/>
              <a:buNone/>
            </a:pPr>
            <a:r>
              <a:rPr lang="fr"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Mai </a:t>
            </a:r>
            <a:r>
              <a:rPr lang="fr" sz="600">
                <a:solidFill>
                  <a:srgbClr val="7A869A"/>
                </a:solidFill>
                <a:latin typeface="Roboto"/>
                <a:ea typeface="Roboto"/>
                <a:cs typeface="Roboto"/>
                <a:sym typeface="Roboto"/>
              </a:rPr>
              <a:t>2025</a:t>
            </a:r>
            <a:endParaRPr b="0" i="0" sz="600" u="none" cap="none" strike="noStrike">
              <a:solidFill>
                <a:srgbClr val="7A86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8"/>
          <p:cNvSpPr txBox="1"/>
          <p:nvPr>
            <p:ph idx="1" type="body"/>
          </p:nvPr>
        </p:nvSpPr>
        <p:spPr>
          <a:xfrm>
            <a:off x="931075" y="518000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 VAE collective, de quoi s’agit-il ?</a:t>
            </a:r>
            <a:endParaRPr/>
          </a:p>
        </p:txBody>
      </p:sp>
      <p:sp>
        <p:nvSpPr>
          <p:cNvPr id="472" name="Google Shape;472;p58"/>
          <p:cNvSpPr txBox="1"/>
          <p:nvPr>
            <p:ph idx="2" type="body"/>
          </p:nvPr>
        </p:nvSpPr>
        <p:spPr>
          <a:xfrm>
            <a:off x="931075" y="1085975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</a:t>
            </a:r>
            <a:endParaRPr/>
          </a:p>
        </p:txBody>
      </p:sp>
      <p:sp>
        <p:nvSpPr>
          <p:cNvPr id="473" name="Google Shape;473;p58"/>
          <p:cNvSpPr txBox="1"/>
          <p:nvPr>
            <p:ph idx="3" type="body"/>
          </p:nvPr>
        </p:nvSpPr>
        <p:spPr>
          <a:xfrm>
            <a:off x="931075" y="165394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 portail numérique France VAE</a:t>
            </a:r>
            <a:endParaRPr/>
          </a:p>
        </p:txBody>
      </p:sp>
      <p:sp>
        <p:nvSpPr>
          <p:cNvPr id="474" name="Google Shape;474;p58"/>
          <p:cNvSpPr txBox="1"/>
          <p:nvPr>
            <p:ph idx="4" type="body"/>
          </p:nvPr>
        </p:nvSpPr>
        <p:spPr>
          <a:xfrm>
            <a:off x="503043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SOMMAIRE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475" name="Google Shape;475;p58"/>
          <p:cNvSpPr txBox="1"/>
          <p:nvPr>
            <p:ph idx="5" type="body"/>
          </p:nvPr>
        </p:nvSpPr>
        <p:spPr>
          <a:xfrm>
            <a:off x="931075" y="2221924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Lancement de votre projet</a:t>
            </a:r>
            <a:endParaRPr/>
          </a:p>
        </p:txBody>
      </p:sp>
      <p:sp>
        <p:nvSpPr>
          <p:cNvPr id="476" name="Google Shape;476;p58"/>
          <p:cNvSpPr txBox="1"/>
          <p:nvPr>
            <p:ph idx="6" type="body"/>
          </p:nvPr>
        </p:nvSpPr>
        <p:spPr>
          <a:xfrm>
            <a:off x="931075" y="392584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8"/>
          <p:cNvSpPr txBox="1"/>
          <p:nvPr>
            <p:ph idx="7" type="body"/>
          </p:nvPr>
        </p:nvSpPr>
        <p:spPr>
          <a:xfrm>
            <a:off x="931075" y="4493823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8"/>
          <p:cNvSpPr txBox="1"/>
          <p:nvPr>
            <p:ph idx="8" type="body"/>
          </p:nvPr>
        </p:nvSpPr>
        <p:spPr>
          <a:xfrm>
            <a:off x="931075" y="506179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8"/>
          <p:cNvSpPr txBox="1"/>
          <p:nvPr>
            <p:ph idx="9" type="body"/>
          </p:nvPr>
        </p:nvSpPr>
        <p:spPr>
          <a:xfrm>
            <a:off x="503050" y="51800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  <p:sp>
        <p:nvSpPr>
          <p:cNvPr id="480" name="Google Shape;480;p58"/>
          <p:cNvSpPr txBox="1"/>
          <p:nvPr>
            <p:ph idx="13" type="body"/>
          </p:nvPr>
        </p:nvSpPr>
        <p:spPr>
          <a:xfrm>
            <a:off x="503050" y="1085975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  <p:sp>
        <p:nvSpPr>
          <p:cNvPr id="481" name="Google Shape;481;p58"/>
          <p:cNvSpPr txBox="1"/>
          <p:nvPr>
            <p:ph idx="14" type="body"/>
          </p:nvPr>
        </p:nvSpPr>
        <p:spPr>
          <a:xfrm>
            <a:off x="503050" y="165395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  <p:sp>
        <p:nvSpPr>
          <p:cNvPr id="482" name="Google Shape;482;p58"/>
          <p:cNvSpPr txBox="1"/>
          <p:nvPr>
            <p:ph idx="15" type="body"/>
          </p:nvPr>
        </p:nvSpPr>
        <p:spPr>
          <a:xfrm>
            <a:off x="503050" y="2221925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  <p:sp>
        <p:nvSpPr>
          <p:cNvPr id="483" name="Google Shape;483;p58"/>
          <p:cNvSpPr txBox="1"/>
          <p:nvPr>
            <p:ph idx="5" type="body"/>
          </p:nvPr>
        </p:nvSpPr>
        <p:spPr>
          <a:xfrm>
            <a:off x="931075" y="2789899"/>
            <a:ext cx="67500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Co-construction de l’</a:t>
            </a:r>
            <a:r>
              <a:rPr lang="fr"/>
              <a:t>outil de pilotage</a:t>
            </a:r>
            <a:endParaRPr/>
          </a:p>
        </p:txBody>
      </p:sp>
      <p:sp>
        <p:nvSpPr>
          <p:cNvPr id="484" name="Google Shape;484;p58"/>
          <p:cNvSpPr txBox="1"/>
          <p:nvPr>
            <p:ph idx="15" type="body"/>
          </p:nvPr>
        </p:nvSpPr>
        <p:spPr>
          <a:xfrm>
            <a:off x="503050" y="2789900"/>
            <a:ext cx="504300" cy="540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9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VAE collective, </a:t>
            </a:r>
            <a:br>
              <a:rPr lang="fr"/>
            </a:br>
            <a:r>
              <a:rPr lang="fr"/>
              <a:t>de quoi s’agit-il ?</a:t>
            </a:r>
            <a:endParaRPr/>
          </a:p>
        </p:txBody>
      </p:sp>
      <p:sp>
        <p:nvSpPr>
          <p:cNvPr id="490" name="Google Shape;490;p59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59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0"/>
          <p:cNvSpPr txBox="1"/>
          <p:nvPr>
            <p:ph idx="1" type="body"/>
          </p:nvPr>
        </p:nvSpPr>
        <p:spPr>
          <a:xfrm>
            <a:off x="502550" y="1206104"/>
            <a:ext cx="8066400" cy="181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Bien que la VAE soit un droit individuel, </a:t>
            </a:r>
            <a:br>
              <a:rPr lang="fr"/>
            </a:br>
            <a:r>
              <a:rPr lang="fr"/>
              <a:t>un collectif</a:t>
            </a:r>
            <a:r>
              <a:rPr lang="fr"/>
              <a:t> (entreprises, associations, territoire,etc.)</a:t>
            </a:r>
            <a:br>
              <a:rPr lang="fr"/>
            </a:br>
            <a:r>
              <a:rPr lang="fr"/>
              <a:t>peut l’initier de manière collective, au sein de son organisation, à destination de plusieurs collaborateurs.</a:t>
            </a:r>
            <a:endParaRPr/>
          </a:p>
        </p:txBody>
      </p:sp>
      <p:sp>
        <p:nvSpPr>
          <p:cNvPr id="497" name="Google Shape;497;p60"/>
          <p:cNvSpPr txBox="1"/>
          <p:nvPr>
            <p:ph idx="2" type="body"/>
          </p:nvPr>
        </p:nvSpPr>
        <p:spPr>
          <a:xfrm>
            <a:off x="503039" y="-1501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LA VAE COLLECTIVE, DE QUOI S’AGIT-IL ?</a:t>
            </a:r>
            <a:endParaRPr/>
          </a:p>
        </p:txBody>
      </p:sp>
      <p:sp>
        <p:nvSpPr>
          <p:cNvPr id="498" name="Google Shape;498;p60"/>
          <p:cNvSpPr txBox="1"/>
          <p:nvPr>
            <p:ph idx="3" type="body"/>
          </p:nvPr>
        </p:nvSpPr>
        <p:spPr>
          <a:xfrm>
            <a:off x="502541" y="334922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Faire reconna</a:t>
            </a:r>
            <a:r>
              <a:rPr lang="fr"/>
              <a:t>ître ensemble les parcours et talents d’un groupe</a:t>
            </a:r>
            <a:endParaRPr/>
          </a:p>
        </p:txBody>
      </p:sp>
      <p:sp>
        <p:nvSpPr>
          <p:cNvPr id="499" name="Google Shape;499;p60"/>
          <p:cNvSpPr txBox="1"/>
          <p:nvPr/>
        </p:nvSpPr>
        <p:spPr>
          <a:xfrm>
            <a:off x="498875" y="3800775"/>
            <a:ext cx="3372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Cela ne peut pas être imposé au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collaborateur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qui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reste libre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mobiliser ou non ce droit individuel.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0"/>
          <p:cNvSpPr txBox="1"/>
          <p:nvPr/>
        </p:nvSpPr>
        <p:spPr>
          <a:xfrm>
            <a:off x="4495800" y="3800775"/>
            <a:ext cx="3016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émarche qui peut s’inscrire </a:t>
            </a:r>
            <a:b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dans un 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 de développement des compétences</a:t>
            </a:r>
            <a:r>
              <a:rPr lang="fr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.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1"/>
          <p:cNvSpPr txBox="1"/>
          <p:nvPr>
            <p:ph idx="2" type="body"/>
          </p:nvPr>
        </p:nvSpPr>
        <p:spPr>
          <a:xfrm>
            <a:off x="3474300" y="2098600"/>
            <a:ext cx="21954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800"/>
              <a:t>Le cercle vertueux </a:t>
            </a:r>
            <a:br>
              <a:rPr lang="fr" sz="1800"/>
            </a:br>
            <a:r>
              <a:rPr lang="fr" sz="1800"/>
              <a:t>de la VAE collective</a:t>
            </a:r>
            <a:endParaRPr sz="1800"/>
          </a:p>
        </p:txBody>
      </p:sp>
      <p:grpSp>
        <p:nvGrpSpPr>
          <p:cNvPr id="506" name="Google Shape;506;p61"/>
          <p:cNvGrpSpPr/>
          <p:nvPr/>
        </p:nvGrpSpPr>
        <p:grpSpPr>
          <a:xfrm>
            <a:off x="2532678" y="303879"/>
            <a:ext cx="4078634" cy="4078914"/>
            <a:chOff x="3712400" y="-5826350"/>
            <a:chExt cx="2550900" cy="2551075"/>
          </a:xfrm>
        </p:grpSpPr>
        <p:sp>
          <p:nvSpPr>
            <p:cNvPr id="507" name="Google Shape;507;p61"/>
            <p:cNvSpPr/>
            <p:nvPr/>
          </p:nvSpPr>
          <p:spPr>
            <a:xfrm rot="-5400000">
              <a:off x="3712400" y="-5826350"/>
              <a:ext cx="2550900" cy="2550900"/>
            </a:xfrm>
            <a:prstGeom prst="blockArc">
              <a:avLst>
                <a:gd fmla="val 10800000" name="adj1"/>
                <a:gd fmla="val 4642" name="adj2"/>
                <a:gd fmla="val 17340" name="adj3"/>
              </a:avLst>
            </a:prstGeom>
            <a:solidFill>
              <a:srgbClr val="295F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08" name="Google Shape;508;p61"/>
            <p:cNvSpPr/>
            <p:nvPr/>
          </p:nvSpPr>
          <p:spPr>
            <a:xfrm rot="5400000">
              <a:off x="3712400" y="-5826350"/>
              <a:ext cx="2550900" cy="2550900"/>
            </a:xfrm>
            <a:prstGeom prst="blockArc">
              <a:avLst>
                <a:gd fmla="val 10840237" name="adj1"/>
                <a:gd fmla="val 122065" name="adj2"/>
                <a:gd fmla="val 17534" name="adj3"/>
              </a:avLst>
            </a:prstGeom>
            <a:solidFill>
              <a:srgbClr val="104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09" name="Google Shape;509;p61"/>
            <p:cNvSpPr/>
            <p:nvPr/>
          </p:nvSpPr>
          <p:spPr>
            <a:xfrm>
              <a:off x="4731075" y="-3718675"/>
              <a:ext cx="443400" cy="443400"/>
            </a:xfrm>
            <a:prstGeom prst="ellipse">
              <a:avLst/>
            </a:prstGeom>
            <a:solidFill>
              <a:srgbClr val="1041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10" name="Google Shape;510;p61"/>
            <p:cNvSpPr/>
            <p:nvPr/>
          </p:nvSpPr>
          <p:spPr>
            <a:xfrm>
              <a:off x="4759642" y="-5826350"/>
              <a:ext cx="443400" cy="443400"/>
            </a:xfrm>
            <a:prstGeom prst="ellipse">
              <a:avLst/>
            </a:prstGeom>
            <a:solidFill>
              <a:srgbClr val="295F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511" name="Google Shape;511;p61"/>
          <p:cNvSpPr/>
          <p:nvPr/>
        </p:nvSpPr>
        <p:spPr>
          <a:xfrm>
            <a:off x="1188150" y="2505524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Dialogue social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Créer une dynamique</a:t>
            </a:r>
            <a:b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collective positive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2" name="Google Shape;512;p61"/>
          <p:cNvSpPr/>
          <p:nvPr/>
        </p:nvSpPr>
        <p:spPr>
          <a:xfrm>
            <a:off x="1618000" y="649100"/>
            <a:ext cx="16767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Valoriser l’expérience acquise par vos collaborateurs</a:t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3" name="Google Shape;513;p61"/>
          <p:cNvSpPr/>
          <p:nvPr/>
        </p:nvSpPr>
        <p:spPr>
          <a:xfrm>
            <a:off x="5828500" y="649100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Fidélisation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Renforcer l’engagement et réduire le turnover</a:t>
            </a:r>
            <a:endParaRPr>
              <a:solidFill>
                <a:srgbClr val="1041BE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14" name="Google Shape;514;p61"/>
          <p:cNvSpPr/>
          <p:nvPr/>
        </p:nvSpPr>
        <p:spPr>
          <a:xfrm>
            <a:off x="6140650" y="2505525"/>
            <a:ext cx="2428200" cy="1095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Sécurisation des parcours professionnels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L’accès à la certification favorise le maintien de l’employabilité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1"/>
          <p:cNvSpPr/>
          <p:nvPr/>
        </p:nvSpPr>
        <p:spPr>
          <a:xfrm>
            <a:off x="3664400" y="3932006"/>
            <a:ext cx="1815300" cy="97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28600" rotWithShape="0" algn="bl" dir="5400000" dist="19050">
              <a:srgbClr val="000000">
                <a:alpha val="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Marque employeur</a:t>
            </a:r>
            <a:endParaRPr b="1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Attirer et retenir les talents en instaurant une culture de la reconnaissance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étapes-clés </a:t>
            </a:r>
            <a:br>
              <a:rPr lang="fr"/>
            </a:br>
            <a:r>
              <a:rPr lang="fr"/>
              <a:t>d’une VAE collective</a:t>
            </a:r>
            <a:endParaRPr/>
          </a:p>
        </p:txBody>
      </p:sp>
      <p:sp>
        <p:nvSpPr>
          <p:cNvPr id="521" name="Google Shape;521;p62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62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"/>
          <p:cNvSpPr txBox="1"/>
          <p:nvPr>
            <p:ph idx="2" type="body"/>
          </p:nvPr>
        </p:nvSpPr>
        <p:spPr>
          <a:xfrm>
            <a:off x="502541" y="36058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parcours simplifié et balisé via la plateforme France VAE</a:t>
            </a:r>
            <a:endParaRPr/>
          </a:p>
        </p:txBody>
      </p:sp>
      <p:sp>
        <p:nvSpPr>
          <p:cNvPr id="528" name="Google Shape;528;p63"/>
          <p:cNvSpPr txBox="1"/>
          <p:nvPr>
            <p:ph idx="3" type="subTitle"/>
          </p:nvPr>
        </p:nvSpPr>
        <p:spPr>
          <a:xfrm>
            <a:off x="64400" y="2935300"/>
            <a:ext cx="1744500" cy="316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Lancement projet </a:t>
            </a:r>
            <a:endParaRPr>
              <a:solidFill>
                <a:srgbClr val="E79D61"/>
              </a:solidFill>
            </a:endParaRPr>
          </a:p>
        </p:txBody>
      </p:sp>
      <p:sp>
        <p:nvSpPr>
          <p:cNvPr id="529" name="Google Shape;529;p63"/>
          <p:cNvSpPr txBox="1"/>
          <p:nvPr>
            <p:ph idx="5" type="subTitle"/>
          </p:nvPr>
        </p:nvSpPr>
        <p:spPr>
          <a:xfrm>
            <a:off x="934175" y="16098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E79D61"/>
                </a:solidFill>
              </a:rPr>
              <a:t>Appel à candidature</a:t>
            </a:r>
            <a:endParaRPr>
              <a:solidFill>
                <a:srgbClr val="E79D61"/>
              </a:solidFill>
            </a:endParaRPr>
          </a:p>
        </p:txBody>
      </p:sp>
      <p:sp>
        <p:nvSpPr>
          <p:cNvPr id="530" name="Google Shape;530;p63"/>
          <p:cNvSpPr txBox="1"/>
          <p:nvPr>
            <p:ph idx="7" type="subTitle"/>
          </p:nvPr>
        </p:nvSpPr>
        <p:spPr>
          <a:xfrm>
            <a:off x="6262925" y="1587250"/>
            <a:ext cx="2597700" cy="952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Suivi de l’accompagnement</a:t>
            </a:r>
            <a:r>
              <a:rPr lang="fr">
                <a:solidFill>
                  <a:srgbClr val="1041BE"/>
                </a:solidFill>
              </a:rPr>
              <a:t>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31" name="Google Shape;531;p63"/>
          <p:cNvSpPr txBox="1"/>
          <p:nvPr>
            <p:ph idx="9" type="subTitle"/>
          </p:nvPr>
        </p:nvSpPr>
        <p:spPr>
          <a:xfrm>
            <a:off x="4656475" y="2852225"/>
            <a:ext cx="19218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Dépôt dossiers &amp; calendrier </a:t>
            </a:r>
            <a:endParaRPr>
              <a:solidFill>
                <a:srgbClr val="1041BE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32" name="Google Shape;532;p63"/>
          <p:cNvSpPr txBox="1"/>
          <p:nvPr>
            <p:ph idx="14" type="subTitle"/>
          </p:nvPr>
        </p:nvSpPr>
        <p:spPr>
          <a:xfrm>
            <a:off x="7839475" y="2808675"/>
            <a:ext cx="2066700" cy="29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Jury </a:t>
            </a:r>
            <a:r>
              <a:rPr lang="fr">
                <a:solidFill>
                  <a:srgbClr val="E79D61"/>
                </a:solidFill>
              </a:rPr>
              <a:t> </a:t>
            </a:r>
            <a:endParaRPr>
              <a:solidFill>
                <a:srgbClr val="E79D61"/>
              </a:solidFill>
            </a:endParaRPr>
          </a:p>
        </p:txBody>
      </p:sp>
      <p:pic>
        <p:nvPicPr>
          <p:cNvPr id="533" name="Google Shape;533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45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134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83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63"/>
          <p:cNvSpPr txBox="1"/>
          <p:nvPr>
            <p:ph idx="3" type="subTitle"/>
          </p:nvPr>
        </p:nvSpPr>
        <p:spPr>
          <a:xfrm>
            <a:off x="64400" y="3164675"/>
            <a:ext cx="19725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Ciblage des typologies d’emploi et certifications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…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63"/>
          <p:cNvSpPr txBox="1"/>
          <p:nvPr>
            <p:ph idx="6" type="body"/>
          </p:nvPr>
        </p:nvSpPr>
        <p:spPr>
          <a:xfrm>
            <a:off x="934175" y="1817175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 la base du volontariat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63"/>
          <p:cNvSpPr txBox="1"/>
          <p:nvPr>
            <p:ph idx="8" type="body"/>
          </p:nvPr>
        </p:nvSpPr>
        <p:spPr>
          <a:xfrm>
            <a:off x="4644258" y="3275908"/>
            <a:ext cx="19218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Accès aux dates et infos clefs (avis recevabilité, dates jury..)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63"/>
          <p:cNvSpPr txBox="1"/>
          <p:nvPr>
            <p:ph idx="3" type="subTitle"/>
          </p:nvPr>
        </p:nvSpPr>
        <p:spPr>
          <a:xfrm>
            <a:off x="7823900" y="3018174"/>
            <a:ext cx="1490100" cy="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Accès aux résultats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0" name="Google Shape;540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7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3"/>
          <p:cNvSpPr/>
          <p:nvPr/>
        </p:nvSpPr>
        <p:spPr>
          <a:xfrm>
            <a:off x="5178749" y="2407939"/>
            <a:ext cx="237392" cy="290146"/>
          </a:xfrm>
          <a:custGeom>
            <a:rect b="b" l="l" r="r" t="t"/>
            <a:pathLst>
              <a:path extrusionOk="0" h="386861" w="316523">
                <a:moveTo>
                  <a:pt x="200025" y="24179"/>
                </a:moveTo>
                <a:lnTo>
                  <a:pt x="59348" y="24179"/>
                </a:lnTo>
                <a:cubicBezTo>
                  <a:pt x="40005" y="24179"/>
                  <a:pt x="24355" y="40005"/>
                  <a:pt x="24355" y="59348"/>
                </a:cubicBezTo>
                <a:lnTo>
                  <a:pt x="24179" y="340702"/>
                </a:lnTo>
                <a:cubicBezTo>
                  <a:pt x="24179" y="360045"/>
                  <a:pt x="39829" y="375871"/>
                  <a:pt x="59172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129687"/>
                </a:lnTo>
                <a:lnTo>
                  <a:pt x="200025" y="24179"/>
                </a:lnTo>
                <a:close/>
                <a:moveTo>
                  <a:pt x="59348" y="340702"/>
                </a:moveTo>
                <a:lnTo>
                  <a:pt x="59348" y="59348"/>
                </a:lnTo>
                <a:lnTo>
                  <a:pt x="182440" y="59348"/>
                </a:lnTo>
                <a:lnTo>
                  <a:pt x="182440" y="147271"/>
                </a:lnTo>
                <a:lnTo>
                  <a:pt x="270364" y="147271"/>
                </a:lnTo>
                <a:lnTo>
                  <a:pt x="270364" y="340702"/>
                </a:lnTo>
                <a:lnTo>
                  <a:pt x="59348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63"/>
          <p:cNvSpPr/>
          <p:nvPr/>
        </p:nvSpPr>
        <p:spPr>
          <a:xfrm>
            <a:off x="7990955" y="407115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63"/>
          <p:cNvSpPr/>
          <p:nvPr/>
        </p:nvSpPr>
        <p:spPr>
          <a:xfrm>
            <a:off x="195497" y="2407939"/>
            <a:ext cx="276958" cy="290146"/>
          </a:xfrm>
          <a:custGeom>
            <a:rect b="b" l="l" r="r" t="t"/>
            <a:pathLst>
              <a:path extrusionOk="0" h="386861" w="369277">
                <a:moveTo>
                  <a:pt x="358287" y="270364"/>
                </a:moveTo>
                <a:lnTo>
                  <a:pt x="358287" y="235194"/>
                </a:lnTo>
                <a:lnTo>
                  <a:pt x="217610" y="147271"/>
                </a:lnTo>
                <a:lnTo>
                  <a:pt x="217610" y="50556"/>
                </a:lnTo>
                <a:cubicBezTo>
                  <a:pt x="217610" y="35961"/>
                  <a:pt x="205828" y="24179"/>
                  <a:pt x="191233" y="24179"/>
                </a:cubicBezTo>
                <a:cubicBezTo>
                  <a:pt x="176638" y="24179"/>
                  <a:pt x="164856" y="35961"/>
                  <a:pt x="164856" y="50556"/>
                </a:cubicBezTo>
                <a:lnTo>
                  <a:pt x="164856" y="147271"/>
                </a:lnTo>
                <a:lnTo>
                  <a:pt x="24179" y="235194"/>
                </a:lnTo>
                <a:lnTo>
                  <a:pt x="24179" y="270364"/>
                </a:lnTo>
                <a:lnTo>
                  <a:pt x="164856" y="226402"/>
                </a:lnTo>
                <a:lnTo>
                  <a:pt x="164856" y="323118"/>
                </a:lnTo>
                <a:lnTo>
                  <a:pt x="129687" y="349494"/>
                </a:lnTo>
                <a:lnTo>
                  <a:pt x="129687" y="375871"/>
                </a:lnTo>
                <a:lnTo>
                  <a:pt x="191233" y="358287"/>
                </a:lnTo>
                <a:lnTo>
                  <a:pt x="252779" y="375871"/>
                </a:lnTo>
                <a:lnTo>
                  <a:pt x="252779" y="349494"/>
                </a:lnTo>
                <a:lnTo>
                  <a:pt x="217610" y="323118"/>
                </a:lnTo>
                <a:lnTo>
                  <a:pt x="217610" y="226402"/>
                </a:lnTo>
                <a:lnTo>
                  <a:pt x="358287" y="2703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4" name="Google Shape;544;p63"/>
          <p:cNvSpPr/>
          <p:nvPr/>
        </p:nvSpPr>
        <p:spPr>
          <a:xfrm>
            <a:off x="3740804" y="2407958"/>
            <a:ext cx="237392" cy="237392"/>
          </a:xfrm>
          <a:custGeom>
            <a:rect b="b" l="l" r="r" t="t"/>
            <a:pathLst>
              <a:path extrusionOk="0" h="316523" w="316523">
                <a:moveTo>
                  <a:pt x="164856" y="59348"/>
                </a:moveTo>
                <a:cubicBezTo>
                  <a:pt x="184199" y="59348"/>
                  <a:pt x="200025" y="75174"/>
                  <a:pt x="200025" y="94517"/>
                </a:cubicBezTo>
                <a:cubicBezTo>
                  <a:pt x="200025" y="113860"/>
                  <a:pt x="184199" y="129687"/>
                  <a:pt x="164856" y="129687"/>
                </a:cubicBezTo>
                <a:cubicBezTo>
                  <a:pt x="145513" y="129687"/>
                  <a:pt x="129687" y="113860"/>
                  <a:pt x="129687" y="94517"/>
                </a:cubicBezTo>
                <a:cubicBezTo>
                  <a:pt x="129687" y="75174"/>
                  <a:pt x="145513" y="59348"/>
                  <a:pt x="164856" y="59348"/>
                </a:cubicBezTo>
                <a:moveTo>
                  <a:pt x="164856" y="235194"/>
                </a:moveTo>
                <a:cubicBezTo>
                  <a:pt x="212334" y="235194"/>
                  <a:pt x="266847" y="257879"/>
                  <a:pt x="270364" y="270364"/>
                </a:cubicBezTo>
                <a:lnTo>
                  <a:pt x="59348" y="270364"/>
                </a:lnTo>
                <a:cubicBezTo>
                  <a:pt x="63393" y="257703"/>
                  <a:pt x="117553" y="235194"/>
                  <a:pt x="164856" y="235194"/>
                </a:cubicBezTo>
                <a:moveTo>
                  <a:pt x="164856" y="24179"/>
                </a:moveTo>
                <a:cubicBezTo>
                  <a:pt x="125994" y="24179"/>
                  <a:pt x="94517" y="55655"/>
                  <a:pt x="94517" y="94517"/>
                </a:cubicBezTo>
                <a:cubicBezTo>
                  <a:pt x="94517" y="133379"/>
                  <a:pt x="125994" y="164856"/>
                  <a:pt x="164856" y="164856"/>
                </a:cubicBezTo>
                <a:cubicBezTo>
                  <a:pt x="203718" y="164856"/>
                  <a:pt x="235194" y="133379"/>
                  <a:pt x="235194" y="94517"/>
                </a:cubicBezTo>
                <a:cubicBezTo>
                  <a:pt x="235194" y="55655"/>
                  <a:pt x="203718" y="24179"/>
                  <a:pt x="164856" y="24179"/>
                </a:cubicBezTo>
                <a:close/>
                <a:moveTo>
                  <a:pt x="164856" y="200025"/>
                </a:moveTo>
                <a:cubicBezTo>
                  <a:pt x="117905" y="200025"/>
                  <a:pt x="24179" y="223589"/>
                  <a:pt x="24179" y="270364"/>
                </a:cubicBezTo>
                <a:lnTo>
                  <a:pt x="24179" y="305533"/>
                </a:lnTo>
                <a:lnTo>
                  <a:pt x="305533" y="305533"/>
                </a:lnTo>
                <a:lnTo>
                  <a:pt x="305533" y="270364"/>
                </a:lnTo>
                <a:cubicBezTo>
                  <a:pt x="305533" y="223589"/>
                  <a:pt x="211807" y="200025"/>
                  <a:pt x="164856" y="2000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p63"/>
          <p:cNvSpPr/>
          <p:nvPr/>
        </p:nvSpPr>
        <p:spPr>
          <a:xfrm>
            <a:off x="6806865" y="2447504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p63"/>
          <p:cNvSpPr txBox="1"/>
          <p:nvPr>
            <p:ph idx="6" type="body"/>
          </p:nvPr>
        </p:nvSpPr>
        <p:spPr>
          <a:xfrm>
            <a:off x="6277625" y="1825467"/>
            <a:ext cx="17445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Suivi de l’avancement des parcours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7" name="Google Shape;547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5165" y="2311150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3"/>
          <p:cNvSpPr/>
          <p:nvPr/>
        </p:nvSpPr>
        <p:spPr>
          <a:xfrm>
            <a:off x="1386192" y="2433279"/>
            <a:ext cx="290146" cy="276958"/>
          </a:xfrm>
          <a:custGeom>
            <a:rect b="b" l="l" r="r" t="t"/>
            <a:pathLst>
              <a:path extrusionOk="0" h="369277" w="386861">
                <a:moveTo>
                  <a:pt x="279156" y="24179"/>
                </a:moveTo>
                <a:cubicBezTo>
                  <a:pt x="248559" y="24179"/>
                  <a:pt x="219192" y="38422"/>
                  <a:pt x="200025" y="60931"/>
                </a:cubicBezTo>
                <a:cubicBezTo>
                  <a:pt x="180858" y="38422"/>
                  <a:pt x="151492" y="24179"/>
                  <a:pt x="120894" y="24179"/>
                </a:cubicBezTo>
                <a:cubicBezTo>
                  <a:pt x="66734" y="24179"/>
                  <a:pt x="24179" y="66734"/>
                  <a:pt x="24179" y="120894"/>
                </a:cubicBezTo>
                <a:cubicBezTo>
                  <a:pt x="24179" y="187364"/>
                  <a:pt x="83967" y="241525"/>
                  <a:pt x="174527" y="323821"/>
                </a:cubicBezTo>
                <a:lnTo>
                  <a:pt x="200025" y="346857"/>
                </a:lnTo>
                <a:lnTo>
                  <a:pt x="225523" y="323645"/>
                </a:lnTo>
                <a:cubicBezTo>
                  <a:pt x="316084" y="241525"/>
                  <a:pt x="375871" y="187364"/>
                  <a:pt x="375871" y="120894"/>
                </a:cubicBezTo>
                <a:cubicBezTo>
                  <a:pt x="375871" y="66734"/>
                  <a:pt x="333317" y="24179"/>
                  <a:pt x="279156" y="24179"/>
                </a:cubicBezTo>
                <a:close/>
                <a:moveTo>
                  <a:pt x="201784" y="297620"/>
                </a:moveTo>
                <a:lnTo>
                  <a:pt x="200025" y="299378"/>
                </a:lnTo>
                <a:lnTo>
                  <a:pt x="198267" y="297620"/>
                </a:lnTo>
                <a:cubicBezTo>
                  <a:pt x="114564" y="221830"/>
                  <a:pt x="59348" y="171714"/>
                  <a:pt x="59348" y="120894"/>
                </a:cubicBezTo>
                <a:cubicBezTo>
                  <a:pt x="59348" y="85725"/>
                  <a:pt x="85725" y="59348"/>
                  <a:pt x="120894" y="59348"/>
                </a:cubicBezTo>
                <a:cubicBezTo>
                  <a:pt x="147975" y="59348"/>
                  <a:pt x="174352" y="76757"/>
                  <a:pt x="183671" y="100848"/>
                </a:cubicBezTo>
                <a:lnTo>
                  <a:pt x="216555" y="100848"/>
                </a:lnTo>
                <a:cubicBezTo>
                  <a:pt x="225699" y="76757"/>
                  <a:pt x="252076" y="59348"/>
                  <a:pt x="279156" y="59348"/>
                </a:cubicBezTo>
                <a:cubicBezTo>
                  <a:pt x="314325" y="59348"/>
                  <a:pt x="340702" y="85725"/>
                  <a:pt x="340702" y="120894"/>
                </a:cubicBezTo>
                <a:cubicBezTo>
                  <a:pt x="340702" y="171714"/>
                  <a:pt x="285486" y="221830"/>
                  <a:pt x="201784" y="2976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9" name="Google Shape;549;p63"/>
          <p:cNvSpPr txBox="1"/>
          <p:nvPr>
            <p:ph idx="5" type="subTitle"/>
          </p:nvPr>
        </p:nvSpPr>
        <p:spPr>
          <a:xfrm>
            <a:off x="3462800" y="1616392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Inscription candidats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50" name="Google Shape;550;p63"/>
          <p:cNvSpPr txBox="1"/>
          <p:nvPr>
            <p:ph idx="6" type="body"/>
          </p:nvPr>
        </p:nvSpPr>
        <p:spPr>
          <a:xfrm>
            <a:off x="3462800" y="1823692"/>
            <a:ext cx="22446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Paramétrage et envoi d’un lien d’inscription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63"/>
          <p:cNvSpPr/>
          <p:nvPr/>
        </p:nvSpPr>
        <p:spPr>
          <a:xfrm>
            <a:off x="534950" y="4194975"/>
            <a:ext cx="8100300" cy="4836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Tableau de bord de suivi de toutes les étapes à disposition du porteur de projet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2" name="Google Shape;552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840" y="2325763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63"/>
          <p:cNvSpPr txBox="1"/>
          <p:nvPr>
            <p:ph idx="5" type="subTitle"/>
          </p:nvPr>
        </p:nvSpPr>
        <p:spPr>
          <a:xfrm>
            <a:off x="2204575" y="2929075"/>
            <a:ext cx="20346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Sélection du prestataire </a:t>
            </a:r>
            <a:endParaRPr>
              <a:solidFill>
                <a:srgbClr val="1041BE"/>
              </a:solidFill>
            </a:endParaRPr>
          </a:p>
        </p:txBody>
      </p:sp>
      <p:pic>
        <p:nvPicPr>
          <p:cNvPr id="554" name="Google Shape;554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3135" y="2315273"/>
            <a:ext cx="432200" cy="483723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3"/>
          <p:cNvSpPr txBox="1"/>
          <p:nvPr>
            <p:ph idx="6" type="body"/>
          </p:nvPr>
        </p:nvSpPr>
        <p:spPr>
          <a:xfrm>
            <a:off x="2214719" y="3147680"/>
            <a:ext cx="1921800" cy="42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Depuis la liste des AAP référencés chez France VAE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3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 D’UNE VAE COLLECTIVE</a:t>
            </a:r>
            <a:endParaRPr/>
          </a:p>
        </p:txBody>
      </p:sp>
      <p:sp>
        <p:nvSpPr>
          <p:cNvPr id="557" name="Google Shape;557;p63"/>
          <p:cNvSpPr/>
          <p:nvPr/>
        </p:nvSpPr>
        <p:spPr>
          <a:xfrm>
            <a:off x="2527527" y="2406701"/>
            <a:ext cx="290146" cy="290146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63"/>
          <p:cNvSpPr/>
          <p:nvPr/>
        </p:nvSpPr>
        <p:spPr>
          <a:xfrm>
            <a:off x="778388" y="4278513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63"/>
          <p:cNvSpPr/>
          <p:nvPr/>
        </p:nvSpPr>
        <p:spPr>
          <a:xfrm>
            <a:off x="8018028" y="2406708"/>
            <a:ext cx="237392" cy="290146"/>
          </a:xfrm>
          <a:custGeom>
            <a:rect b="b" l="l" r="r" t="t"/>
            <a:pathLst>
              <a:path extrusionOk="0" h="386861" w="316523">
                <a:moveTo>
                  <a:pt x="270364" y="24179"/>
                </a:moveTo>
                <a:lnTo>
                  <a:pt x="59348" y="24179"/>
                </a:lnTo>
                <a:cubicBezTo>
                  <a:pt x="40005" y="24179"/>
                  <a:pt x="24179" y="40005"/>
                  <a:pt x="24179" y="59348"/>
                </a:cubicBezTo>
                <a:lnTo>
                  <a:pt x="24179" y="340702"/>
                </a:lnTo>
                <a:cubicBezTo>
                  <a:pt x="24179" y="360045"/>
                  <a:pt x="40005" y="375871"/>
                  <a:pt x="59348" y="375871"/>
                </a:cubicBezTo>
                <a:lnTo>
                  <a:pt x="270364" y="375871"/>
                </a:lnTo>
                <a:cubicBezTo>
                  <a:pt x="289707" y="375871"/>
                  <a:pt x="305533" y="360045"/>
                  <a:pt x="305533" y="340702"/>
                </a:cubicBezTo>
                <a:lnTo>
                  <a:pt x="305533" y="59348"/>
                </a:lnTo>
                <a:cubicBezTo>
                  <a:pt x="305533" y="40005"/>
                  <a:pt x="289707" y="24179"/>
                  <a:pt x="270364" y="24179"/>
                </a:cubicBezTo>
                <a:close/>
                <a:moveTo>
                  <a:pt x="112102" y="59348"/>
                </a:moveTo>
                <a:lnTo>
                  <a:pt x="147271" y="59348"/>
                </a:lnTo>
                <a:lnTo>
                  <a:pt x="147271" y="147271"/>
                </a:lnTo>
                <a:lnTo>
                  <a:pt x="129687" y="134083"/>
                </a:lnTo>
                <a:lnTo>
                  <a:pt x="112102" y="147271"/>
                </a:lnTo>
                <a:lnTo>
                  <a:pt x="112102" y="59348"/>
                </a:lnTo>
                <a:close/>
                <a:moveTo>
                  <a:pt x="270364" y="340702"/>
                </a:moveTo>
                <a:lnTo>
                  <a:pt x="59348" y="340702"/>
                </a:lnTo>
                <a:lnTo>
                  <a:pt x="59348" y="59348"/>
                </a:lnTo>
                <a:lnTo>
                  <a:pt x="76933" y="59348"/>
                </a:lnTo>
                <a:lnTo>
                  <a:pt x="76933" y="217610"/>
                </a:lnTo>
                <a:lnTo>
                  <a:pt x="129687" y="178044"/>
                </a:lnTo>
                <a:lnTo>
                  <a:pt x="182440" y="217610"/>
                </a:lnTo>
                <a:lnTo>
                  <a:pt x="182440" y="59348"/>
                </a:lnTo>
                <a:lnTo>
                  <a:pt x="270364" y="59348"/>
                </a:lnTo>
                <a:lnTo>
                  <a:pt x="270364" y="34070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60" name="Google Shape;560;p63" title="losange bleu roi fvae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980" y="891090"/>
            <a:ext cx="152400" cy="170568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3"/>
          <p:cNvSpPr txBox="1"/>
          <p:nvPr/>
        </p:nvSpPr>
        <p:spPr>
          <a:xfrm>
            <a:off x="818388" y="857724"/>
            <a:ext cx="1921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Au sein de votre organisation</a:t>
            </a:r>
            <a:endParaRPr sz="10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2" name="Google Shape;562;p63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105" y="891090"/>
            <a:ext cx="152400" cy="170568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63"/>
          <p:cNvSpPr txBox="1"/>
          <p:nvPr/>
        </p:nvSpPr>
        <p:spPr>
          <a:xfrm>
            <a:off x="2892513" y="857724"/>
            <a:ext cx="1921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Dans le service France VAE</a:t>
            </a:r>
            <a:endParaRPr sz="10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63"/>
          <p:cNvSpPr/>
          <p:nvPr/>
        </p:nvSpPr>
        <p:spPr>
          <a:xfrm>
            <a:off x="561450" y="814450"/>
            <a:ext cx="4082700" cy="31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8EB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4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service public</a:t>
            </a:r>
            <a:br>
              <a:rPr lang="fr"/>
            </a:br>
            <a:r>
              <a:rPr lang="fr"/>
              <a:t>France VAE</a:t>
            </a:r>
            <a:endParaRPr/>
          </a:p>
        </p:txBody>
      </p:sp>
      <p:sp>
        <p:nvSpPr>
          <p:cNvPr id="570" name="Google Shape;570;p64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Une offre adaptée à votre projet collectif</a:t>
            </a:r>
            <a:endParaRPr/>
          </a:p>
        </p:txBody>
      </p:sp>
      <p:sp>
        <p:nvSpPr>
          <p:cNvPr id="571" name="Google Shape;571;p64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5"/>
          <p:cNvSpPr/>
          <p:nvPr/>
        </p:nvSpPr>
        <p:spPr>
          <a:xfrm>
            <a:off x="3042000" y="1171275"/>
            <a:ext cx="3060000" cy="306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2892300" y="1021575"/>
            <a:ext cx="3359400" cy="3359400"/>
          </a:xfrm>
          <a:prstGeom prst="ellipse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578" name="Google Shape;578;p65"/>
          <p:cNvSpPr txBox="1"/>
          <p:nvPr>
            <p:ph idx="3" type="body"/>
          </p:nvPr>
        </p:nvSpPr>
        <p:spPr>
          <a:xfrm>
            <a:off x="502541" y="352997"/>
            <a:ext cx="85695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France VAE, 3 piliers qui simplifient vos projets collectifs </a:t>
            </a:r>
            <a:endParaRPr/>
          </a:p>
        </p:txBody>
      </p:sp>
      <p:sp>
        <p:nvSpPr>
          <p:cNvPr id="579" name="Google Shape;579;p65"/>
          <p:cNvSpPr txBox="1"/>
          <p:nvPr>
            <p:ph idx="4294967295" type="body"/>
          </p:nvPr>
        </p:nvSpPr>
        <p:spPr>
          <a:xfrm>
            <a:off x="417850" y="2327600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Accompagnement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80" name="Google Shape;580;p65"/>
          <p:cNvSpPr txBox="1"/>
          <p:nvPr>
            <p:ph idx="4294967295" type="body"/>
          </p:nvPr>
        </p:nvSpPr>
        <p:spPr>
          <a:xfrm>
            <a:off x="309250" y="2559275"/>
            <a:ext cx="2268600" cy="1128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Mise à disposition une liste d’AAP référencés pour accompagner vos salariés.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65"/>
          <p:cNvSpPr txBox="1"/>
          <p:nvPr>
            <p:ph idx="4294967295" type="body"/>
          </p:nvPr>
        </p:nvSpPr>
        <p:spPr>
          <a:xfrm>
            <a:off x="6095114" y="1162875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Espace dédié 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82" name="Google Shape;582;p65"/>
          <p:cNvSpPr txBox="1"/>
          <p:nvPr>
            <p:ph idx="4294967295" type="body"/>
          </p:nvPr>
        </p:nvSpPr>
        <p:spPr>
          <a:xfrm>
            <a:off x="6095125" y="1394550"/>
            <a:ext cx="2640300" cy="83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Accès à un o</a:t>
            </a:r>
            <a:r>
              <a:rPr lang="fr" sz="1200">
                <a:latin typeface="Roboto"/>
                <a:ea typeface="Roboto"/>
                <a:cs typeface="Roboto"/>
                <a:sym typeface="Roboto"/>
              </a:rPr>
              <a:t>util de pilotage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de vos projets et suivi des cohortes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65"/>
          <p:cNvSpPr txBox="1"/>
          <p:nvPr>
            <p:ph idx="4294967295" type="body"/>
          </p:nvPr>
        </p:nvSpPr>
        <p:spPr>
          <a:xfrm>
            <a:off x="6129129" y="3549925"/>
            <a:ext cx="2160000" cy="264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Fluidité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584" name="Google Shape;584;p65"/>
          <p:cNvSpPr txBox="1"/>
          <p:nvPr>
            <p:ph idx="4294967295" type="body"/>
          </p:nvPr>
        </p:nvSpPr>
        <p:spPr>
          <a:xfrm>
            <a:off x="6129125" y="3781600"/>
            <a:ext cx="2671500" cy="83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latin typeface="Roboto"/>
                <a:ea typeface="Roboto"/>
                <a:cs typeface="Roboto"/>
                <a:sym typeface="Roboto"/>
              </a:rPr>
              <a:t>Des échanges</a:t>
            </a:r>
            <a:r>
              <a:rPr lang="fr" sz="1200">
                <a:latin typeface="Roboto"/>
                <a:ea typeface="Roboto"/>
                <a:cs typeface="Roboto"/>
                <a:sym typeface="Roboto"/>
              </a:rPr>
              <a:t> centralisés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et simplifiés au sein d’une plateforme unique (AAP, certificateurs, candidats).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5" name="Google Shape;585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200" y="2342838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5"/>
          <p:cNvSpPr/>
          <p:nvPr/>
        </p:nvSpPr>
        <p:spPr>
          <a:xfrm>
            <a:off x="2756127" y="2480005"/>
            <a:ext cx="290146" cy="290146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7" name="Google Shape;587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25" y="1171188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5"/>
          <p:cNvSpPr/>
          <p:nvPr/>
        </p:nvSpPr>
        <p:spPr>
          <a:xfrm>
            <a:off x="5566463" y="1295166"/>
            <a:ext cx="316523" cy="316523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89" name="Google Shape;589;p65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725" y="3575850"/>
            <a:ext cx="504000" cy="5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5"/>
          <p:cNvSpPr/>
          <p:nvPr/>
        </p:nvSpPr>
        <p:spPr>
          <a:xfrm>
            <a:off x="5579652" y="3752582"/>
            <a:ext cx="290146" cy="211015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1" name="Google Shape;591;p65"/>
          <p:cNvSpPr txBox="1"/>
          <p:nvPr>
            <p:ph idx="4294967295" type="body"/>
          </p:nvPr>
        </p:nvSpPr>
        <p:spPr>
          <a:xfrm>
            <a:off x="3492000" y="2417325"/>
            <a:ext cx="21600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1000"/>
              </a:spcAft>
              <a:buNone/>
            </a:pPr>
            <a:r>
              <a:rPr lang="fr"/>
              <a:t>France</a:t>
            </a:r>
            <a:br>
              <a:rPr lang="fr"/>
            </a:br>
            <a:r>
              <a:rPr lang="fr"/>
              <a:t>VAE</a:t>
            </a:r>
            <a:endParaRPr/>
          </a:p>
        </p:txBody>
      </p:sp>
      <p:sp>
        <p:nvSpPr>
          <p:cNvPr id="592" name="Google Shape;592;p65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6"/>
          <p:cNvSpPr txBox="1"/>
          <p:nvPr>
            <p:ph idx="4294967295" type="body"/>
          </p:nvPr>
        </p:nvSpPr>
        <p:spPr>
          <a:xfrm>
            <a:off x="5749850" y="2440500"/>
            <a:ext cx="2160000" cy="93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co-construit avec le candidat un parcours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visant à maximiser ses chances de réussite et l’accompagne dans la mobilisation du financement de son parcours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66"/>
          <p:cNvSpPr txBox="1"/>
          <p:nvPr>
            <p:ph type="title"/>
          </p:nvPr>
        </p:nvSpPr>
        <p:spPr>
          <a:xfrm>
            <a:off x="503050" y="884700"/>
            <a:ext cx="8270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800">
                <a:solidFill>
                  <a:srgbClr val="002060"/>
                </a:solidFill>
              </a:rPr>
              <a:t>Mise à disposition d’une liste d’AAP référencés </a:t>
            </a:r>
            <a:endParaRPr sz="18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66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1" name="Google Shape;601;p66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6907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66"/>
          <p:cNvSpPr txBox="1"/>
          <p:nvPr>
            <p:ph idx="4294967295" type="body"/>
          </p:nvPr>
        </p:nvSpPr>
        <p:spPr>
          <a:xfrm>
            <a:off x="935232" y="362825"/>
            <a:ext cx="35199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Accompagnement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66"/>
          <p:cNvSpPr/>
          <p:nvPr/>
        </p:nvSpPr>
        <p:spPr>
          <a:xfrm>
            <a:off x="630206" y="449435"/>
            <a:ext cx="179890" cy="179890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66"/>
          <p:cNvSpPr txBox="1"/>
          <p:nvPr>
            <p:ph idx="4294967295" type="body"/>
          </p:nvPr>
        </p:nvSpPr>
        <p:spPr>
          <a:xfrm>
            <a:off x="3127550" y="1545425"/>
            <a:ext cx="5441400" cy="56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Un accompagnement tout au long</a:t>
            </a:r>
            <a:br>
              <a:rPr lang="fr">
                <a:solidFill>
                  <a:srgbClr val="1041BE"/>
                </a:solidFill>
              </a:rPr>
            </a:br>
            <a:r>
              <a:rPr lang="fr">
                <a:solidFill>
                  <a:srgbClr val="1041BE"/>
                </a:solidFill>
              </a:rPr>
              <a:t>du parcours de VAE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05" name="Google Shape;605;p66"/>
          <p:cNvSpPr txBox="1"/>
          <p:nvPr>
            <p:ph idx="4294967295" type="body"/>
          </p:nvPr>
        </p:nvSpPr>
        <p:spPr>
          <a:xfrm>
            <a:off x="3127550" y="2440500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conforte ou réoriente le candidat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dès le premier RDV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6" name="Google Shape;60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1545425"/>
            <a:ext cx="2164050" cy="2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6"/>
          <p:cNvSpPr txBox="1"/>
          <p:nvPr>
            <p:ph idx="4294967295" type="body"/>
          </p:nvPr>
        </p:nvSpPr>
        <p:spPr>
          <a:xfrm>
            <a:off x="3127550" y="3497725"/>
            <a:ext cx="2160000" cy="1033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réalise un diagnostic de faisabilité et prononce un avis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, le certificateur restant souverain de sa décision.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66"/>
          <p:cNvSpPr txBox="1"/>
          <p:nvPr>
            <p:ph idx="4294967295" type="body"/>
          </p:nvPr>
        </p:nvSpPr>
        <p:spPr>
          <a:xfrm>
            <a:off x="5749850" y="3497725"/>
            <a:ext cx="2160000" cy="121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réalise un accompagnement méthodologique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à la rédaction du dossier de validation et préparation au jury, et si besoin, un entretien post-jury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7"/>
          <p:cNvSpPr txBox="1"/>
          <p:nvPr>
            <p:ph idx="4294967295" type="body"/>
          </p:nvPr>
        </p:nvSpPr>
        <p:spPr>
          <a:xfrm>
            <a:off x="5749850" y="1985650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L’ensemble des AAP sur France VAE est certifié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Qualiopi VAE.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67"/>
          <p:cNvSpPr txBox="1"/>
          <p:nvPr>
            <p:ph idx="4294967295" type="body"/>
          </p:nvPr>
        </p:nvSpPr>
        <p:spPr>
          <a:xfrm>
            <a:off x="3127550" y="1985650"/>
            <a:ext cx="2160000" cy="1667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L’AAP se référence sur la base des critères suivants :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Roboto"/>
              <a:buChar char="●"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par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niveau de certification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et sous domaines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Formacode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,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228600" lvl="0" marL="3429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Roboto"/>
              <a:buChar char="●"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par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modalités d’accompagnement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(distanciel, présentiel) et de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financement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67"/>
          <p:cNvSpPr txBox="1"/>
          <p:nvPr>
            <p:ph type="title"/>
          </p:nvPr>
        </p:nvSpPr>
        <p:spPr>
          <a:xfrm>
            <a:off x="503050" y="884700"/>
            <a:ext cx="8270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800">
                <a:solidFill>
                  <a:srgbClr val="002060"/>
                </a:solidFill>
              </a:rPr>
              <a:t>Mise à disposition d’une liste d’AAP référencés </a:t>
            </a:r>
            <a:endParaRPr sz="1800">
              <a:solidFill>
                <a:srgbClr val="0020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67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8" name="Google Shape;618;p67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6907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67"/>
          <p:cNvSpPr txBox="1"/>
          <p:nvPr>
            <p:ph idx="4294967295" type="body"/>
          </p:nvPr>
        </p:nvSpPr>
        <p:spPr>
          <a:xfrm>
            <a:off x="935232" y="362825"/>
            <a:ext cx="35199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Accompagnement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67"/>
          <p:cNvSpPr/>
          <p:nvPr/>
        </p:nvSpPr>
        <p:spPr>
          <a:xfrm>
            <a:off x="630206" y="449435"/>
            <a:ext cx="179890" cy="179890"/>
          </a:xfrm>
          <a:custGeom>
            <a:rect b="b" l="l" r="r" t="t"/>
            <a:pathLst>
              <a:path extrusionOk="0" h="386861" w="386861">
                <a:moveTo>
                  <a:pt x="264385" y="73943"/>
                </a:moveTo>
                <a:lnTo>
                  <a:pt x="314149" y="123708"/>
                </a:lnTo>
                <a:lnTo>
                  <a:pt x="264385" y="173472"/>
                </a:lnTo>
                <a:lnTo>
                  <a:pt x="214620" y="123708"/>
                </a:lnTo>
                <a:lnTo>
                  <a:pt x="264385" y="73943"/>
                </a:lnTo>
                <a:moveTo>
                  <a:pt x="129687" y="82384"/>
                </a:moveTo>
                <a:lnTo>
                  <a:pt x="129687" y="152722"/>
                </a:lnTo>
                <a:lnTo>
                  <a:pt x="59348" y="152722"/>
                </a:lnTo>
                <a:lnTo>
                  <a:pt x="59348" y="82384"/>
                </a:lnTo>
                <a:lnTo>
                  <a:pt x="129687" y="82384"/>
                </a:lnTo>
                <a:moveTo>
                  <a:pt x="305533" y="258230"/>
                </a:moveTo>
                <a:lnTo>
                  <a:pt x="305533" y="328569"/>
                </a:lnTo>
                <a:lnTo>
                  <a:pt x="235194" y="328569"/>
                </a:lnTo>
                <a:lnTo>
                  <a:pt x="235194" y="258230"/>
                </a:lnTo>
                <a:lnTo>
                  <a:pt x="305533" y="258230"/>
                </a:lnTo>
                <a:moveTo>
                  <a:pt x="129687" y="258230"/>
                </a:moveTo>
                <a:lnTo>
                  <a:pt x="129687" y="328569"/>
                </a:lnTo>
                <a:lnTo>
                  <a:pt x="59348" y="328569"/>
                </a:lnTo>
                <a:lnTo>
                  <a:pt x="59348" y="258230"/>
                </a:lnTo>
                <a:lnTo>
                  <a:pt x="129687" y="258230"/>
                </a:lnTo>
                <a:moveTo>
                  <a:pt x="264385" y="24179"/>
                </a:moveTo>
                <a:lnTo>
                  <a:pt x="164856" y="123532"/>
                </a:lnTo>
                <a:lnTo>
                  <a:pt x="264385" y="223061"/>
                </a:lnTo>
                <a:lnTo>
                  <a:pt x="363914" y="123532"/>
                </a:lnTo>
                <a:lnTo>
                  <a:pt x="264385" y="24179"/>
                </a:lnTo>
                <a:close/>
                <a:moveTo>
                  <a:pt x="164856" y="47215"/>
                </a:moveTo>
                <a:lnTo>
                  <a:pt x="24179" y="47215"/>
                </a:lnTo>
                <a:lnTo>
                  <a:pt x="24179" y="187892"/>
                </a:lnTo>
                <a:lnTo>
                  <a:pt x="164856" y="187892"/>
                </a:lnTo>
                <a:lnTo>
                  <a:pt x="164856" y="47215"/>
                </a:lnTo>
                <a:close/>
                <a:moveTo>
                  <a:pt x="340702" y="223061"/>
                </a:moveTo>
                <a:lnTo>
                  <a:pt x="200025" y="223061"/>
                </a:lnTo>
                <a:lnTo>
                  <a:pt x="200025" y="363738"/>
                </a:lnTo>
                <a:lnTo>
                  <a:pt x="340702" y="363738"/>
                </a:lnTo>
                <a:lnTo>
                  <a:pt x="340702" y="223061"/>
                </a:lnTo>
                <a:close/>
                <a:moveTo>
                  <a:pt x="164856" y="223061"/>
                </a:moveTo>
                <a:lnTo>
                  <a:pt x="24179" y="223061"/>
                </a:lnTo>
                <a:lnTo>
                  <a:pt x="24179" y="363738"/>
                </a:lnTo>
                <a:lnTo>
                  <a:pt x="164856" y="363738"/>
                </a:lnTo>
                <a:lnTo>
                  <a:pt x="164856" y="22306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1" name="Google Shape;621;p67"/>
          <p:cNvSpPr txBox="1"/>
          <p:nvPr>
            <p:ph idx="4294967295" type="body"/>
          </p:nvPr>
        </p:nvSpPr>
        <p:spPr>
          <a:xfrm>
            <a:off x="3127550" y="1545425"/>
            <a:ext cx="5441400" cy="318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041BE"/>
                </a:solidFill>
              </a:rPr>
              <a:t>Un référencement de qualité</a:t>
            </a:r>
            <a:endParaRPr>
              <a:solidFill>
                <a:srgbClr val="1041BE"/>
              </a:solidFill>
            </a:endParaRPr>
          </a:p>
        </p:txBody>
      </p:sp>
      <p:sp>
        <p:nvSpPr>
          <p:cNvPr id="622" name="Google Shape;622;p67"/>
          <p:cNvSpPr txBox="1"/>
          <p:nvPr>
            <p:ph idx="4294967295" type="body"/>
          </p:nvPr>
        </p:nvSpPr>
        <p:spPr>
          <a:xfrm>
            <a:off x="5749850" y="3079050"/>
            <a:ext cx="2160000" cy="1593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latin typeface="Roboto"/>
                <a:ea typeface="Roboto"/>
                <a:cs typeface="Roboto"/>
                <a:sym typeface="Roboto"/>
              </a:rPr>
              <a:t>Ce référencement autorise la </a:t>
            </a: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mobilisation des financements </a:t>
            </a:r>
            <a:r>
              <a:rPr i="1" lang="fr" sz="1000">
                <a:latin typeface="Roboto"/>
                <a:ea typeface="Roboto"/>
                <a:cs typeface="Roboto"/>
                <a:sym typeface="Roboto"/>
              </a:rPr>
              <a:t>(décret en cours de rédaction et de publication).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3" name="Google Shape;62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1545425"/>
            <a:ext cx="2160000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67"/>
          <p:cNvSpPr txBox="1"/>
          <p:nvPr>
            <p:ph idx="4294967295" type="body"/>
          </p:nvPr>
        </p:nvSpPr>
        <p:spPr>
          <a:xfrm>
            <a:off x="5749850" y="2547763"/>
            <a:ext cx="2160000" cy="40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fr" sz="1000">
                <a:latin typeface="Roboto"/>
                <a:ea typeface="Roboto"/>
                <a:cs typeface="Roboto"/>
                <a:sym typeface="Roboto"/>
              </a:rPr>
              <a:t>Des contrôles et audits réguliers </a:t>
            </a:r>
            <a:r>
              <a:rPr lang="fr" sz="1000">
                <a:latin typeface="Roboto"/>
                <a:ea typeface="Roboto"/>
                <a:cs typeface="Roboto"/>
                <a:sym typeface="Roboto"/>
              </a:rPr>
              <a:t>menés par l’équipe France VAE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68"/>
          <p:cNvGrpSpPr/>
          <p:nvPr/>
        </p:nvGrpSpPr>
        <p:grpSpPr>
          <a:xfrm>
            <a:off x="6073461" y="2494384"/>
            <a:ext cx="2776146" cy="1717944"/>
            <a:chOff x="6246043" y="2283695"/>
            <a:chExt cx="3701528" cy="2290593"/>
          </a:xfrm>
        </p:grpSpPr>
        <p:grpSp>
          <p:nvGrpSpPr>
            <p:cNvPr id="631" name="Google Shape;631;p68"/>
            <p:cNvGrpSpPr/>
            <p:nvPr/>
          </p:nvGrpSpPr>
          <p:grpSpPr>
            <a:xfrm>
              <a:off x="6246043" y="2283695"/>
              <a:ext cx="3701528" cy="2290593"/>
              <a:chOff x="5648325" y="1768188"/>
              <a:chExt cx="5367645" cy="3321625"/>
            </a:xfrm>
          </p:grpSpPr>
          <p:pic>
            <p:nvPicPr>
              <p:cNvPr id="632" name="Google Shape;632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648325" y="1768188"/>
                <a:ext cx="5367645" cy="33216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3" name="Google Shape;633;p68"/>
              <p:cNvSpPr/>
              <p:nvPr/>
            </p:nvSpPr>
            <p:spPr>
              <a:xfrm>
                <a:off x="8048625" y="4803170"/>
                <a:ext cx="561900" cy="95400"/>
              </a:xfrm>
              <a:prstGeom prst="rect">
                <a:avLst/>
              </a:prstGeom>
              <a:solidFill>
                <a:srgbClr val="0E0E0E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34" name="Google Shape;634;p68"/>
            <p:cNvPicPr preferRelativeResize="0"/>
            <p:nvPr/>
          </p:nvPicPr>
          <p:blipFill rotWithShape="1">
            <a:blip r:embed="rId4">
              <a:alphaModFix/>
            </a:blip>
            <a:srcRect b="0" l="0" r="11801" t="0"/>
            <a:stretch/>
          </p:blipFill>
          <p:spPr>
            <a:xfrm>
              <a:off x="6676875" y="2559500"/>
              <a:ext cx="2832876" cy="180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5" name="Google Shape;635;p68"/>
          <p:cNvSpPr/>
          <p:nvPr/>
        </p:nvSpPr>
        <p:spPr>
          <a:xfrm>
            <a:off x="6614179" y="2264252"/>
            <a:ext cx="1704600" cy="197400"/>
          </a:xfrm>
          <a:prstGeom prst="roundRect">
            <a:avLst>
              <a:gd fmla="val 16667" name="adj"/>
            </a:avLst>
          </a:prstGeom>
          <a:solidFill>
            <a:srgbClr val="F7DC6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Espace AAP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36" name="Google Shape;636;p68"/>
          <p:cNvGrpSpPr/>
          <p:nvPr/>
        </p:nvGrpSpPr>
        <p:grpSpPr>
          <a:xfrm>
            <a:off x="282654" y="2494384"/>
            <a:ext cx="2776146" cy="1717944"/>
            <a:chOff x="5648325" y="1768188"/>
            <a:chExt cx="5367645" cy="3321625"/>
          </a:xfrm>
        </p:grpSpPr>
        <p:pic>
          <p:nvPicPr>
            <p:cNvPr id="637" name="Google Shape;637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48325" y="1768188"/>
              <a:ext cx="5367645" cy="3321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" name="Google Shape;638;p68"/>
            <p:cNvSpPr/>
            <p:nvPr/>
          </p:nvSpPr>
          <p:spPr>
            <a:xfrm>
              <a:off x="8048625" y="4803170"/>
              <a:ext cx="561900" cy="95400"/>
            </a:xfrm>
            <a:prstGeom prst="rect">
              <a:avLst/>
            </a:prstGeom>
            <a:solidFill>
              <a:srgbClr val="0E0E0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9" name="Google Shape;639;p68"/>
          <p:cNvPicPr preferRelativeResize="0"/>
          <p:nvPr/>
        </p:nvPicPr>
        <p:blipFill rotWithShape="1">
          <a:blip r:embed="rId5">
            <a:alphaModFix/>
          </a:blip>
          <a:srcRect b="21736" l="24926" r="14778" t="7321"/>
          <a:stretch/>
        </p:blipFill>
        <p:spPr>
          <a:xfrm>
            <a:off x="610804" y="2683387"/>
            <a:ext cx="2124657" cy="1354294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68"/>
          <p:cNvSpPr/>
          <p:nvPr/>
        </p:nvSpPr>
        <p:spPr>
          <a:xfrm>
            <a:off x="813772" y="2303475"/>
            <a:ext cx="1704600" cy="1974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Espace Certificateur</a:t>
            </a:r>
            <a:endParaRPr b="1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68"/>
          <p:cNvSpPr/>
          <p:nvPr/>
        </p:nvSpPr>
        <p:spPr>
          <a:xfrm>
            <a:off x="3135750" y="2114250"/>
            <a:ext cx="2834100" cy="222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2" name="Google Shape;642;p68"/>
          <p:cNvGrpSpPr/>
          <p:nvPr/>
        </p:nvGrpSpPr>
        <p:grpSpPr>
          <a:xfrm>
            <a:off x="3135753" y="2494384"/>
            <a:ext cx="2776146" cy="1717944"/>
            <a:chOff x="6246043" y="4628320"/>
            <a:chExt cx="3701528" cy="2290593"/>
          </a:xfrm>
        </p:grpSpPr>
        <p:grpSp>
          <p:nvGrpSpPr>
            <p:cNvPr id="643" name="Google Shape;643;p68"/>
            <p:cNvGrpSpPr/>
            <p:nvPr/>
          </p:nvGrpSpPr>
          <p:grpSpPr>
            <a:xfrm>
              <a:off x="6246043" y="4628320"/>
              <a:ext cx="3701528" cy="2290593"/>
              <a:chOff x="5648325" y="1768188"/>
              <a:chExt cx="5367645" cy="3321625"/>
            </a:xfrm>
          </p:grpSpPr>
          <p:pic>
            <p:nvPicPr>
              <p:cNvPr id="644" name="Google Shape;644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648325" y="1768188"/>
                <a:ext cx="5367645" cy="33216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5" name="Google Shape;645;p68"/>
              <p:cNvSpPr/>
              <p:nvPr/>
            </p:nvSpPr>
            <p:spPr>
              <a:xfrm>
                <a:off x="8048625" y="4803170"/>
                <a:ext cx="561900" cy="95400"/>
              </a:xfrm>
              <a:prstGeom prst="rect">
                <a:avLst/>
              </a:prstGeom>
              <a:solidFill>
                <a:srgbClr val="0E0E0E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46" name="Google Shape;646;p68"/>
            <p:cNvPicPr preferRelativeResize="0"/>
            <p:nvPr/>
          </p:nvPicPr>
          <p:blipFill rotWithShape="1">
            <a:blip r:embed="rId6">
              <a:alphaModFix/>
            </a:blip>
            <a:srcRect b="0" l="0" r="4834" t="0"/>
            <a:stretch/>
          </p:blipFill>
          <p:spPr>
            <a:xfrm>
              <a:off x="6667924" y="4902574"/>
              <a:ext cx="2832874" cy="1805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7" name="Google Shape;647;p68"/>
          <p:cNvSpPr/>
          <p:nvPr/>
        </p:nvSpPr>
        <p:spPr>
          <a:xfrm>
            <a:off x="3705319" y="2291354"/>
            <a:ext cx="1704600" cy="197400"/>
          </a:xfrm>
          <a:prstGeom prst="roundRect">
            <a:avLst>
              <a:gd fmla="val 16667" name="adj"/>
            </a:avLst>
          </a:prstGeom>
          <a:solidFill>
            <a:srgbClr val="FFA1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fr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Espace Candidat</a:t>
            </a:r>
            <a:endParaRPr b="1" i="0" sz="1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68"/>
          <p:cNvSpPr txBox="1"/>
          <p:nvPr>
            <p:ph idx="12" type="sldNum"/>
          </p:nvPr>
        </p:nvSpPr>
        <p:spPr>
          <a:xfrm>
            <a:off x="5031896" y="3880247"/>
            <a:ext cx="1543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649" name="Google Shape;649;p68"/>
          <p:cNvPicPr preferRelativeResize="0"/>
          <p:nvPr/>
        </p:nvPicPr>
        <p:blipFill rotWithShape="1">
          <a:blip r:embed="rId7">
            <a:alphaModFix/>
          </a:blip>
          <a:srcRect b="22540" l="0" r="0" t="19047"/>
          <a:stretch/>
        </p:blipFill>
        <p:spPr>
          <a:xfrm>
            <a:off x="3466250" y="2999225"/>
            <a:ext cx="2104351" cy="108652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68"/>
          <p:cNvSpPr txBox="1"/>
          <p:nvPr>
            <p:ph idx="2" type="body"/>
          </p:nvPr>
        </p:nvSpPr>
        <p:spPr>
          <a:xfrm>
            <a:off x="513300" y="927225"/>
            <a:ext cx="8055600" cy="95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lang="f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 échanges centralisés et simplifiés au sein d’une plateforme unique (AAP, certificateurs, candidats). </a:t>
            </a:r>
            <a:r>
              <a:rPr b="0" lang="fr" sz="1800">
                <a:solidFill>
                  <a:schemeClr val="dk1"/>
                </a:solidFill>
              </a:rPr>
              <a:t>Chaque rôle dispose de son espace pour suivre et orchestrer la VAE collective. 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651" name="Google Shape;651;p68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8"/>
          <p:cNvSpPr txBox="1"/>
          <p:nvPr>
            <p:ph idx="4294967295" type="body"/>
          </p:nvPr>
        </p:nvSpPr>
        <p:spPr>
          <a:xfrm>
            <a:off x="933029" y="36502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Fluidité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3" name="Google Shape;653;p68" title="losange bleu roi fvae@2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5075" y="374650"/>
            <a:ext cx="290148" cy="324958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68"/>
          <p:cNvSpPr/>
          <p:nvPr/>
        </p:nvSpPr>
        <p:spPr>
          <a:xfrm>
            <a:off x="636632" y="476392"/>
            <a:ext cx="167317" cy="121686"/>
          </a:xfrm>
          <a:custGeom>
            <a:rect b="b" l="l" r="r" t="t"/>
            <a:pathLst>
              <a:path extrusionOk="0" h="281354" w="386861">
                <a:moveTo>
                  <a:pt x="147271" y="178044"/>
                </a:moveTo>
                <a:cubicBezTo>
                  <a:pt x="106123" y="178044"/>
                  <a:pt x="24179" y="198618"/>
                  <a:pt x="24179" y="239591"/>
                </a:cubicBezTo>
                <a:lnTo>
                  <a:pt x="24179" y="270364"/>
                </a:lnTo>
                <a:lnTo>
                  <a:pt x="270364" y="270364"/>
                </a:lnTo>
                <a:lnTo>
                  <a:pt x="270364" y="239591"/>
                </a:lnTo>
                <a:cubicBezTo>
                  <a:pt x="270364" y="198618"/>
                  <a:pt x="188419" y="178044"/>
                  <a:pt x="147271" y="178044"/>
                </a:cubicBezTo>
                <a:close/>
                <a:moveTo>
                  <a:pt x="65327" y="235194"/>
                </a:moveTo>
                <a:cubicBezTo>
                  <a:pt x="80098" y="224995"/>
                  <a:pt x="115795" y="213214"/>
                  <a:pt x="147271" y="213214"/>
                </a:cubicBezTo>
                <a:cubicBezTo>
                  <a:pt x="178748" y="213214"/>
                  <a:pt x="214445" y="224995"/>
                  <a:pt x="229216" y="235194"/>
                </a:cubicBezTo>
                <a:lnTo>
                  <a:pt x="65327" y="235194"/>
                </a:lnTo>
                <a:close/>
                <a:moveTo>
                  <a:pt x="147271" y="147271"/>
                </a:moveTo>
                <a:cubicBezTo>
                  <a:pt x="181210" y="147271"/>
                  <a:pt x="208817" y="119663"/>
                  <a:pt x="208817" y="85725"/>
                </a:cubicBezTo>
                <a:cubicBezTo>
                  <a:pt x="208817" y="51787"/>
                  <a:pt x="181210" y="24179"/>
                  <a:pt x="147271" y="24179"/>
                </a:cubicBezTo>
                <a:cubicBezTo>
                  <a:pt x="113333" y="24179"/>
                  <a:pt x="85725" y="51787"/>
                  <a:pt x="85725" y="85725"/>
                </a:cubicBezTo>
                <a:cubicBezTo>
                  <a:pt x="85725" y="119663"/>
                  <a:pt x="113333" y="147271"/>
                  <a:pt x="147271" y="147271"/>
                </a:cubicBezTo>
                <a:close/>
                <a:moveTo>
                  <a:pt x="147271" y="59348"/>
                </a:moveTo>
                <a:cubicBezTo>
                  <a:pt x="161866" y="59348"/>
                  <a:pt x="173648" y="71130"/>
                  <a:pt x="173648" y="85725"/>
                </a:cubicBezTo>
                <a:cubicBezTo>
                  <a:pt x="173648" y="100320"/>
                  <a:pt x="161866" y="112102"/>
                  <a:pt x="147271" y="112102"/>
                </a:cubicBezTo>
                <a:cubicBezTo>
                  <a:pt x="132676" y="112102"/>
                  <a:pt x="120894" y="100320"/>
                  <a:pt x="120894" y="85725"/>
                </a:cubicBezTo>
                <a:cubicBezTo>
                  <a:pt x="120894" y="71130"/>
                  <a:pt x="132676" y="59348"/>
                  <a:pt x="147271" y="59348"/>
                </a:cubicBezTo>
                <a:close/>
                <a:moveTo>
                  <a:pt x="271067" y="179099"/>
                </a:moveTo>
                <a:cubicBezTo>
                  <a:pt x="291465" y="193870"/>
                  <a:pt x="305533" y="213565"/>
                  <a:pt x="305533" y="239591"/>
                </a:cubicBezTo>
                <a:lnTo>
                  <a:pt x="305533" y="270364"/>
                </a:lnTo>
                <a:lnTo>
                  <a:pt x="375871" y="270364"/>
                </a:lnTo>
                <a:lnTo>
                  <a:pt x="375871" y="239591"/>
                </a:lnTo>
                <a:cubicBezTo>
                  <a:pt x="375871" y="204070"/>
                  <a:pt x="314325" y="183847"/>
                  <a:pt x="271067" y="179099"/>
                </a:cubicBezTo>
                <a:close/>
                <a:moveTo>
                  <a:pt x="252779" y="147271"/>
                </a:moveTo>
                <a:cubicBezTo>
                  <a:pt x="286717" y="147271"/>
                  <a:pt x="314325" y="119663"/>
                  <a:pt x="314325" y="85725"/>
                </a:cubicBezTo>
                <a:cubicBezTo>
                  <a:pt x="314325" y="51787"/>
                  <a:pt x="286717" y="24179"/>
                  <a:pt x="252779" y="24179"/>
                </a:cubicBezTo>
                <a:cubicBezTo>
                  <a:pt x="243283" y="24179"/>
                  <a:pt x="234491" y="26465"/>
                  <a:pt x="226402" y="30333"/>
                </a:cubicBezTo>
                <a:cubicBezTo>
                  <a:pt x="237480" y="45984"/>
                  <a:pt x="243987" y="65151"/>
                  <a:pt x="243987" y="85725"/>
                </a:cubicBezTo>
                <a:cubicBezTo>
                  <a:pt x="243987" y="106299"/>
                  <a:pt x="237480" y="125466"/>
                  <a:pt x="226402" y="141117"/>
                </a:cubicBezTo>
                <a:cubicBezTo>
                  <a:pt x="234491" y="144985"/>
                  <a:pt x="243283" y="147271"/>
                  <a:pt x="252779" y="147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5" name="Google Shape;655;p68"/>
          <p:cNvSpPr/>
          <p:nvPr/>
        </p:nvSpPr>
        <p:spPr>
          <a:xfrm>
            <a:off x="2858225" y="3126175"/>
            <a:ext cx="411300" cy="205500"/>
          </a:xfrm>
          <a:prstGeom prst="chevron">
            <a:avLst>
              <a:gd fmla="val 50000" name="adj"/>
            </a:avLst>
          </a:prstGeom>
          <a:solidFill>
            <a:srgbClr val="295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6" name="Google Shape;656;p68"/>
          <p:cNvSpPr/>
          <p:nvPr/>
        </p:nvSpPr>
        <p:spPr>
          <a:xfrm rot="10800000">
            <a:off x="2858225" y="3389375"/>
            <a:ext cx="411300" cy="205500"/>
          </a:xfrm>
          <a:prstGeom prst="chevron">
            <a:avLst>
              <a:gd fmla="val 50000" name="adj"/>
            </a:avLst>
          </a:prstGeom>
          <a:solidFill>
            <a:srgbClr val="FFA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7" name="Google Shape;657;p68"/>
          <p:cNvSpPr/>
          <p:nvPr/>
        </p:nvSpPr>
        <p:spPr>
          <a:xfrm>
            <a:off x="5767325" y="3126175"/>
            <a:ext cx="411300" cy="205500"/>
          </a:xfrm>
          <a:prstGeom prst="chevron">
            <a:avLst>
              <a:gd fmla="val 50000" name="adj"/>
            </a:avLst>
          </a:prstGeom>
          <a:solidFill>
            <a:srgbClr val="FFA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8" name="Google Shape;658;p68"/>
          <p:cNvSpPr/>
          <p:nvPr/>
        </p:nvSpPr>
        <p:spPr>
          <a:xfrm rot="10800000">
            <a:off x="5767325" y="3389375"/>
            <a:ext cx="411300" cy="205500"/>
          </a:xfrm>
          <a:prstGeom prst="chevron">
            <a:avLst>
              <a:gd fmla="val 50000" name="adj"/>
            </a:avLst>
          </a:prstGeom>
          <a:solidFill>
            <a:srgbClr val="F7DC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59" name="Google Shape;659;p68"/>
          <p:cNvSpPr/>
          <p:nvPr/>
        </p:nvSpPr>
        <p:spPr>
          <a:xfrm>
            <a:off x="2693375" y="4572975"/>
            <a:ext cx="3650100" cy="162300"/>
          </a:xfrm>
          <a:prstGeom prst="chevron">
            <a:avLst>
              <a:gd fmla="val 50000" name="adj"/>
            </a:avLst>
          </a:prstGeom>
          <a:solidFill>
            <a:srgbClr val="295F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0" name="Google Shape;660;p68"/>
          <p:cNvSpPr/>
          <p:nvPr/>
        </p:nvSpPr>
        <p:spPr>
          <a:xfrm rot="10800000">
            <a:off x="2657150" y="4770675"/>
            <a:ext cx="3651600" cy="162300"/>
          </a:xfrm>
          <a:prstGeom prst="chevron">
            <a:avLst>
              <a:gd fmla="val 50000" name="adj"/>
            </a:avLst>
          </a:prstGeom>
          <a:solidFill>
            <a:srgbClr val="F7DC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9"/>
          <p:cNvSpPr/>
          <p:nvPr/>
        </p:nvSpPr>
        <p:spPr>
          <a:xfrm>
            <a:off x="7238062" y="54100"/>
            <a:ext cx="1763100" cy="208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6" name="Google Shape;666;p69"/>
          <p:cNvSpPr txBox="1"/>
          <p:nvPr>
            <p:ph idx="2" type="body"/>
          </p:nvPr>
        </p:nvSpPr>
        <p:spPr>
          <a:xfrm>
            <a:off x="502550" y="1152825"/>
            <a:ext cx="2883000" cy="54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Accès à un outil de pilotage</a:t>
            </a:r>
            <a:b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2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de vos projets et suivi des cohortes</a:t>
            </a:r>
            <a:endParaRPr b="1" sz="12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69"/>
          <p:cNvSpPr txBox="1"/>
          <p:nvPr>
            <p:ph idx="3" type="body"/>
          </p:nvPr>
        </p:nvSpPr>
        <p:spPr>
          <a:xfrm>
            <a:off x="502550" y="1885588"/>
            <a:ext cx="2883000" cy="53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latin typeface="Roboto Medium"/>
                <a:ea typeface="Roboto Medium"/>
                <a:cs typeface="Roboto Medium"/>
                <a:sym typeface="Roboto Medium"/>
              </a:rPr>
              <a:t>Outil de gestion de projet </a:t>
            </a:r>
            <a:br>
              <a:rPr lang="fr" sz="1600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fr" sz="1200"/>
              <a:t>Créez et pilotez efficacement</a:t>
            </a:r>
            <a:endParaRPr sz="1200"/>
          </a:p>
        </p:txBody>
      </p:sp>
      <p:sp>
        <p:nvSpPr>
          <p:cNvPr id="668" name="Google Shape;668;p69"/>
          <p:cNvSpPr txBox="1"/>
          <p:nvPr>
            <p:ph idx="2" type="body"/>
          </p:nvPr>
        </p:nvSpPr>
        <p:spPr>
          <a:xfrm>
            <a:off x="522800" y="2660700"/>
            <a:ext cx="2953800" cy="562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Pilotage et suivi</a:t>
            </a:r>
            <a:br>
              <a:rPr lang="fr" sz="1600"/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Suivez l’état d’avancement des parcours</a:t>
            </a:r>
            <a:endParaRPr sz="1600"/>
          </a:p>
        </p:txBody>
      </p:sp>
      <p:sp>
        <p:nvSpPr>
          <p:cNvPr id="669" name="Google Shape;669;p69"/>
          <p:cNvSpPr txBox="1"/>
          <p:nvPr>
            <p:ph idx="2" type="body"/>
          </p:nvPr>
        </p:nvSpPr>
        <p:spPr>
          <a:xfrm>
            <a:off x="502555" y="3358700"/>
            <a:ext cx="25788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Données clés</a:t>
            </a:r>
            <a:br>
              <a:rPr lang="fr" sz="1600"/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Obtenez des indicateurs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sur l’avancement, les résultats </a:t>
            </a:r>
            <a:br>
              <a:rPr lang="fr" sz="1200"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latin typeface="Roboto"/>
                <a:ea typeface="Roboto"/>
                <a:cs typeface="Roboto"/>
                <a:sym typeface="Roboto"/>
              </a:rPr>
              <a:t>via un tableau de bord Metabase pour commencer</a:t>
            </a:r>
            <a:endParaRPr sz="1600"/>
          </a:p>
        </p:txBody>
      </p:sp>
      <p:sp>
        <p:nvSpPr>
          <p:cNvPr id="670" name="Google Shape;670;p69"/>
          <p:cNvSpPr txBox="1"/>
          <p:nvPr>
            <p:ph idx="3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pic>
        <p:nvPicPr>
          <p:cNvPr id="671" name="Google Shape;671;p69" title="losange bleu roi fvae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75" y="374658"/>
            <a:ext cx="290152" cy="32494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9"/>
          <p:cNvSpPr txBox="1"/>
          <p:nvPr>
            <p:ph idx="4294967295" type="body"/>
          </p:nvPr>
        </p:nvSpPr>
        <p:spPr>
          <a:xfrm>
            <a:off x="933029" y="36502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Votre espace dédié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69"/>
          <p:cNvSpPr/>
          <p:nvPr/>
        </p:nvSpPr>
        <p:spPr>
          <a:xfrm>
            <a:off x="629040" y="446034"/>
            <a:ext cx="182528" cy="182528"/>
          </a:xfrm>
          <a:custGeom>
            <a:rect b="b" l="l" r="r" t="t"/>
            <a:pathLst>
              <a:path extrusionOk="0" h="422031" w="422031">
                <a:moveTo>
                  <a:pt x="217610" y="147271"/>
                </a:moveTo>
                <a:cubicBezTo>
                  <a:pt x="178748" y="147271"/>
                  <a:pt x="147271" y="178748"/>
                  <a:pt x="147271" y="217610"/>
                </a:cubicBezTo>
                <a:cubicBezTo>
                  <a:pt x="147271" y="256472"/>
                  <a:pt x="178748" y="287948"/>
                  <a:pt x="217610" y="287948"/>
                </a:cubicBezTo>
                <a:cubicBezTo>
                  <a:pt x="256472" y="287948"/>
                  <a:pt x="287948" y="256472"/>
                  <a:pt x="287948" y="217610"/>
                </a:cubicBezTo>
                <a:cubicBezTo>
                  <a:pt x="287948" y="178748"/>
                  <a:pt x="256472" y="147271"/>
                  <a:pt x="217610" y="147271"/>
                </a:cubicBezTo>
                <a:close/>
                <a:moveTo>
                  <a:pt x="374816" y="200025"/>
                </a:moveTo>
                <a:cubicBezTo>
                  <a:pt x="366727" y="126697"/>
                  <a:pt x="308522" y="68492"/>
                  <a:pt x="235194" y="60403"/>
                </a:cubicBezTo>
                <a:lnTo>
                  <a:pt x="235194" y="24179"/>
                </a:lnTo>
                <a:lnTo>
                  <a:pt x="200025" y="24179"/>
                </a:lnTo>
                <a:lnTo>
                  <a:pt x="200025" y="60403"/>
                </a:lnTo>
                <a:cubicBezTo>
                  <a:pt x="126697" y="68492"/>
                  <a:pt x="68492" y="126697"/>
                  <a:pt x="60403" y="200025"/>
                </a:cubicBezTo>
                <a:lnTo>
                  <a:pt x="24179" y="200025"/>
                </a:lnTo>
                <a:lnTo>
                  <a:pt x="24179" y="235194"/>
                </a:lnTo>
                <a:lnTo>
                  <a:pt x="60403" y="235194"/>
                </a:lnTo>
                <a:cubicBezTo>
                  <a:pt x="68492" y="308522"/>
                  <a:pt x="126697" y="366727"/>
                  <a:pt x="200025" y="374816"/>
                </a:cubicBezTo>
                <a:lnTo>
                  <a:pt x="200025" y="411041"/>
                </a:lnTo>
                <a:lnTo>
                  <a:pt x="235194" y="411041"/>
                </a:lnTo>
                <a:lnTo>
                  <a:pt x="235194" y="374816"/>
                </a:lnTo>
                <a:cubicBezTo>
                  <a:pt x="308522" y="366727"/>
                  <a:pt x="366727" y="308522"/>
                  <a:pt x="374816" y="235194"/>
                </a:cubicBezTo>
                <a:lnTo>
                  <a:pt x="411041" y="235194"/>
                </a:lnTo>
                <a:lnTo>
                  <a:pt x="411041" y="200025"/>
                </a:lnTo>
                <a:lnTo>
                  <a:pt x="374816" y="200025"/>
                </a:lnTo>
                <a:close/>
                <a:moveTo>
                  <a:pt x="217610" y="340702"/>
                </a:moveTo>
                <a:cubicBezTo>
                  <a:pt x="149557" y="340702"/>
                  <a:pt x="94517" y="285662"/>
                  <a:pt x="94517" y="217610"/>
                </a:cubicBezTo>
                <a:cubicBezTo>
                  <a:pt x="94517" y="149557"/>
                  <a:pt x="149557" y="94517"/>
                  <a:pt x="217610" y="94517"/>
                </a:cubicBezTo>
                <a:cubicBezTo>
                  <a:pt x="285662" y="94517"/>
                  <a:pt x="340702" y="149557"/>
                  <a:pt x="340702" y="217610"/>
                </a:cubicBezTo>
                <a:cubicBezTo>
                  <a:pt x="340702" y="285662"/>
                  <a:pt x="285662" y="340702"/>
                  <a:pt x="217610" y="34070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p69"/>
          <p:cNvSpPr txBox="1"/>
          <p:nvPr/>
        </p:nvSpPr>
        <p:spPr>
          <a:xfrm>
            <a:off x="503047" y="6250"/>
            <a:ext cx="6021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LE PORTAIL NUMÉRIQUE FRANCE VAE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69">
            <a:hlinkClick r:id="rId4"/>
          </p:cNvPr>
          <p:cNvSpPr/>
          <p:nvPr/>
        </p:nvSpPr>
        <p:spPr>
          <a:xfrm>
            <a:off x="6277400" y="4712325"/>
            <a:ext cx="2633400" cy="3249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Démo du prototype -&gt;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69"/>
          <p:cNvSpPr/>
          <p:nvPr/>
        </p:nvSpPr>
        <p:spPr>
          <a:xfrm>
            <a:off x="3703500" y="878725"/>
            <a:ext cx="5440500" cy="30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7" name="Google Shape;677;p69"/>
          <p:cNvSpPr/>
          <p:nvPr/>
        </p:nvSpPr>
        <p:spPr>
          <a:xfrm>
            <a:off x="3714200" y="889425"/>
            <a:ext cx="5429700" cy="36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Votre espace entreprise</a:t>
            </a:r>
            <a:endParaRPr b="1"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69"/>
          <p:cNvSpPr/>
          <p:nvPr/>
        </p:nvSpPr>
        <p:spPr>
          <a:xfrm>
            <a:off x="3955025" y="1424550"/>
            <a:ext cx="2434800" cy="1102200"/>
          </a:xfrm>
          <a:prstGeom prst="roundRect">
            <a:avLst>
              <a:gd fmla="val 8252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J’accède à mon espace connecté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9" name="Google Shape;679;p69"/>
          <p:cNvSpPr/>
          <p:nvPr/>
        </p:nvSpPr>
        <p:spPr>
          <a:xfrm>
            <a:off x="6524300" y="1424550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crée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0" name="Google Shape;680;p69"/>
          <p:cNvSpPr/>
          <p:nvPr/>
        </p:nvSpPr>
        <p:spPr>
          <a:xfrm>
            <a:off x="3955025" y="2648275"/>
            <a:ext cx="2434800" cy="1102200"/>
          </a:xfrm>
          <a:prstGeom prst="roundRect">
            <a:avLst>
              <a:gd fmla="val 873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suis ma cohorte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1" name="Google Shape;681;p69"/>
          <p:cNvSpPr/>
          <p:nvPr/>
        </p:nvSpPr>
        <p:spPr>
          <a:xfrm>
            <a:off x="6524300" y="2648275"/>
            <a:ext cx="2386500" cy="1102200"/>
          </a:xfrm>
          <a:prstGeom prst="roundRect">
            <a:avLst>
              <a:gd fmla="val 818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Roboto Medium"/>
                <a:ea typeface="Roboto Medium"/>
                <a:cs typeface="Roboto Medium"/>
                <a:sym typeface="Roboto Medium"/>
              </a:rPr>
              <a:t>Je pilote mon projet</a:t>
            </a:r>
            <a:endParaRPr sz="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descr="Une image contenant Graphique, graphisme, Police, logo&#10;&#10;Description générée automatiquement" id="682" name="Google Shape;682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197" y="886199"/>
            <a:ext cx="669027" cy="3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69"/>
          <p:cNvSpPr txBox="1"/>
          <p:nvPr>
            <p:ph idx="2" type="body"/>
          </p:nvPr>
        </p:nvSpPr>
        <p:spPr>
          <a:xfrm>
            <a:off x="7305000" y="67150"/>
            <a:ext cx="1650600" cy="18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EN PHASE D’EXPÉRIMENTATION</a:t>
            </a:r>
            <a:endParaRPr b="1" sz="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0"/>
          <p:cNvSpPr txBox="1"/>
          <p:nvPr>
            <p:ph idx="4294967295" type="body"/>
          </p:nvPr>
        </p:nvSpPr>
        <p:spPr>
          <a:xfrm>
            <a:off x="970479" y="-60887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Espace dédié</a:t>
            </a:r>
            <a:endParaRPr b="1" sz="2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9" name="Google Shape;689;p70" title="vae collective - creer une cohorte - parcours v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1338" y="0"/>
            <a:ext cx="64103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1"/>
          <p:cNvSpPr/>
          <p:nvPr/>
        </p:nvSpPr>
        <p:spPr>
          <a:xfrm>
            <a:off x="7238062" y="54100"/>
            <a:ext cx="1763100" cy="208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95" name="Google Shape;695;p71"/>
          <p:cNvSpPr txBox="1"/>
          <p:nvPr>
            <p:ph idx="4294967295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696" name="Google Shape;696;p71"/>
          <p:cNvSpPr txBox="1"/>
          <p:nvPr>
            <p:ph idx="4294967295" type="body"/>
          </p:nvPr>
        </p:nvSpPr>
        <p:spPr>
          <a:xfrm>
            <a:off x="970479" y="-608875"/>
            <a:ext cx="2911500" cy="38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Espace dédié</a:t>
            </a:r>
            <a:endParaRPr b="1" sz="2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71"/>
          <p:cNvSpPr txBox="1"/>
          <p:nvPr>
            <p:ph idx="4294967295" type="body"/>
          </p:nvPr>
        </p:nvSpPr>
        <p:spPr>
          <a:xfrm>
            <a:off x="7305000" y="67150"/>
            <a:ext cx="1650600" cy="18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EN PHASE D’EXPÉRIMENTATION</a:t>
            </a:r>
            <a:endParaRPr b="1" sz="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8" name="Google Shape;698;p71" title="VAE collective dans FVAE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450" y="-362894"/>
            <a:ext cx="5503725" cy="6418893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1"/>
          <p:cNvSpPr/>
          <p:nvPr/>
        </p:nvSpPr>
        <p:spPr>
          <a:xfrm>
            <a:off x="4246025" y="1790340"/>
            <a:ext cx="2423700" cy="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2"/>
          <p:cNvSpPr txBox="1"/>
          <p:nvPr>
            <p:ph type="ctrTitle"/>
          </p:nvPr>
        </p:nvSpPr>
        <p:spPr>
          <a:xfrm>
            <a:off x="2863400" y="2125276"/>
            <a:ext cx="5273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Lancement de votre </a:t>
            </a:r>
            <a:br>
              <a:rPr lang="fr"/>
            </a:br>
            <a:r>
              <a:rPr lang="fr"/>
              <a:t>projet collectif demain</a:t>
            </a:r>
            <a:endParaRPr/>
          </a:p>
        </p:txBody>
      </p:sp>
      <p:sp>
        <p:nvSpPr>
          <p:cNvPr id="705" name="Google Shape;705;p72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72"/>
          <p:cNvSpPr txBox="1"/>
          <p:nvPr>
            <p:ph idx="2" type="ctrTitle"/>
          </p:nvPr>
        </p:nvSpPr>
        <p:spPr>
          <a:xfrm>
            <a:off x="559000" y="1924025"/>
            <a:ext cx="1236300" cy="138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47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9412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73"/>
          <p:cNvSpPr/>
          <p:nvPr/>
        </p:nvSpPr>
        <p:spPr>
          <a:xfrm>
            <a:off x="1250209" y="1992093"/>
            <a:ext cx="222600" cy="22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00009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</a:t>
            </a:r>
            <a:endParaRPr i="0" sz="1100" u="none" cap="none" strike="noStrike">
              <a:solidFill>
                <a:srgbClr val="00009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15" name="Google Shape;715;p73"/>
          <p:cNvSpPr/>
          <p:nvPr/>
        </p:nvSpPr>
        <p:spPr>
          <a:xfrm>
            <a:off x="4433968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716" name="Google Shape;71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5309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7" name="Google Shape;717;p73"/>
          <p:cNvCxnSpPr>
            <a:stCxn id="713" idx="3"/>
            <a:endCxn id="716" idx="1"/>
          </p:cNvCxnSpPr>
          <p:nvPr/>
        </p:nvCxnSpPr>
        <p:spPr>
          <a:xfrm>
            <a:off x="5261275" y="2797773"/>
            <a:ext cx="363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718" name="Google Shape;71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1203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9" name="Google Shape;719;p73"/>
          <p:cNvCxnSpPr>
            <a:endCxn id="718" idx="1"/>
          </p:cNvCxnSpPr>
          <p:nvPr/>
        </p:nvCxnSpPr>
        <p:spPr>
          <a:xfrm>
            <a:off x="7039803" y="2797773"/>
            <a:ext cx="371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0" name="Google Shape;720;p73"/>
          <p:cNvSpPr/>
          <p:nvPr/>
        </p:nvSpPr>
        <p:spPr>
          <a:xfrm>
            <a:off x="8015905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21" name="Google Shape;721;p73"/>
          <p:cNvSpPr/>
          <p:nvPr/>
        </p:nvSpPr>
        <p:spPr>
          <a:xfrm>
            <a:off x="788788" y="1292756"/>
            <a:ext cx="1145400" cy="19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Aujourd’hui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2" name="Google Shape;722;p73"/>
          <p:cNvCxnSpPr>
            <a:stCxn id="721" idx="2"/>
            <a:endCxn id="714" idx="0"/>
          </p:cNvCxnSpPr>
          <p:nvPr/>
        </p:nvCxnSpPr>
        <p:spPr>
          <a:xfrm>
            <a:off x="1361488" y="1490156"/>
            <a:ext cx="0" cy="501900"/>
          </a:xfrm>
          <a:prstGeom prst="straightConnector1">
            <a:avLst/>
          </a:prstGeom>
          <a:noFill/>
          <a:ln cap="flat" cmpd="sng" w="9525">
            <a:solidFill>
              <a:srgbClr val="00009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23" name="Google Shape;723;p73"/>
          <p:cNvSpPr txBox="1"/>
          <p:nvPr/>
        </p:nvSpPr>
        <p:spPr>
          <a:xfrm>
            <a:off x="729075" y="2408928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Rdv avec une chargée de déploiement France VAE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73"/>
          <p:cNvSpPr txBox="1"/>
          <p:nvPr/>
        </p:nvSpPr>
        <p:spPr>
          <a:xfrm>
            <a:off x="3977719" y="2573034"/>
            <a:ext cx="11454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Renseignement d’un f</a:t>
            </a: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ormulaire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infos clés sur votre projet de VAE collective </a:t>
            </a:r>
            <a:endParaRPr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73"/>
          <p:cNvSpPr txBox="1"/>
          <p:nvPr/>
        </p:nvSpPr>
        <p:spPr>
          <a:xfrm>
            <a:off x="5763541" y="2501484"/>
            <a:ext cx="114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Création de </a:t>
            </a:r>
            <a:b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votre compte et de votre cohorte  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par France VAE</a:t>
            </a:r>
            <a:b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(sous 48h)</a:t>
            </a:r>
            <a:endParaRPr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73"/>
          <p:cNvSpPr txBox="1"/>
          <p:nvPr/>
        </p:nvSpPr>
        <p:spPr>
          <a:xfrm>
            <a:off x="7549509" y="2429934"/>
            <a:ext cx="11454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Réception d’un lien d’inscription</a:t>
            </a:r>
            <a:endParaRPr b="1"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à communiquer à vos candidats</a:t>
            </a:r>
            <a:endParaRPr sz="9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73">
            <a:hlinkClick r:id="rId4"/>
          </p:cNvPr>
          <p:cNvSpPr/>
          <p:nvPr/>
        </p:nvSpPr>
        <p:spPr>
          <a:xfrm>
            <a:off x="3767325" y="3617150"/>
            <a:ext cx="1590600" cy="2226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0" lIns="135000" spcFirstLastPara="1" rIns="135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" sz="9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Accéder au formulaire -&gt;</a:t>
            </a:r>
            <a:endParaRPr b="1" i="0" sz="9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73"/>
          <p:cNvSpPr/>
          <p:nvPr/>
        </p:nvSpPr>
        <p:spPr>
          <a:xfrm>
            <a:off x="3834350" y="1292756"/>
            <a:ext cx="1421700" cy="197400"/>
          </a:xfrm>
          <a:prstGeom prst="roundRect">
            <a:avLst>
              <a:gd fmla="val 16667" name="adj"/>
            </a:avLst>
          </a:prstGeom>
          <a:solidFill>
            <a:srgbClr val="00009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 prochaine étape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9" name="Google Shape;729;p73"/>
          <p:cNvCxnSpPr>
            <a:stCxn id="728" idx="2"/>
            <a:endCxn id="715" idx="0"/>
          </p:cNvCxnSpPr>
          <p:nvPr/>
        </p:nvCxnSpPr>
        <p:spPr>
          <a:xfrm>
            <a:off x="4545200" y="1490156"/>
            <a:ext cx="0" cy="501900"/>
          </a:xfrm>
          <a:prstGeom prst="straightConnector1">
            <a:avLst/>
          </a:prstGeom>
          <a:noFill/>
          <a:ln cap="flat" cmpd="sng" w="9525">
            <a:solidFill>
              <a:srgbClr val="000091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730" name="Google Shape;73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5122" y="2013311"/>
            <a:ext cx="1421863" cy="1568923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3"/>
          <p:cNvSpPr txBox="1"/>
          <p:nvPr/>
        </p:nvSpPr>
        <p:spPr>
          <a:xfrm>
            <a:off x="2390053" y="2640534"/>
            <a:ext cx="11454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000">
                <a:solidFill>
                  <a:srgbClr val="000091"/>
                </a:solidFill>
                <a:latin typeface="Roboto"/>
                <a:ea typeface="Roboto"/>
                <a:cs typeface="Roboto"/>
                <a:sym typeface="Roboto"/>
              </a:rPr>
              <a:t>Consultation et sélection d’un AAP référencé France VAE </a:t>
            </a:r>
            <a:endParaRPr b="1" sz="1000">
              <a:solidFill>
                <a:srgbClr val="00009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73"/>
          <p:cNvSpPr/>
          <p:nvPr/>
        </p:nvSpPr>
        <p:spPr>
          <a:xfrm>
            <a:off x="7728925" y="1292756"/>
            <a:ext cx="1421700" cy="197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🏁 Le projet est lancé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73"/>
          <p:cNvSpPr/>
          <p:nvPr/>
        </p:nvSpPr>
        <p:spPr>
          <a:xfrm>
            <a:off x="2814743" y="1992093"/>
            <a:ext cx="222600" cy="22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00009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</a:t>
            </a:r>
            <a:endParaRPr sz="1100">
              <a:solidFill>
                <a:srgbClr val="00009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34" name="Google Shape;734;p73"/>
          <p:cNvSpPr/>
          <p:nvPr/>
        </p:nvSpPr>
        <p:spPr>
          <a:xfrm>
            <a:off x="6172830" y="1992093"/>
            <a:ext cx="222600" cy="22260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</a:t>
            </a:r>
            <a:endParaRPr i="0" sz="1100" u="none" cap="none" strike="noStrike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35" name="Google Shape;735;p73"/>
          <p:cNvSpPr txBox="1"/>
          <p:nvPr/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LANCEMENT DE VOTRE PROJET COLLECTIF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73"/>
          <p:cNvSpPr txBox="1"/>
          <p:nvPr/>
        </p:nvSpPr>
        <p:spPr>
          <a:xfrm>
            <a:off x="502541" y="360587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Le démarrage de votre projet collectif en 5 étapes</a:t>
            </a:r>
            <a:endParaRPr b="1" sz="23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7" name="Google Shape;737;p73"/>
          <p:cNvCxnSpPr>
            <a:stCxn id="712" idx="3"/>
            <a:endCxn id="730" idx="1"/>
          </p:cNvCxnSpPr>
          <p:nvPr/>
        </p:nvCxnSpPr>
        <p:spPr>
          <a:xfrm>
            <a:off x="2012710" y="2797773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8" name="Google Shape;738;p73"/>
          <p:cNvCxnSpPr>
            <a:stCxn id="730" idx="3"/>
            <a:endCxn id="713" idx="1"/>
          </p:cNvCxnSpPr>
          <p:nvPr/>
        </p:nvCxnSpPr>
        <p:spPr>
          <a:xfrm>
            <a:off x="3636985" y="2797773"/>
            <a:ext cx="2025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4"/>
          <p:cNvSpPr txBox="1"/>
          <p:nvPr/>
        </p:nvSpPr>
        <p:spPr>
          <a:xfrm>
            <a:off x="502541" y="360587"/>
            <a:ext cx="856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Quand la cohorte est créée</a:t>
            </a:r>
            <a:b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fr" sz="23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le candidat :</a:t>
            </a:r>
            <a:endParaRPr b="1" sz="23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S’inscrit en suivant le lien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Rejoint</a:t>
            </a: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 son tableau de bord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Complète sa candidature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Procède à l’envoi de la candidature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2759"/>
              </a:buClr>
              <a:buSzPts val="1200"/>
              <a:buFont typeface="Roboto"/>
              <a:buChar char="●"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L’AAP visualise la candidature dans son espace</a:t>
            </a:r>
            <a:b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et peut démarrer l’accompagnement 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4" name="Google Shape;74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1050" y="324750"/>
            <a:ext cx="5451326" cy="481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75" y="2571750"/>
            <a:ext cx="2911498" cy="2081277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16000"/>
              </a:srgbClr>
            </a:outerShdw>
          </a:effectLst>
        </p:spPr>
      </p:pic>
      <p:sp>
        <p:nvSpPr>
          <p:cNvPr id="746" name="Google Shape;746;p74">
            <a:hlinkClick r:id="rId5"/>
          </p:cNvPr>
          <p:cNvSpPr/>
          <p:nvPr/>
        </p:nvSpPr>
        <p:spPr>
          <a:xfrm>
            <a:off x="1235513" y="4517275"/>
            <a:ext cx="1590600" cy="222600"/>
          </a:xfrm>
          <a:prstGeom prst="roundRect">
            <a:avLst>
              <a:gd fmla="val 16667" name="adj"/>
            </a:avLst>
          </a:prstGeom>
          <a:solidFill>
            <a:srgbClr val="1041BE"/>
          </a:solidFill>
          <a:ln>
            <a:noFill/>
          </a:ln>
        </p:spPr>
        <p:txBody>
          <a:bodyPr anchorCtr="0" anchor="ctr" bIns="0" lIns="135000" spcFirstLastPara="1" rIns="135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fr" sz="9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Accéder au </a:t>
            </a:r>
            <a:r>
              <a:rPr b="1" lang="fr" sz="9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tutoriel -&gt;</a:t>
            </a:r>
            <a:endParaRPr b="1" i="0" sz="900" u="sng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7" name="Google Shape;747;p74"/>
          <p:cNvCxnSpPr/>
          <p:nvPr/>
        </p:nvCxnSpPr>
        <p:spPr>
          <a:xfrm>
            <a:off x="5167750" y="4034750"/>
            <a:ext cx="278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74"/>
          <p:cNvCxnSpPr/>
          <p:nvPr/>
        </p:nvCxnSpPr>
        <p:spPr>
          <a:xfrm>
            <a:off x="5167750" y="4977725"/>
            <a:ext cx="186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49" name="Google Shape;749;p74"/>
          <p:cNvSpPr/>
          <p:nvPr/>
        </p:nvSpPr>
        <p:spPr>
          <a:xfrm>
            <a:off x="7063225" y="4110950"/>
            <a:ext cx="1119300" cy="962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C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5"/>
          <p:cNvSpPr txBox="1"/>
          <p:nvPr>
            <p:ph idx="4294967295" type="body"/>
          </p:nvPr>
        </p:nvSpPr>
        <p:spPr>
          <a:xfrm>
            <a:off x="3210825" y="4677975"/>
            <a:ext cx="25230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rgbClr val="999999"/>
                </a:solidFill>
              </a:rPr>
              <a:t>Vision cible du tableau de bord commanditaire. Non contractuel par rapport au produit fini.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755" name="Google Shape;755;p75"/>
          <p:cNvSpPr/>
          <p:nvPr/>
        </p:nvSpPr>
        <p:spPr>
          <a:xfrm>
            <a:off x="4246025" y="1790340"/>
            <a:ext cx="2423700" cy="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56" name="Google Shape;75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"/>
            <a:ext cx="9144003" cy="742061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75"/>
          <p:cNvSpPr/>
          <p:nvPr/>
        </p:nvSpPr>
        <p:spPr>
          <a:xfrm>
            <a:off x="7238062" y="54100"/>
            <a:ext cx="1763100" cy="208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58" name="Google Shape;758;p75"/>
          <p:cNvSpPr txBox="1"/>
          <p:nvPr>
            <p:ph idx="4294967295" type="body"/>
          </p:nvPr>
        </p:nvSpPr>
        <p:spPr>
          <a:xfrm>
            <a:off x="7305000" y="67150"/>
            <a:ext cx="1650600" cy="18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EN PHASE D’EXPÉRIMENTATION</a:t>
            </a:r>
            <a:endParaRPr b="1" sz="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75"/>
          <p:cNvSpPr/>
          <p:nvPr/>
        </p:nvSpPr>
        <p:spPr>
          <a:xfrm>
            <a:off x="3565025" y="362875"/>
            <a:ext cx="681000" cy="20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6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</a:pPr>
            <a:r>
              <a:rPr lang="fr"/>
              <a:t>LANCEMENT DE VOTRE PROJET COLLECTIF</a:t>
            </a:r>
            <a:endParaRPr/>
          </a:p>
        </p:txBody>
      </p:sp>
      <p:sp>
        <p:nvSpPr>
          <p:cNvPr id="765" name="Google Shape;765;p76"/>
          <p:cNvSpPr txBox="1"/>
          <p:nvPr>
            <p:ph idx="2" type="body"/>
          </p:nvPr>
        </p:nvSpPr>
        <p:spPr>
          <a:xfrm>
            <a:off x="474225" y="457200"/>
            <a:ext cx="3996900" cy="42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/>
              <a:t>Intégrez notre programme de co-conception de l’offre de VAE collective</a:t>
            </a:r>
            <a:endParaRPr sz="3200"/>
          </a:p>
        </p:txBody>
      </p:sp>
      <p:sp>
        <p:nvSpPr>
          <p:cNvPr id="766" name="Google Shape;766;p76"/>
          <p:cNvSpPr txBox="1"/>
          <p:nvPr>
            <p:ph idx="3" type="body"/>
          </p:nvPr>
        </p:nvSpPr>
        <p:spPr>
          <a:xfrm>
            <a:off x="6093050" y="755850"/>
            <a:ext cx="297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Atelier d’embarquement</a:t>
            </a:r>
            <a:endParaRPr/>
          </a:p>
        </p:txBody>
      </p:sp>
      <p:sp>
        <p:nvSpPr>
          <p:cNvPr id="767" name="Google Shape;767;p76"/>
          <p:cNvSpPr txBox="1"/>
          <p:nvPr>
            <p:ph idx="4" type="body"/>
          </p:nvPr>
        </p:nvSpPr>
        <p:spPr>
          <a:xfrm>
            <a:off x="6093050" y="1114225"/>
            <a:ext cx="2619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Votre chef de projet participe </a:t>
            </a:r>
            <a:br>
              <a:rPr lang="fr"/>
            </a:br>
            <a:r>
              <a:rPr lang="fr"/>
              <a:t>à une réunion d’embarquement</a:t>
            </a:r>
            <a:endParaRPr/>
          </a:p>
        </p:txBody>
      </p:sp>
      <p:sp>
        <p:nvSpPr>
          <p:cNvPr id="768" name="Google Shape;768;p76"/>
          <p:cNvSpPr txBox="1"/>
          <p:nvPr>
            <p:ph idx="5" type="body"/>
          </p:nvPr>
        </p:nvSpPr>
        <p:spPr>
          <a:xfrm>
            <a:off x="6093056" y="2095283"/>
            <a:ext cx="247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Préfiguration</a:t>
            </a:r>
            <a:endParaRPr/>
          </a:p>
        </p:txBody>
      </p:sp>
      <p:sp>
        <p:nvSpPr>
          <p:cNvPr id="769" name="Google Shape;769;p76"/>
          <p:cNvSpPr txBox="1"/>
          <p:nvPr>
            <p:ph idx="6" type="body"/>
          </p:nvPr>
        </p:nvSpPr>
        <p:spPr>
          <a:xfrm>
            <a:off x="6093056" y="2453661"/>
            <a:ext cx="24759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Testez la solution </a:t>
            </a:r>
            <a:br>
              <a:rPr lang="fr"/>
            </a:br>
            <a:r>
              <a:rPr lang="fr"/>
              <a:t>avec un groupe pilote</a:t>
            </a:r>
            <a:endParaRPr/>
          </a:p>
        </p:txBody>
      </p:sp>
      <p:sp>
        <p:nvSpPr>
          <p:cNvPr id="770" name="Google Shape;770;p76"/>
          <p:cNvSpPr txBox="1"/>
          <p:nvPr>
            <p:ph idx="7" type="body"/>
          </p:nvPr>
        </p:nvSpPr>
        <p:spPr>
          <a:xfrm>
            <a:off x="6093056" y="3463976"/>
            <a:ext cx="2475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fr"/>
              <a:t>Déploiement</a:t>
            </a:r>
            <a:endParaRPr/>
          </a:p>
        </p:txBody>
      </p:sp>
      <p:sp>
        <p:nvSpPr>
          <p:cNvPr id="771" name="Google Shape;771;p76"/>
          <p:cNvSpPr txBox="1"/>
          <p:nvPr>
            <p:ph idx="8" type="body"/>
          </p:nvPr>
        </p:nvSpPr>
        <p:spPr>
          <a:xfrm>
            <a:off x="6093056" y="3822355"/>
            <a:ext cx="2475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fr"/>
              <a:t>Lancez votre projet </a:t>
            </a:r>
            <a:br>
              <a:rPr lang="fr"/>
            </a:br>
            <a:r>
              <a:rPr lang="fr"/>
              <a:t>à grande échelle</a:t>
            </a:r>
            <a:endParaRPr/>
          </a:p>
        </p:txBody>
      </p:sp>
      <p:sp>
        <p:nvSpPr>
          <p:cNvPr id="772" name="Google Shape;772;p76"/>
          <p:cNvSpPr/>
          <p:nvPr/>
        </p:nvSpPr>
        <p:spPr>
          <a:xfrm>
            <a:off x="5565325" y="662175"/>
            <a:ext cx="466200" cy="46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73" name="Google Shape;773;p76"/>
          <p:cNvSpPr/>
          <p:nvPr/>
        </p:nvSpPr>
        <p:spPr>
          <a:xfrm>
            <a:off x="5666547" y="789762"/>
            <a:ext cx="263769" cy="211015"/>
          </a:xfrm>
          <a:custGeom>
            <a:rect b="b" l="l" r="r" t="t"/>
            <a:pathLst>
              <a:path extrusionOk="0" h="281354" w="351692">
                <a:moveTo>
                  <a:pt x="122653" y="210576"/>
                </a:moveTo>
                <a:lnTo>
                  <a:pt x="48797" y="136720"/>
                </a:lnTo>
                <a:lnTo>
                  <a:pt x="24179" y="161339"/>
                </a:lnTo>
                <a:lnTo>
                  <a:pt x="122653" y="259813"/>
                </a:lnTo>
                <a:lnTo>
                  <a:pt x="333668" y="48797"/>
                </a:lnTo>
                <a:lnTo>
                  <a:pt x="309050" y="24179"/>
                </a:lnTo>
                <a:lnTo>
                  <a:pt x="122653" y="21057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827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7"/>
          <p:cNvSpPr txBox="1"/>
          <p:nvPr>
            <p:ph idx="4294967295" type="body"/>
          </p:nvPr>
        </p:nvSpPr>
        <p:spPr>
          <a:xfrm>
            <a:off x="502450" y="2344500"/>
            <a:ext cx="8066400" cy="76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Mélanie BARD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accent6"/>
                </a:solidFill>
              </a:rPr>
              <a:t>Chargée de déploiement France VAE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79" name="Google Shape;779;p77"/>
          <p:cNvSpPr txBox="1"/>
          <p:nvPr>
            <p:ph idx="4294967295" type="body"/>
          </p:nvPr>
        </p:nvSpPr>
        <p:spPr>
          <a:xfrm>
            <a:off x="538800" y="2816575"/>
            <a:ext cx="8066400" cy="76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melanie.bard@beta.gouv.fr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</a:rPr>
              <a:t>https://vae.gouv.fr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8"/>
          <p:cNvSpPr txBox="1"/>
          <p:nvPr>
            <p:ph type="ctrTitle"/>
          </p:nvPr>
        </p:nvSpPr>
        <p:spPr>
          <a:xfrm>
            <a:off x="2863400" y="2125275"/>
            <a:ext cx="5705400" cy="109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ANNEXES </a:t>
            </a:r>
            <a:endParaRPr/>
          </a:p>
        </p:txBody>
      </p:sp>
      <p:sp>
        <p:nvSpPr>
          <p:cNvPr id="785" name="Google Shape;785;p78"/>
          <p:cNvSpPr txBox="1"/>
          <p:nvPr>
            <p:ph idx="1" type="subTitle"/>
          </p:nvPr>
        </p:nvSpPr>
        <p:spPr>
          <a:xfrm>
            <a:off x="2880808" y="1834356"/>
            <a:ext cx="4804200" cy="273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9"/>
          <p:cNvSpPr txBox="1"/>
          <p:nvPr>
            <p:ph idx="5" type="body"/>
          </p:nvPr>
        </p:nvSpPr>
        <p:spPr>
          <a:xfrm>
            <a:off x="502546" y="362525"/>
            <a:ext cx="42849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Un outil au service du maintien et de l’évolution dans l’emploi</a:t>
            </a:r>
            <a:endParaRPr/>
          </a:p>
        </p:txBody>
      </p:sp>
      <p:sp>
        <p:nvSpPr>
          <p:cNvPr id="791" name="Google Shape;791;p79"/>
          <p:cNvSpPr/>
          <p:nvPr/>
        </p:nvSpPr>
        <p:spPr>
          <a:xfrm>
            <a:off x="2434850" y="1586300"/>
            <a:ext cx="3942000" cy="11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92" name="Google Shape;792;p79" title="image vae collectiv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267" r="32214" t="0"/>
          <a:stretch/>
        </p:blipFill>
        <p:spPr>
          <a:xfrm>
            <a:off x="6095125" y="0"/>
            <a:ext cx="30488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9"/>
          <p:cNvSpPr txBox="1"/>
          <p:nvPr/>
        </p:nvSpPr>
        <p:spPr>
          <a:xfrm>
            <a:off x="503049" y="126097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Acte de reconnaissance fort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94" name="Google Shape;794;p79"/>
          <p:cNvSpPr txBox="1"/>
          <p:nvPr/>
        </p:nvSpPr>
        <p:spPr>
          <a:xfrm>
            <a:off x="503039" y="1500350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en dehors des leviers salariaux classiques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79"/>
          <p:cNvSpPr txBox="1"/>
          <p:nvPr/>
        </p:nvSpPr>
        <p:spPr>
          <a:xfrm>
            <a:off x="503049" y="1877725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Alternative à la formation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96" name="Google Shape;796;p79"/>
          <p:cNvSpPr txBox="1"/>
          <p:nvPr/>
        </p:nvSpPr>
        <p:spPr>
          <a:xfrm>
            <a:off x="503039" y="2137525"/>
            <a:ext cx="53256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dans votre stratégie de GEPP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79"/>
          <p:cNvSpPr txBox="1"/>
          <p:nvPr/>
        </p:nvSpPr>
        <p:spPr>
          <a:xfrm>
            <a:off x="503050" y="3716275"/>
            <a:ext cx="4428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Réduction du temps et du coût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98" name="Google Shape;798;p79"/>
          <p:cNvSpPr txBox="1"/>
          <p:nvPr/>
        </p:nvSpPr>
        <p:spPr>
          <a:xfrm>
            <a:off x="503050" y="3955775"/>
            <a:ext cx="3783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d’accès à la certification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79"/>
          <p:cNvSpPr txBox="1"/>
          <p:nvPr/>
        </p:nvSpPr>
        <p:spPr>
          <a:xfrm>
            <a:off x="503049" y="2500750"/>
            <a:ext cx="532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Synergie entre candidats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00" name="Google Shape;800;p79"/>
          <p:cNvSpPr txBox="1"/>
          <p:nvPr/>
        </p:nvSpPr>
        <p:spPr>
          <a:xfrm>
            <a:off x="503046" y="2774700"/>
            <a:ext cx="35697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impulsée par la dimension collective du projet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79"/>
          <p:cNvSpPr txBox="1"/>
          <p:nvPr/>
        </p:nvSpPr>
        <p:spPr>
          <a:xfrm>
            <a:off x="502550" y="3055788"/>
            <a:ext cx="30777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82759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Posture réflexive renforcée </a:t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182759"/>
                </a:solidFill>
                <a:latin typeface="Roboto"/>
                <a:ea typeface="Roboto"/>
                <a:cs typeface="Roboto"/>
                <a:sym typeface="Roboto"/>
              </a:rPr>
              <a:t>des collaborateurs post VAE</a:t>
            </a:r>
            <a:endParaRPr sz="1200">
              <a:solidFill>
                <a:srgbClr val="1827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82759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02" name="Google Shape;802;p79"/>
          <p:cNvSpPr txBox="1"/>
          <p:nvPr/>
        </p:nvSpPr>
        <p:spPr>
          <a:xfrm>
            <a:off x="503039" y="-1501"/>
            <a:ext cx="85689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1041BE"/>
                </a:solidFill>
                <a:latin typeface="Roboto"/>
                <a:ea typeface="Roboto"/>
                <a:cs typeface="Roboto"/>
                <a:sym typeface="Roboto"/>
              </a:rPr>
              <a:t>BÉNÉFIQUE POUR L’EMPLOYEUR COMME POUR LE COLLABORATEUR</a:t>
            </a:r>
            <a:endParaRPr sz="900">
              <a:solidFill>
                <a:srgbClr val="1041B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0"/>
          <p:cNvSpPr txBox="1"/>
          <p:nvPr>
            <p:ph idx="4294967295" type="body"/>
          </p:nvPr>
        </p:nvSpPr>
        <p:spPr>
          <a:xfrm>
            <a:off x="502550" y="362525"/>
            <a:ext cx="83601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2300">
                <a:latin typeface="Roboto"/>
                <a:ea typeface="Roboto"/>
                <a:cs typeface="Roboto"/>
                <a:sym typeface="Roboto"/>
              </a:rPr>
              <a:t>Bien se préparer avant de démarrer le projet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80"/>
          <p:cNvSpPr txBox="1"/>
          <p:nvPr>
            <p:ph idx="4294967295" type="body"/>
          </p:nvPr>
        </p:nvSpPr>
        <p:spPr>
          <a:xfrm>
            <a:off x="575075" y="1677450"/>
            <a:ext cx="3781500" cy="1247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Cibler les typologies d’emploi en lien avec vos enjeux RH ou GEPP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Identifier les certifications pertinentes au regard des compétences internes et des perspectives de l’entreprise</a:t>
            </a:r>
            <a:endParaRPr sz="1200"/>
          </a:p>
        </p:txBody>
      </p:sp>
      <p:sp>
        <p:nvSpPr>
          <p:cNvPr id="809" name="Google Shape;809;p80"/>
          <p:cNvSpPr txBox="1"/>
          <p:nvPr>
            <p:ph idx="2" type="body"/>
          </p:nvPr>
        </p:nvSpPr>
        <p:spPr>
          <a:xfrm>
            <a:off x="575081" y="3297575"/>
            <a:ext cx="31146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Sensibiliser et mobiliser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810" name="Google Shape;810;p80"/>
          <p:cNvSpPr txBox="1"/>
          <p:nvPr>
            <p:ph idx="4294967295" type="body"/>
          </p:nvPr>
        </p:nvSpPr>
        <p:spPr>
          <a:xfrm>
            <a:off x="575075" y="3613150"/>
            <a:ext cx="3114600" cy="84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Informer les collaborateurs sur leurs droits et le parcours proposé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Impliquer les managers de proximité et les partenaires sociaux</a:t>
            </a:r>
            <a:endParaRPr sz="1200"/>
          </a:p>
        </p:txBody>
      </p:sp>
      <p:sp>
        <p:nvSpPr>
          <p:cNvPr id="811" name="Google Shape;811;p80"/>
          <p:cNvSpPr txBox="1"/>
          <p:nvPr>
            <p:ph idx="2" type="body"/>
          </p:nvPr>
        </p:nvSpPr>
        <p:spPr>
          <a:xfrm>
            <a:off x="4787529" y="1350975"/>
            <a:ext cx="37113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Organiser la mise en oeuvre 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812" name="Google Shape;812;p80"/>
          <p:cNvSpPr txBox="1"/>
          <p:nvPr>
            <p:ph idx="4294967295" type="body"/>
          </p:nvPr>
        </p:nvSpPr>
        <p:spPr>
          <a:xfrm>
            <a:off x="4787525" y="1666086"/>
            <a:ext cx="3781500" cy="1472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Prévoir les besoins logistiques (salles, plannings…)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Anticiper les aménagements d’emploi du temps (remplacements, plages libérées)</a:t>
            </a:r>
            <a:endParaRPr sz="1200"/>
          </a:p>
        </p:txBody>
      </p:sp>
      <p:sp>
        <p:nvSpPr>
          <p:cNvPr id="813" name="Google Shape;813;p80"/>
          <p:cNvSpPr txBox="1"/>
          <p:nvPr>
            <p:ph idx="2" type="body"/>
          </p:nvPr>
        </p:nvSpPr>
        <p:spPr>
          <a:xfrm>
            <a:off x="4787529" y="3297580"/>
            <a:ext cx="2980200" cy="45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rgbClr val="1041BE"/>
                </a:solidFill>
              </a:rPr>
              <a:t>Sécuriser le financement </a:t>
            </a:r>
            <a:br>
              <a:rPr b="1" lang="fr" sz="1600">
                <a:solidFill>
                  <a:srgbClr val="1041BE"/>
                </a:solidFill>
              </a:rPr>
            </a:br>
            <a:r>
              <a:rPr b="1" lang="fr" sz="1600">
                <a:solidFill>
                  <a:srgbClr val="1041BE"/>
                </a:solidFill>
              </a:rPr>
              <a:t>et la reconnaissance</a:t>
            </a:r>
            <a:endParaRPr b="1" sz="1600">
              <a:solidFill>
                <a:srgbClr val="1041BE"/>
              </a:solidFill>
            </a:endParaRPr>
          </a:p>
        </p:txBody>
      </p:sp>
      <p:sp>
        <p:nvSpPr>
          <p:cNvPr id="814" name="Google Shape;814;p80"/>
          <p:cNvSpPr txBox="1"/>
          <p:nvPr>
            <p:ph idx="4294967295" type="body"/>
          </p:nvPr>
        </p:nvSpPr>
        <p:spPr>
          <a:xfrm>
            <a:off x="4787525" y="3827279"/>
            <a:ext cx="3532500" cy="97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Identifier les financements mobilisables (OPCO, entreprise, autres)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fr" sz="1200"/>
              <a:t>Définir les modalités de reconnaissance des certifications obtenues</a:t>
            </a:r>
            <a:endParaRPr sz="1200"/>
          </a:p>
        </p:txBody>
      </p:sp>
      <p:sp>
        <p:nvSpPr>
          <p:cNvPr id="815" name="Google Shape;815;p80"/>
          <p:cNvSpPr txBox="1"/>
          <p:nvPr>
            <p:ph idx="1" type="body"/>
          </p:nvPr>
        </p:nvSpPr>
        <p:spPr>
          <a:xfrm>
            <a:off x="503039" y="6248"/>
            <a:ext cx="8568900" cy="304200"/>
          </a:xfrm>
          <a:prstGeom prst="rect">
            <a:avLst/>
          </a:prstGeom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LES ÉTAPES-CLÉS D’UNE VAE COLLECTIVE</a:t>
            </a:r>
            <a:endParaRPr/>
          </a:p>
        </p:txBody>
      </p:sp>
      <p:sp>
        <p:nvSpPr>
          <p:cNvPr id="816" name="Google Shape;816;p80"/>
          <p:cNvSpPr txBox="1"/>
          <p:nvPr>
            <p:ph idx="2" type="body"/>
          </p:nvPr>
        </p:nvSpPr>
        <p:spPr>
          <a:xfrm>
            <a:off x="575078" y="1350963"/>
            <a:ext cx="3486300" cy="30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1041BE"/>
                </a:solidFill>
              </a:rPr>
              <a:t>Identifier les bons leviers internes</a:t>
            </a:r>
            <a:endParaRPr b="1" sz="1600">
              <a:solidFill>
                <a:srgbClr val="1041B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VAE">
  <a:themeElements>
    <a:clrScheme name="Personnalisé 1">
      <a:dk1>
        <a:srgbClr val="182759"/>
      </a:dk1>
      <a:lt1>
        <a:srgbClr val="FFFFFF"/>
      </a:lt1>
      <a:dk2>
        <a:srgbClr val="434749"/>
      </a:dk2>
      <a:lt2>
        <a:srgbClr val="E8EBF5"/>
      </a:lt2>
      <a:accent1>
        <a:srgbClr val="E1010F"/>
      </a:accent1>
      <a:accent2>
        <a:srgbClr val="3BB649"/>
      </a:accent2>
      <a:accent3>
        <a:srgbClr val="00929D"/>
      </a:accent3>
      <a:accent4>
        <a:srgbClr val="FE993F"/>
      </a:accent4>
      <a:accent5>
        <a:srgbClr val="A82586"/>
      </a:accent5>
      <a:accent6>
        <a:srgbClr val="7AB1E8"/>
      </a:accent6>
      <a:hlink>
        <a:srgbClr val="3838E7"/>
      </a:hlink>
      <a:folHlink>
        <a:srgbClr val="7F042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