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 Medium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Roboto SemiBold"/>
      <p:regular r:id="rId35"/>
      <p:bold r:id="rId36"/>
      <p:italic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Olivier GERARD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font" Target="fonts/RobotoMedium-boldItalic.fntdata"/><Relationship Id="rId33" Type="http://schemas.openxmlformats.org/officeDocument/2006/relationships/font" Target="fonts/Roboto-italic.fntdata"/><Relationship Id="rId32" Type="http://schemas.openxmlformats.org/officeDocument/2006/relationships/font" Target="fonts/Roboto-bold.fntdata"/><Relationship Id="rId35" Type="http://schemas.openxmlformats.org/officeDocument/2006/relationships/font" Target="fonts/RobotoSemiBold-regular.fntdata"/><Relationship Id="rId34" Type="http://schemas.openxmlformats.org/officeDocument/2006/relationships/font" Target="fonts/Roboto-boldItalic.fntdata"/><Relationship Id="rId37" Type="http://schemas.openxmlformats.org/officeDocument/2006/relationships/font" Target="fonts/RobotoSemiBold-italic.fntdata"/><Relationship Id="rId36" Type="http://schemas.openxmlformats.org/officeDocument/2006/relationships/font" Target="fonts/RobotoSemiBold-bold.fntdata"/><Relationship Id="rId39" Type="http://schemas.openxmlformats.org/officeDocument/2006/relationships/font" Target="fonts/HelveticaNeue-regular.fntdata"/><Relationship Id="rId38" Type="http://schemas.openxmlformats.org/officeDocument/2006/relationships/font" Target="fonts/RobotoSemiBold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Medium-bold.fntdata"/><Relationship Id="rId27" Type="http://schemas.openxmlformats.org/officeDocument/2006/relationships/font" Target="fonts/RobotoMedium-regular.fntdata"/><Relationship Id="rId29" Type="http://schemas.openxmlformats.org/officeDocument/2006/relationships/font" Target="fonts/Roboto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16T08:23:31.594">
    <p:pos x="6000" y="0"/>
    <p:text>je sélectionne la structure d'accompagnement de mes candidats</p:text>
  </p:cm>
  <p:cm authorId="0" idx="2" dt="2025-05-16T08:23:01.248">
    <p:pos x="6000" y="0"/>
    <p:text>je crée et je suis  ma cohorte</p:text>
  </p:cm>
  <p:cm authorId="0" idx="3" dt="2025-05-16T08:23:31.594">
    <p:pos x="6000" y="0"/>
    <p:text>présenter plutôt les étapes de création du projet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7eda05d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57eda05d0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35f3fe253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35f3fe253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35f3fe253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35f3fe253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35f3fe253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35f3fe253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399cd43e0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5399cd43e0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57eda05d0b_1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57eda05d0b_1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35f3fe25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35f3fe25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57eda05d0b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57eda05d0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35f65d29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35f65d29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35f3fe253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35f3fe253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53bcacd16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53bcacd16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35f3fe253c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335f3fe253c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g335f3fe253c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35f3fe253c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g335f3fe253c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g335f3fe253c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53bcacd16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53bcacd16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53bcacd16e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53bcacd16e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35f3fe253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35f3fe253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57eda05d0b_1_7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g357eda05d0b_1_7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g357eda05d0b_1_7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57f5d902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57f5d902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53bcacd16e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g353bcacd16e_3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5399cd43e0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5399cd43e0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presentation">
  <p:cSld name="Titre de presentation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77147" y="2179745"/>
            <a:ext cx="7210369" cy="23991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boto Medium"/>
              <a:buNone/>
              <a:defRPr b="0" i="0" sz="41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03191" y="1888825"/>
            <a:ext cx="7184324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500"/>
              <a:buNone/>
              <a:defRPr sz="1500">
                <a:solidFill>
                  <a:srgbClr val="1041BE"/>
                </a:solidFill>
              </a:defRPr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None/>
              <a:defRPr sz="1400">
                <a:solidFill>
                  <a:srgbClr val="1041BE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52248" y="4406462"/>
            <a:ext cx="1174531" cy="737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Police, logo, Graphique&#10;&#10;Description générée automatiquement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602" y="289750"/>
            <a:ext cx="2171372" cy="12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Graphique, graphisme, Police, logo&#10;&#10;Description générée automatiquement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775" y="289747"/>
            <a:ext cx="2103124" cy="11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69875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650"/>
              <a:buFont typeface="Roboto"/>
              <a:buChar char="•"/>
              <a:defRPr sz="65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9400" lvl="1" marL="914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2pPr>
            <a:lvl3pPr indent="-279400" lvl="2" marL="1371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3pPr>
            <a:lvl4pPr indent="-279400" lvl="3" marL="1828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4pPr>
            <a:lvl5pPr indent="-279400" lvl="4" marL="22860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5pPr>
            <a:lvl6pPr indent="-279400" lvl="5" marL="27432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9400" lvl="6" marL="3200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79400" lvl="7" marL="3657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79400" lvl="8" marL="4114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7" type="body"/>
          </p:nvPr>
        </p:nvSpPr>
        <p:spPr>
          <a:xfrm>
            <a:off x="931075" y="3357873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8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6" type="body"/>
          </p:nvPr>
        </p:nvSpPr>
        <p:spPr>
          <a:xfrm>
            <a:off x="503050" y="2789899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7" type="body"/>
          </p:nvPr>
        </p:nvSpPr>
        <p:spPr>
          <a:xfrm>
            <a:off x="503050" y="3357874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8" type="body"/>
          </p:nvPr>
        </p:nvSpPr>
        <p:spPr>
          <a:xfrm>
            <a:off x="503050" y="39258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17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1">
  <p:cSld name="Titre de chapitre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 i="0" sz="3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>
            <a:off x="0" y="0"/>
            <a:ext cx="235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title="losange blanc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75" y="2187553"/>
            <a:ext cx="822652" cy="9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1BE"/>
              </a:buClr>
              <a:buSzPts val="2200"/>
              <a:buNone/>
              <a:defRPr i="0" sz="2200">
                <a:solidFill>
                  <a:srgbClr val="1041B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2">
  <p:cSld name="Titre de chapitre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-1" y="0"/>
            <a:ext cx="6095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ctrTitle"/>
          </p:nvPr>
        </p:nvSpPr>
        <p:spPr>
          <a:xfrm>
            <a:off x="512267" y="2125276"/>
            <a:ext cx="50250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edium"/>
              <a:buNone/>
              <a:defRPr b="0" i="0" sz="3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29684" y="1834356"/>
            <a:ext cx="384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6" name="Google Shape;46;p5"/>
          <p:cNvSpPr/>
          <p:nvPr>
            <p:ph idx="2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pic>
        <p:nvPicPr>
          <p:cNvPr id="47" name="Google Shape;47;p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Large-1col">
  <p:cSld name="Texte-Titre-Parag-Large-1col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idx="1" type="body"/>
          </p:nvPr>
        </p:nvSpPr>
        <p:spPr>
          <a:xfrm>
            <a:off x="502542" y="1206109"/>
            <a:ext cx="8066387" cy="34718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0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503039" y="-1501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502541" y="56352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Medium-1col">
  <p:cSld name="Texte-Titre-Parag-Medium-1col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502542" y="561713"/>
            <a:ext cx="612059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502542" y="1323594"/>
            <a:ext cx="8066387" cy="33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Parag-large-1col">
  <p:cSld name="Texte-Parag-large-1col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502541" y="376881"/>
            <a:ext cx="8131730" cy="430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1 col">
  <p:cSld name="Titre + Texte - Parag Medium - 2 blocs - 1 col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502541" y="1320022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502541" y="1635591"/>
            <a:ext cx="7634190" cy="1241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5" type="body"/>
          </p:nvPr>
        </p:nvSpPr>
        <p:spPr>
          <a:xfrm>
            <a:off x="502541" y="3111711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6" type="body"/>
          </p:nvPr>
        </p:nvSpPr>
        <p:spPr>
          <a:xfrm>
            <a:off x="502541" y="3427280"/>
            <a:ext cx="7634190" cy="12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Small - 3 blocs - 1 col">
  <p:cSld name="Titre + Texte - Parag Small - 3 blocs - 1 col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3" type="body"/>
          </p:nvPr>
        </p:nvSpPr>
        <p:spPr>
          <a:xfrm>
            <a:off x="939546" y="131907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4" type="body"/>
          </p:nvPr>
        </p:nvSpPr>
        <p:spPr>
          <a:xfrm>
            <a:off x="939546" y="161148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5" type="body"/>
          </p:nvPr>
        </p:nvSpPr>
        <p:spPr>
          <a:xfrm>
            <a:off x="939546" y="244296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6" type="body"/>
          </p:nvPr>
        </p:nvSpPr>
        <p:spPr>
          <a:xfrm>
            <a:off x="939546" y="2729034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7" type="body"/>
          </p:nvPr>
        </p:nvSpPr>
        <p:spPr>
          <a:xfrm>
            <a:off x="939546" y="3563009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8" type="body"/>
          </p:nvPr>
        </p:nvSpPr>
        <p:spPr>
          <a:xfrm>
            <a:off x="939546" y="386965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sur-titre - 4 blocs - 2 col">
  <p:cSld name="Texte - parag Medium - sur-titre - 4 blocs - 2 col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2" type="body"/>
          </p:nvPr>
        </p:nvSpPr>
        <p:spPr>
          <a:xfrm>
            <a:off x="502541" y="599312"/>
            <a:ext cx="8569426" cy="7457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3" type="body"/>
          </p:nvPr>
        </p:nvSpPr>
        <p:spPr>
          <a:xfrm>
            <a:off x="50254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4" type="body"/>
          </p:nvPr>
        </p:nvSpPr>
        <p:spPr>
          <a:xfrm>
            <a:off x="471147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5" type="body"/>
          </p:nvPr>
        </p:nvSpPr>
        <p:spPr>
          <a:xfrm>
            <a:off x="50254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6" type="body"/>
          </p:nvPr>
        </p:nvSpPr>
        <p:spPr>
          <a:xfrm>
            <a:off x="471147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7" type="body"/>
          </p:nvPr>
        </p:nvSpPr>
        <p:spPr>
          <a:xfrm>
            <a:off x="500644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8" type="body"/>
          </p:nvPr>
        </p:nvSpPr>
        <p:spPr>
          <a:xfrm>
            <a:off x="500644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9" type="body"/>
          </p:nvPr>
        </p:nvSpPr>
        <p:spPr>
          <a:xfrm>
            <a:off x="4707356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3" type="body"/>
          </p:nvPr>
        </p:nvSpPr>
        <p:spPr>
          <a:xfrm>
            <a:off x="4707356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2 col">
  <p:cSld name="Titre + Texte - Parag Medium - 2 blocs - 2 col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50254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50254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5" type="body"/>
          </p:nvPr>
        </p:nvSpPr>
        <p:spPr>
          <a:xfrm>
            <a:off x="471147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6" type="body"/>
          </p:nvPr>
        </p:nvSpPr>
        <p:spPr>
          <a:xfrm>
            <a:off x="471147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col - Light/Dark">
  <p:cSld name="Titre + Texte - Parag Medium - 2 col - Light/Dar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516192" y="901055"/>
            <a:ext cx="3400936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516193" y="1181566"/>
            <a:ext cx="3400936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516193" y="1497135"/>
            <a:ext cx="3400936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5" type="body"/>
          </p:nvPr>
        </p:nvSpPr>
        <p:spPr>
          <a:xfrm>
            <a:off x="5156143" y="901055"/>
            <a:ext cx="340371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6" type="body"/>
          </p:nvPr>
        </p:nvSpPr>
        <p:spPr>
          <a:xfrm>
            <a:off x="5156143" y="1181566"/>
            <a:ext cx="340371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7" type="body"/>
          </p:nvPr>
        </p:nvSpPr>
        <p:spPr>
          <a:xfrm>
            <a:off x="5156143" y="1497135"/>
            <a:ext cx="3403717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3 blocs - sur-titre - 3 col">
  <p:cSld name="Texte - parag Medium - 3 blocs - sur-titre - 3 col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2" type="body"/>
          </p:nvPr>
        </p:nvSpPr>
        <p:spPr>
          <a:xfrm>
            <a:off x="502542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3" type="body"/>
          </p:nvPr>
        </p:nvSpPr>
        <p:spPr>
          <a:xfrm>
            <a:off x="502542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5" type="body"/>
          </p:nvPr>
        </p:nvSpPr>
        <p:spPr>
          <a:xfrm>
            <a:off x="3388171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6" type="body"/>
          </p:nvPr>
        </p:nvSpPr>
        <p:spPr>
          <a:xfrm>
            <a:off x="3388171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7" type="body"/>
          </p:nvPr>
        </p:nvSpPr>
        <p:spPr>
          <a:xfrm>
            <a:off x="6216039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8" type="body"/>
          </p:nvPr>
        </p:nvSpPr>
        <p:spPr>
          <a:xfrm>
            <a:off x="6216039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Small - 6 blocs - sur-titre - 3 col">
  <p:cSld name="Texte - parag Small - 6 blocs - sur-titre - 3 col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502542" y="8799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502542" y="11955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3388172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3388172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6216039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6216039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7" type="body"/>
          </p:nvPr>
        </p:nvSpPr>
        <p:spPr>
          <a:xfrm>
            <a:off x="50254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8" type="body"/>
          </p:nvPr>
        </p:nvSpPr>
        <p:spPr>
          <a:xfrm>
            <a:off x="50254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9" type="body"/>
          </p:nvPr>
        </p:nvSpPr>
        <p:spPr>
          <a:xfrm>
            <a:off x="338817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3" type="body"/>
          </p:nvPr>
        </p:nvSpPr>
        <p:spPr>
          <a:xfrm>
            <a:off x="338817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4" type="body"/>
          </p:nvPr>
        </p:nvSpPr>
        <p:spPr>
          <a:xfrm>
            <a:off x="6216039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5" type="body"/>
          </p:nvPr>
        </p:nvSpPr>
        <p:spPr>
          <a:xfrm>
            <a:off x="6216039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6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+ Media">
  <p:cSld name="Titre + Texte + Media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502541" y="648296"/>
            <a:ext cx="347533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3" type="body"/>
          </p:nvPr>
        </p:nvSpPr>
        <p:spPr>
          <a:xfrm>
            <a:off x="502541" y="963864"/>
            <a:ext cx="3475337" cy="3480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16"/>
          <p:cNvSpPr/>
          <p:nvPr>
            <p:ph idx="4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Dark">
  <p:cSld name="Texte + Parag Medium + Image - 1 col - Dar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091518" y="1"/>
            <a:ext cx="3052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17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Light">
  <p:cSld name="Texte-Exergue-3Parag Medium - Ligh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0" i="0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Dark">
  <p:cSld name="Texte-Exergue-3Parag Medium - Dark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19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liers">
  <p:cSld name="3 valeurs - Center - Ligh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5" name="Google Shape;155;p20"/>
          <p:cNvCxnSpPr/>
          <p:nvPr/>
        </p:nvCxnSpPr>
        <p:spPr>
          <a:xfrm>
            <a:off x="4572000" y="1104025"/>
            <a:ext cx="0" cy="35928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597800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7" name="Google Shape;157;p20"/>
          <p:cNvCxnSpPr/>
          <p:nvPr/>
        </p:nvCxnSpPr>
        <p:spPr>
          <a:xfrm rot="10800000">
            <a:off x="567525" y="2900425"/>
            <a:ext cx="8017500" cy="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20"/>
          <p:cNvSpPr txBox="1"/>
          <p:nvPr>
            <p:ph idx="3" type="subTitle"/>
          </p:nvPr>
        </p:nvSpPr>
        <p:spPr>
          <a:xfrm>
            <a:off x="5978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4" type="subTitle"/>
          </p:nvPr>
        </p:nvSpPr>
        <p:spPr>
          <a:xfrm>
            <a:off x="47875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5" type="subTitle"/>
          </p:nvPr>
        </p:nvSpPr>
        <p:spPr>
          <a:xfrm>
            <a:off x="4826325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6" type="body"/>
          </p:nvPr>
        </p:nvSpPr>
        <p:spPr>
          <a:xfrm>
            <a:off x="597800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7" type="body"/>
          </p:nvPr>
        </p:nvSpPr>
        <p:spPr>
          <a:xfrm>
            <a:off x="4826325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8" type="body"/>
          </p:nvPr>
        </p:nvSpPr>
        <p:spPr>
          <a:xfrm>
            <a:off x="597800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9" type="body"/>
          </p:nvPr>
        </p:nvSpPr>
        <p:spPr>
          <a:xfrm>
            <a:off x="4826325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13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liers">
  <p:cSld name="3 valeurs - Center - Light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2" type="body"/>
          </p:nvPr>
        </p:nvSpPr>
        <p:spPr>
          <a:xfrm>
            <a:off x="575072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3" type="body"/>
          </p:nvPr>
        </p:nvSpPr>
        <p:spPr>
          <a:xfrm>
            <a:off x="3492001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4" type="body"/>
          </p:nvPr>
        </p:nvSpPr>
        <p:spPr>
          <a:xfrm>
            <a:off x="6408929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71" name="Google Shape;171;p21"/>
          <p:cNvCxnSpPr/>
          <p:nvPr/>
        </p:nvCxnSpPr>
        <p:spPr>
          <a:xfrm flipH="1">
            <a:off x="2971642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 flipH="1">
            <a:off x="5876495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 - Light">
  <p:cSld name="Texte-Exergue-3pointsclés - Ligh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7" name="Google Shape;177;p22"/>
          <p:cNvSpPr/>
          <p:nvPr/>
        </p:nvSpPr>
        <p:spPr>
          <a:xfrm>
            <a:off x="5004197" y="0"/>
            <a:ext cx="41398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474216" y="457200"/>
            <a:ext cx="3996928" cy="422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3" type="body"/>
          </p:nvPr>
        </p:nvSpPr>
        <p:spPr>
          <a:xfrm>
            <a:off x="6093056" y="755848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4" type="body"/>
          </p:nvPr>
        </p:nvSpPr>
        <p:spPr>
          <a:xfrm>
            <a:off x="6093056" y="1114226"/>
            <a:ext cx="2475872" cy="856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5" type="body"/>
          </p:nvPr>
        </p:nvSpPr>
        <p:spPr>
          <a:xfrm>
            <a:off x="6093056" y="2095282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6" type="body"/>
          </p:nvPr>
        </p:nvSpPr>
        <p:spPr>
          <a:xfrm>
            <a:off x="6093056" y="2453661"/>
            <a:ext cx="2475872" cy="85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2"/>
          <p:cNvSpPr txBox="1"/>
          <p:nvPr>
            <p:ph idx="7" type="body"/>
          </p:nvPr>
        </p:nvSpPr>
        <p:spPr>
          <a:xfrm>
            <a:off x="6093056" y="3463976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8" type="body"/>
          </p:nvPr>
        </p:nvSpPr>
        <p:spPr>
          <a:xfrm>
            <a:off x="6093056" y="3822355"/>
            <a:ext cx="2475872" cy="8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2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2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2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-Dark">
  <p:cSld name="Texte-Exergue-3pointsclés-Dark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Roboto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" name="Google Shape;190;p23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3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3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502444" y="479323"/>
            <a:ext cx="4429480" cy="4198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3" type="body"/>
          </p:nvPr>
        </p:nvSpPr>
        <p:spPr>
          <a:xfrm>
            <a:off x="6093056" y="70569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4" type="body"/>
          </p:nvPr>
        </p:nvSpPr>
        <p:spPr>
          <a:xfrm>
            <a:off x="6093056" y="2063583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5" type="body"/>
          </p:nvPr>
        </p:nvSpPr>
        <p:spPr>
          <a:xfrm>
            <a:off x="6093056" y="341460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8" name="Google Shape;198;p23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Light">
  <p:cSld name="Texte-Exergue + Media - Light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2" type="body"/>
          </p:nvPr>
        </p:nvSpPr>
        <p:spPr>
          <a:xfrm>
            <a:off x="502445" y="537520"/>
            <a:ext cx="3854054" cy="4015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24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Dark">
  <p:cSld name="Texte-Exergue + Media - Dark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2" type="body"/>
          </p:nvPr>
        </p:nvSpPr>
        <p:spPr>
          <a:xfrm>
            <a:off x="502445" y="554047"/>
            <a:ext cx="3854054" cy="399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6" name="Google Shape;206;p25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5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Dark">
  <p:cSld name="Texte + Parag Medium + Tablette - 1 col - Dar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26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16" name="Google Shape;21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6"/>
          <p:cNvSpPr txBox="1"/>
          <p:nvPr>
            <p:ph idx="6" type="body"/>
          </p:nvPr>
        </p:nvSpPr>
        <p:spPr>
          <a:xfrm>
            <a:off x="3193975" y="45687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Light">
  <p:cSld name="Texte + Parag Medium + Tablette - 1 col - Ligh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2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3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3" name="Google Shape;2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9314" y="964798"/>
            <a:ext cx="5069615" cy="305197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>
            <p:ph idx="4" type="pic"/>
          </p:nvPr>
        </p:nvSpPr>
        <p:spPr>
          <a:xfrm>
            <a:off x="3908097" y="1163439"/>
            <a:ext cx="4251119" cy="265469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7"/>
          <p:cNvSpPr txBox="1"/>
          <p:nvPr>
            <p:ph idx="5" type="body"/>
          </p:nvPr>
        </p:nvSpPr>
        <p:spPr>
          <a:xfrm>
            <a:off x="3499325" y="4073150"/>
            <a:ext cx="50697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Tablette">
  <p:cSld name="Device - Front - Tablett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8" name="Google Shape;22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322" y="701796"/>
            <a:ext cx="5943356" cy="357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>
            <p:ph idx="2" type="pic"/>
          </p:nvPr>
        </p:nvSpPr>
        <p:spPr>
          <a:xfrm>
            <a:off x="2077985" y="931375"/>
            <a:ext cx="4983794" cy="3112229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8"/>
          <p:cNvSpPr txBox="1"/>
          <p:nvPr>
            <p:ph idx="3" type="body"/>
          </p:nvPr>
        </p:nvSpPr>
        <p:spPr>
          <a:xfrm>
            <a:off x="1600325" y="4313625"/>
            <a:ext cx="59433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Right + Texte - parag small">
  <p:cSld name="Tablette Big Right + Texte - parag small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711183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2" type="body"/>
          </p:nvPr>
        </p:nvSpPr>
        <p:spPr>
          <a:xfrm>
            <a:off x="711183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2" y="4790424"/>
            <a:ext cx="520589" cy="28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940" y="4861365"/>
            <a:ext cx="624461" cy="1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moniteur, équipement électronique, écran, ordinateur&#10;&#10;Description générée automatiquement"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476473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/>
          <p:nvPr>
            <p:ph idx="3" type="pic"/>
          </p:nvPr>
        </p:nvSpPr>
        <p:spPr>
          <a:xfrm>
            <a:off x="-2635160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9"/>
          <p:cNvSpPr txBox="1"/>
          <p:nvPr>
            <p:ph idx="4" type="body"/>
          </p:nvPr>
        </p:nvSpPr>
        <p:spPr>
          <a:xfrm>
            <a:off x="190175" y="61275"/>
            <a:ext cx="6699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Left + Texte - parag small">
  <p:cSld name="Tablette Big Left + Texte - parag small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moniteur, équipement électronique, écran, ordinateur&#10;&#10;Description générée automatiquement" id="240" name="Google Shape;24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3961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>
            <p:ph idx="2" type="pic"/>
          </p:nvPr>
        </p:nvSpPr>
        <p:spPr>
          <a:xfrm>
            <a:off x="3355274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51166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30"/>
          <p:cNvSpPr txBox="1"/>
          <p:nvPr>
            <p:ph idx="3" type="body"/>
          </p:nvPr>
        </p:nvSpPr>
        <p:spPr>
          <a:xfrm>
            <a:off x="51166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4" type="body"/>
          </p:nvPr>
        </p:nvSpPr>
        <p:spPr>
          <a:xfrm>
            <a:off x="2513950" y="612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Dark">
  <p:cSld name="Texte + Parag Medium + Laptop - 1 col - Dar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6091518" y="0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9" name="Google Shape;249;p31"/>
          <p:cNvSpPr txBox="1"/>
          <p:nvPr>
            <p:ph idx="2" type="body"/>
          </p:nvPr>
        </p:nvSpPr>
        <p:spPr>
          <a:xfrm>
            <a:off x="502542" y="1145676"/>
            <a:ext cx="252304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2" name="Google Shape;25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1"/>
          <p:cNvSpPr txBox="1"/>
          <p:nvPr>
            <p:ph idx="6" type="body"/>
          </p:nvPr>
        </p:nvSpPr>
        <p:spPr>
          <a:xfrm>
            <a:off x="3193975" y="46449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3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Light">
  <p:cSld name="Texte + Parag Medium + Laptop - 1 col - Ligh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8" name="Google Shape;25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8523" y="832348"/>
            <a:ext cx="5695638" cy="323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/>
          <p:nvPr>
            <p:ph idx="2" type="pic"/>
          </p:nvPr>
        </p:nvSpPr>
        <p:spPr>
          <a:xfrm>
            <a:off x="4302305" y="1039607"/>
            <a:ext cx="4127082" cy="2343539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2"/>
          <p:cNvSpPr txBox="1"/>
          <p:nvPr>
            <p:ph idx="3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4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2"/>
          <p:cNvSpPr txBox="1"/>
          <p:nvPr>
            <p:ph idx="5" type="body"/>
          </p:nvPr>
        </p:nvSpPr>
        <p:spPr>
          <a:xfrm>
            <a:off x="3915425" y="3959175"/>
            <a:ext cx="5055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32"/>
          <p:cNvSpPr/>
          <p:nvPr/>
        </p:nvSpPr>
        <p:spPr>
          <a:xfrm>
            <a:off x="4302300" y="870350"/>
            <a:ext cx="934500" cy="1623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Laptop">
  <p:cSld name="Device - Front - Laptop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66" name="Google Shape;26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5705" y="537721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/>
          <p:nvPr>
            <p:ph idx="2" type="pic"/>
          </p:nvPr>
        </p:nvSpPr>
        <p:spPr>
          <a:xfrm>
            <a:off x="1865151" y="803366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 txBox="1"/>
          <p:nvPr>
            <p:ph idx="3" type="body"/>
          </p:nvPr>
        </p:nvSpPr>
        <p:spPr>
          <a:xfrm>
            <a:off x="1387550" y="4576475"/>
            <a:ext cx="65826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•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33"/>
          <p:cNvSpPr/>
          <p:nvPr/>
        </p:nvSpPr>
        <p:spPr>
          <a:xfrm>
            <a:off x="1843725" y="602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">
  <p:cSld name="Texte + Parag Medium + Browser - 1 col - Gre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34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5" name="Google Shape;275;p3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>
            <p:ph idx="5" type="pic"/>
          </p:nvPr>
        </p:nvSpPr>
        <p:spPr>
          <a:xfrm>
            <a:off x="3149925" y="1065675"/>
            <a:ext cx="5750700" cy="361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 1">
  <p:cSld name="Texte + Parag Medium + Browser - 1 col - Grey_2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479725" y="29800"/>
            <a:ext cx="6184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2" type="body"/>
          </p:nvPr>
        </p:nvSpPr>
        <p:spPr>
          <a:xfrm>
            <a:off x="503042" y="6250"/>
            <a:ext cx="2580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81" name="Google Shape;28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5" y="331801"/>
            <a:ext cx="7993875" cy="53000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>
            <p:ph idx="3" type="pic"/>
          </p:nvPr>
        </p:nvSpPr>
        <p:spPr>
          <a:xfrm>
            <a:off x="575075" y="815552"/>
            <a:ext cx="7993800" cy="5021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3 col + Browser">
  <p:cSld name="Texte + Parag Medium + Browser - 1 col - Grey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36"/>
          <p:cNvSpPr txBox="1"/>
          <p:nvPr>
            <p:ph idx="2" type="body"/>
          </p:nvPr>
        </p:nvSpPr>
        <p:spPr>
          <a:xfrm>
            <a:off x="502542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3" type="body"/>
          </p:nvPr>
        </p:nvSpPr>
        <p:spPr>
          <a:xfrm>
            <a:off x="502542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36"/>
          <p:cNvSpPr txBox="1"/>
          <p:nvPr>
            <p:ph idx="4" type="body"/>
          </p:nvPr>
        </p:nvSpPr>
        <p:spPr>
          <a:xfrm>
            <a:off x="3311971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idx="5" type="body"/>
          </p:nvPr>
        </p:nvSpPr>
        <p:spPr>
          <a:xfrm>
            <a:off x="3311971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36"/>
          <p:cNvSpPr txBox="1"/>
          <p:nvPr>
            <p:ph idx="6" type="body"/>
          </p:nvPr>
        </p:nvSpPr>
        <p:spPr>
          <a:xfrm>
            <a:off x="6139839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36"/>
          <p:cNvSpPr txBox="1"/>
          <p:nvPr>
            <p:ph idx="7" type="body"/>
          </p:nvPr>
        </p:nvSpPr>
        <p:spPr>
          <a:xfrm>
            <a:off x="6139839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91" name="Google Shape;29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755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>
            <p:ph idx="8" type="pic"/>
          </p:nvPr>
        </p:nvSpPr>
        <p:spPr>
          <a:xfrm>
            <a:off x="56099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3" name="Google Shape;2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8817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6"/>
          <p:cNvSpPr/>
          <p:nvPr>
            <p:ph idx="9" type="pic"/>
          </p:nvPr>
        </p:nvSpPr>
        <p:spPr>
          <a:xfrm>
            <a:off x="3388171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5" name="Google Shape;29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370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6"/>
          <p:cNvSpPr/>
          <p:nvPr>
            <p:ph idx="13" type="pic"/>
          </p:nvPr>
        </p:nvSpPr>
        <p:spPr>
          <a:xfrm>
            <a:off x="622714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6"/>
          <p:cNvSpPr txBox="1"/>
          <p:nvPr>
            <p:ph idx="14" type="body"/>
          </p:nvPr>
        </p:nvSpPr>
        <p:spPr>
          <a:xfrm>
            <a:off x="502542" y="561713"/>
            <a:ext cx="61206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re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0" name="Google Shape;300;p37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vide - entete + pied">
  <p:cSld name="Page vide - entete + pied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Page vide - entete + pied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5" name="Google Shape;305;p39"/>
          <p:cNvSpPr txBox="1"/>
          <p:nvPr>
            <p:ph idx="2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06" name="Google Shape;306;p39"/>
          <p:cNvCxnSpPr/>
          <p:nvPr/>
        </p:nvCxnSpPr>
        <p:spPr>
          <a:xfrm>
            <a:off x="-21679" y="2574141"/>
            <a:ext cx="9180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9"/>
          <p:cNvSpPr txBox="1"/>
          <p:nvPr>
            <p:ph idx="3" type="subTitle"/>
          </p:nvPr>
        </p:nvSpPr>
        <p:spPr>
          <a:xfrm>
            <a:off x="5216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216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09" name="Google Shape;309;p39"/>
          <p:cNvSpPr txBox="1"/>
          <p:nvPr>
            <p:ph idx="5" type="subTitle"/>
          </p:nvPr>
        </p:nvSpPr>
        <p:spPr>
          <a:xfrm>
            <a:off x="24153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6" type="body"/>
          </p:nvPr>
        </p:nvSpPr>
        <p:spPr>
          <a:xfrm>
            <a:off x="24153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7" type="subTitle"/>
          </p:nvPr>
        </p:nvSpPr>
        <p:spPr>
          <a:xfrm>
            <a:off x="42803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9"/>
          <p:cNvSpPr txBox="1"/>
          <p:nvPr>
            <p:ph idx="8" type="body"/>
          </p:nvPr>
        </p:nvSpPr>
        <p:spPr>
          <a:xfrm>
            <a:off x="42803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9" type="subTitle"/>
          </p:nvPr>
        </p:nvSpPr>
        <p:spPr>
          <a:xfrm>
            <a:off x="58692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13" type="body"/>
          </p:nvPr>
        </p:nvSpPr>
        <p:spPr>
          <a:xfrm>
            <a:off x="58692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5" name="Google Shape;315;p39"/>
          <p:cNvSpPr txBox="1"/>
          <p:nvPr>
            <p:ph idx="14" type="subTitle"/>
          </p:nvPr>
        </p:nvSpPr>
        <p:spPr>
          <a:xfrm>
            <a:off x="6972175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9"/>
          <p:cNvSpPr txBox="1"/>
          <p:nvPr>
            <p:ph idx="15" type="body"/>
          </p:nvPr>
        </p:nvSpPr>
        <p:spPr>
          <a:xfrm>
            <a:off x="6972175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1">
  <p:cSld name="Sommaire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03043" y="632949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503043" y="3325053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989112" y="770894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989112" y="2089270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989112" y="3433168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989113" y="1038310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5" type="body"/>
          </p:nvPr>
        </p:nvSpPr>
        <p:spPr>
          <a:xfrm>
            <a:off x="989113" y="2356396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idx="6" type="body"/>
          </p:nvPr>
        </p:nvSpPr>
        <p:spPr>
          <a:xfrm>
            <a:off x="989113" y="3705991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40"/>
          <p:cNvSpPr/>
          <p:nvPr>
            <p:ph idx="7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 txBox="1"/>
          <p:nvPr>
            <p:ph idx="8" type="body"/>
          </p:nvPr>
        </p:nvSpPr>
        <p:spPr>
          <a:xfrm>
            <a:off x="503043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29" name="Google Shape;329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714989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/>
          <p:nvPr/>
        </p:nvSpPr>
        <p:spPr>
          <a:xfrm>
            <a:off x="654782" y="760675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pic>
        <p:nvPicPr>
          <p:cNvPr id="331" name="Google Shape;331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20200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0"/>
          <p:cNvSpPr/>
          <p:nvPr/>
        </p:nvSpPr>
        <p:spPr>
          <a:xfrm>
            <a:off x="654782" y="20657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pic>
        <p:nvPicPr>
          <p:cNvPr id="333" name="Google Shape;333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33707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/>
          <p:nvPr/>
        </p:nvSpPr>
        <p:spPr>
          <a:xfrm>
            <a:off x="654782" y="34164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3 column">
  <p:cSld name="Sommaire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2600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012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507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502541" y="569700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" type="body"/>
          </p:nvPr>
        </p:nvSpPr>
        <p:spPr>
          <a:xfrm>
            <a:off x="980100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3" type="body"/>
          </p:nvPr>
        </p:nvSpPr>
        <p:spPr>
          <a:xfrm>
            <a:off x="980100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4" type="body"/>
          </p:nvPr>
        </p:nvSpPr>
        <p:spPr>
          <a:xfrm>
            <a:off x="3732614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5" type="body"/>
          </p:nvPr>
        </p:nvSpPr>
        <p:spPr>
          <a:xfrm>
            <a:off x="3732614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6" type="body"/>
          </p:nvPr>
        </p:nvSpPr>
        <p:spPr>
          <a:xfrm>
            <a:off x="6485129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7" type="body"/>
          </p:nvPr>
        </p:nvSpPr>
        <p:spPr>
          <a:xfrm>
            <a:off x="6485129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8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41"/>
          <p:cNvSpPr/>
          <p:nvPr/>
        </p:nvSpPr>
        <p:spPr>
          <a:xfrm>
            <a:off x="609957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sp>
        <p:nvSpPr>
          <p:cNvPr id="348" name="Google Shape;348;p41"/>
          <p:cNvSpPr/>
          <p:nvPr/>
        </p:nvSpPr>
        <p:spPr>
          <a:xfrm>
            <a:off x="3357470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sp>
        <p:nvSpPr>
          <p:cNvPr id="349" name="Google Shape;349;p41"/>
          <p:cNvSpPr/>
          <p:nvPr/>
        </p:nvSpPr>
        <p:spPr>
          <a:xfrm>
            <a:off x="6104995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2 blocs - 2 col">
  <p:cSld name="Texte - Parag Medium - 2 blocs - 2 col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3" type="body"/>
          </p:nvPr>
        </p:nvSpPr>
        <p:spPr>
          <a:xfrm>
            <a:off x="50254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2"/>
          <p:cNvSpPr txBox="1"/>
          <p:nvPr>
            <p:ph idx="4" type="body"/>
          </p:nvPr>
        </p:nvSpPr>
        <p:spPr>
          <a:xfrm>
            <a:off x="471147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4 blocs - 2 col">
  <p:cSld name="Texte - parag Medium - 4 blocs - 2 col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p43"/>
          <p:cNvSpPr txBox="1"/>
          <p:nvPr>
            <p:ph idx="2" type="body"/>
          </p:nvPr>
        </p:nvSpPr>
        <p:spPr>
          <a:xfrm>
            <a:off x="502541" y="599312"/>
            <a:ext cx="8569426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43"/>
          <p:cNvSpPr txBox="1"/>
          <p:nvPr>
            <p:ph idx="3" type="body"/>
          </p:nvPr>
        </p:nvSpPr>
        <p:spPr>
          <a:xfrm>
            <a:off x="50254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4" type="body"/>
          </p:nvPr>
        </p:nvSpPr>
        <p:spPr>
          <a:xfrm>
            <a:off x="471147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43"/>
          <p:cNvSpPr txBox="1"/>
          <p:nvPr>
            <p:ph idx="5" type="body"/>
          </p:nvPr>
        </p:nvSpPr>
        <p:spPr>
          <a:xfrm>
            <a:off x="50254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43"/>
          <p:cNvSpPr txBox="1"/>
          <p:nvPr>
            <p:ph idx="6" type="body"/>
          </p:nvPr>
        </p:nvSpPr>
        <p:spPr>
          <a:xfrm>
            <a:off x="471147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4 blocs - 2 col">
  <p:cSld name="Titre + Texte - parag Medium - 4 blocs - 2 col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4" name="Google Shape;364;p44"/>
          <p:cNvSpPr txBox="1"/>
          <p:nvPr>
            <p:ph idx="2" type="body"/>
          </p:nvPr>
        </p:nvSpPr>
        <p:spPr>
          <a:xfrm>
            <a:off x="50254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5" name="Google Shape;365;p44"/>
          <p:cNvSpPr txBox="1"/>
          <p:nvPr>
            <p:ph idx="3" type="body"/>
          </p:nvPr>
        </p:nvSpPr>
        <p:spPr>
          <a:xfrm>
            <a:off x="50254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4"/>
          <p:cNvSpPr txBox="1"/>
          <p:nvPr>
            <p:ph idx="4" type="body"/>
          </p:nvPr>
        </p:nvSpPr>
        <p:spPr>
          <a:xfrm>
            <a:off x="471147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7" name="Google Shape;367;p44"/>
          <p:cNvSpPr txBox="1"/>
          <p:nvPr>
            <p:ph idx="5" type="body"/>
          </p:nvPr>
        </p:nvSpPr>
        <p:spPr>
          <a:xfrm>
            <a:off x="471147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6" type="body"/>
          </p:nvPr>
        </p:nvSpPr>
        <p:spPr>
          <a:xfrm>
            <a:off x="50254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7" type="body"/>
          </p:nvPr>
        </p:nvSpPr>
        <p:spPr>
          <a:xfrm>
            <a:off x="50254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8" type="body"/>
          </p:nvPr>
        </p:nvSpPr>
        <p:spPr>
          <a:xfrm>
            <a:off x="471147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9" type="body"/>
          </p:nvPr>
        </p:nvSpPr>
        <p:spPr>
          <a:xfrm>
            <a:off x="471147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13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 - parag Medium - sur-titre - 4 blocs - 2 col">
  <p:cSld name="Titre+Texte - parag Medium - sur-titre - 4 blocs - 2 col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p45"/>
          <p:cNvSpPr txBox="1"/>
          <p:nvPr>
            <p:ph idx="2" type="body"/>
          </p:nvPr>
        </p:nvSpPr>
        <p:spPr>
          <a:xfrm>
            <a:off x="50254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45"/>
          <p:cNvSpPr txBox="1"/>
          <p:nvPr>
            <p:ph idx="3" type="body"/>
          </p:nvPr>
        </p:nvSpPr>
        <p:spPr>
          <a:xfrm>
            <a:off x="50254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7" name="Google Shape;377;p45"/>
          <p:cNvSpPr txBox="1"/>
          <p:nvPr>
            <p:ph idx="4" type="body"/>
          </p:nvPr>
        </p:nvSpPr>
        <p:spPr>
          <a:xfrm>
            <a:off x="50254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5" type="body"/>
          </p:nvPr>
        </p:nvSpPr>
        <p:spPr>
          <a:xfrm>
            <a:off x="471147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5"/>
          <p:cNvSpPr txBox="1"/>
          <p:nvPr>
            <p:ph idx="6" type="body"/>
          </p:nvPr>
        </p:nvSpPr>
        <p:spPr>
          <a:xfrm>
            <a:off x="471147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7" type="body"/>
          </p:nvPr>
        </p:nvSpPr>
        <p:spPr>
          <a:xfrm>
            <a:off x="471147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8" type="body"/>
          </p:nvPr>
        </p:nvSpPr>
        <p:spPr>
          <a:xfrm>
            <a:off x="50254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2" name="Google Shape;382;p45"/>
          <p:cNvSpPr txBox="1"/>
          <p:nvPr>
            <p:ph idx="9" type="body"/>
          </p:nvPr>
        </p:nvSpPr>
        <p:spPr>
          <a:xfrm>
            <a:off x="50254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idx="13" type="body"/>
          </p:nvPr>
        </p:nvSpPr>
        <p:spPr>
          <a:xfrm>
            <a:off x="50254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45"/>
          <p:cNvSpPr txBox="1"/>
          <p:nvPr>
            <p:ph idx="14" type="body"/>
          </p:nvPr>
        </p:nvSpPr>
        <p:spPr>
          <a:xfrm>
            <a:off x="471147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5" name="Google Shape;385;p45"/>
          <p:cNvSpPr txBox="1"/>
          <p:nvPr>
            <p:ph idx="15" type="body"/>
          </p:nvPr>
        </p:nvSpPr>
        <p:spPr>
          <a:xfrm>
            <a:off x="471147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45"/>
          <p:cNvSpPr txBox="1"/>
          <p:nvPr>
            <p:ph idx="16" type="body"/>
          </p:nvPr>
        </p:nvSpPr>
        <p:spPr>
          <a:xfrm>
            <a:off x="471147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Light">
  <p:cSld name="Texte-Exergue-Light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9" name="Google Shape;389;p46"/>
          <p:cNvSpPr txBox="1"/>
          <p:nvPr>
            <p:ph idx="2" type="body"/>
          </p:nvPr>
        </p:nvSpPr>
        <p:spPr>
          <a:xfrm>
            <a:off x="502444" y="619433"/>
            <a:ext cx="8066485" cy="3933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Dark">
  <p:cSld name="Texte-Exergue-Dark">
    <p:bg>
      <p:bgPr>
        <a:solidFill>
          <a:schemeClr val="dk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2" name="Google Shape;392;p47"/>
          <p:cNvSpPr txBox="1"/>
          <p:nvPr>
            <p:ph idx="1" type="body"/>
          </p:nvPr>
        </p:nvSpPr>
        <p:spPr>
          <a:xfrm>
            <a:off x="502444" y="0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3" name="Google Shape;393;p47"/>
          <p:cNvSpPr txBox="1"/>
          <p:nvPr>
            <p:ph idx="2" type="body"/>
          </p:nvPr>
        </p:nvSpPr>
        <p:spPr>
          <a:xfrm>
            <a:off x="502444" y="604684"/>
            <a:ext cx="8066485" cy="3948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94" name="Google Shape;394;p47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Light">
  <p:cSld name="Texte + Parag Medium + Image - 1 col - Ligh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7" name="Google Shape;397;p48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8" name="Google Shape;398;p48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9" name="Google Shape;399;p48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48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Grey">
  <p:cSld name="Texte + Parag Medium + Image - 1 col - Gre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9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6" name="Google Shape;406;p49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7" name="Google Shape;407;p49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8" name="Google Shape;408;p49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Grey">
  <p:cSld name="Texte + Parag Medium + Tablette - 1 col - Gre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1" name="Google Shape;411;p50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5" name="Google Shape;415;p50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416" name="Google Shape;41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0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Grey">
  <p:cSld name="Texte + Parag Medium + Laptop - 1 col - Gre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0" name="Google Shape;420;p51"/>
          <p:cNvSpPr/>
          <p:nvPr/>
        </p:nvSpPr>
        <p:spPr>
          <a:xfrm>
            <a:off x="6091525" y="0"/>
            <a:ext cx="3052500" cy="514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2" name="Google Shape;422;p51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3" name="Google Shape;423;p5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4" name="Google Shape;424;p5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425" name="Google Shape;42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Light">
  <p:cSld name="Texte + Parag Medium + Browser - 1 col - Ligh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0" name="Google Shape;430;p52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52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Dark">
  <p:cSld name="Texte + Parag Medium + Browser - 1 col - Dar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7" name="Google Shape;437;p53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8" name="Google Shape;438;p53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40" name="Google Shape;44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urtitre - page vide">
  <p:cSld name="2_Surtitre - page vide">
    <p:bg>
      <p:bgPr>
        <a:solidFill>
          <a:schemeClr val="dk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/>
        </p:nvSpPr>
        <p:spPr>
          <a:xfrm>
            <a:off x="3323630" y="2225501"/>
            <a:ext cx="2496741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1100"/>
          </a:p>
        </p:txBody>
      </p:sp>
      <p:sp>
        <p:nvSpPr>
          <p:cNvPr id="443" name="Google Shape;443;p54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4"/>
          <p:cNvSpPr/>
          <p:nvPr/>
        </p:nvSpPr>
        <p:spPr>
          <a:xfrm>
            <a:off x="4063050" y="941250"/>
            <a:ext cx="1017900" cy="1017900"/>
          </a:xfrm>
          <a:prstGeom prst="ellipse">
            <a:avLst/>
          </a:prstGeom>
          <a:solidFill>
            <a:srgbClr val="1041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?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45" name="Google Shape;445;p5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2_Surtitre - page vide_1">
    <p:bg>
      <p:bgPr>
        <a:solidFill>
          <a:schemeClr val="dk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"/>
          <p:cNvSpPr txBox="1"/>
          <p:nvPr/>
        </p:nvSpPr>
        <p:spPr>
          <a:xfrm>
            <a:off x="498879" y="1012126"/>
            <a:ext cx="2496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  <a:endParaRPr sz="1100"/>
          </a:p>
        </p:txBody>
      </p:sp>
      <p:sp>
        <p:nvSpPr>
          <p:cNvPr id="448" name="Google Shape;448;p55"/>
          <p:cNvSpPr/>
          <p:nvPr/>
        </p:nvSpPr>
        <p:spPr>
          <a:xfrm>
            <a:off x="0" y="4624388"/>
            <a:ext cx="1950000" cy="51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5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5" title="fvae_logo_couleur_inverse@2x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152400" y="-463324"/>
            <a:ext cx="11169725" cy="6070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5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"/>
          <p:cNvSpPr txBox="1"/>
          <p:nvPr>
            <p:ph type="title"/>
          </p:nvPr>
        </p:nvSpPr>
        <p:spPr>
          <a:xfrm>
            <a:off x="363390" y="707118"/>
            <a:ext cx="8403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4" name="Google Shape;454;p56"/>
          <p:cNvSpPr txBox="1"/>
          <p:nvPr>
            <p:ph idx="1" type="body"/>
          </p:nvPr>
        </p:nvSpPr>
        <p:spPr>
          <a:xfrm>
            <a:off x="363390" y="1678916"/>
            <a:ext cx="8403300" cy="3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5" name="Google Shape;455;p56"/>
          <p:cNvSpPr txBox="1"/>
          <p:nvPr>
            <p:ph idx="10" type="dt"/>
          </p:nvPr>
        </p:nvSpPr>
        <p:spPr>
          <a:xfrm>
            <a:off x="361305" y="4767263"/>
            <a:ext cx="88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6" name="Google Shape;456;p5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7" name="Google Shape;457;p56"/>
          <p:cNvSpPr txBox="1"/>
          <p:nvPr>
            <p:ph idx="12" type="sldNum"/>
          </p:nvPr>
        </p:nvSpPr>
        <p:spPr>
          <a:xfrm>
            <a:off x="6709194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58" name="Google Shape;458;p56"/>
          <p:cNvSpPr txBox="1"/>
          <p:nvPr>
            <p:ph idx="2" type="body"/>
          </p:nvPr>
        </p:nvSpPr>
        <p:spPr>
          <a:xfrm>
            <a:off x="360759" y="1277541"/>
            <a:ext cx="8420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500"/>
              <a:buNone/>
              <a:defRPr b="1" sz="15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1375" y="327428"/>
            <a:ext cx="7886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Medium"/>
              <a:buNone/>
              <a:defRPr b="0" i="0" sz="24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1375" y="1306325"/>
            <a:ext cx="78867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•"/>
              <a:defRPr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6596895" y="4677965"/>
            <a:ext cx="1972186" cy="46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Une image contenant Graphique, graphisme, Police, logo&#10;&#10;Description générée automatiquement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3050" y="4773606"/>
            <a:ext cx="504225" cy="27426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orient="horz" pos="409">
          <p15:clr>
            <a:srgbClr val="F26B43"/>
          </p15:clr>
        </p15:guide>
        <p15:guide id="3" pos="2880">
          <p15:clr>
            <a:srgbClr val="F26B43"/>
          </p15:clr>
        </p15:guide>
        <p15:guide id="4" pos="2744">
          <p15:clr>
            <a:srgbClr val="F26B43"/>
          </p15:clr>
        </p15:guide>
        <p15:guide id="5" pos="3016">
          <p15:clr>
            <a:srgbClr val="F26B43"/>
          </p15:clr>
        </p15:guide>
        <p15:guide id="6" pos="5398">
          <p15:clr>
            <a:srgbClr val="F26B43"/>
          </p15:clr>
        </p15:guide>
        <p15:guide id="7" orient="horz" pos="191">
          <p15:clr>
            <a:srgbClr val="F26B43"/>
          </p15:clr>
        </p15:guide>
        <p15:guide id="8" orient="horz" pos="2947">
          <p15:clr>
            <a:srgbClr val="F26B43"/>
          </p15:clr>
        </p15:guide>
        <p15:guide id="9" pos="362">
          <p15:clr>
            <a:srgbClr val="F26B43"/>
          </p15:clr>
        </p15:guide>
        <p15:guide id="10" pos="635">
          <p15:clr>
            <a:srgbClr val="F26B43"/>
          </p15:clr>
        </p15:guide>
        <p15:guide id="11" pos="5125">
          <p15:clr>
            <a:srgbClr val="F26B43"/>
          </p15:clr>
        </p15:guide>
        <p15:guide id="12" orient="horz" pos="973">
          <p15:clr>
            <a:srgbClr val="F26B43"/>
          </p15:clr>
        </p15:guide>
        <p15:guide id="13" pos="383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.xml"/><Relationship Id="rId4" Type="http://schemas.openxmlformats.org/officeDocument/2006/relationships/image" Target="../media/image12.png"/><Relationship Id="rId5" Type="http://schemas.openxmlformats.org/officeDocument/2006/relationships/hyperlink" Target="https://endearing-taffy-c86c69.netlify.app" TargetMode="External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hyperlink" Target="https://vae.gouv.fr/savoir-plus/articles/espace-certificateurs/" TargetMode="External"/><Relationship Id="rId5" Type="http://schemas.openxmlformats.org/officeDocument/2006/relationships/hyperlink" Target="https://tally.so/r/n05V10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 txBox="1"/>
          <p:nvPr>
            <p:ph type="ctrTitle"/>
          </p:nvPr>
        </p:nvSpPr>
        <p:spPr>
          <a:xfrm>
            <a:off x="477150" y="2179750"/>
            <a:ext cx="82044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Medium"/>
              <a:buNone/>
            </a:pPr>
            <a:r>
              <a:rPr lang="fr"/>
              <a:t>Initier son projet de VAE collective </a:t>
            </a:r>
            <a:endParaRPr/>
          </a:p>
        </p:txBody>
      </p:sp>
      <p:sp>
        <p:nvSpPr>
          <p:cNvPr id="464" name="Google Shape;464;p57"/>
          <p:cNvSpPr txBox="1"/>
          <p:nvPr>
            <p:ph idx="1" type="subTitle"/>
          </p:nvPr>
        </p:nvSpPr>
        <p:spPr>
          <a:xfrm>
            <a:off x="503191" y="1888825"/>
            <a:ext cx="718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fr"/>
              <a:t>WEBINAIRE - VAE COLLECTIVE</a:t>
            </a:r>
            <a:endParaRPr/>
          </a:p>
        </p:txBody>
      </p:sp>
      <p:sp>
        <p:nvSpPr>
          <p:cNvPr id="465" name="Google Shape;465;p57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Présentation template FVAE</a:t>
            </a:r>
            <a:endParaRPr/>
          </a:p>
        </p:txBody>
      </p:sp>
      <p:sp>
        <p:nvSpPr>
          <p:cNvPr id="466" name="Google Shape;466;p57"/>
          <p:cNvSpPr txBox="1"/>
          <p:nvPr/>
        </p:nvSpPr>
        <p:spPr>
          <a:xfrm>
            <a:off x="3585907" y="4677965"/>
            <a:ext cx="1972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r>
              <a:rPr lang="fr"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29 avril 2025</a:t>
            </a:r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8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 VAE collective, de quoi s’agit-il ?</a:t>
            </a:r>
            <a:endParaRPr/>
          </a:p>
        </p:txBody>
      </p:sp>
      <p:sp>
        <p:nvSpPr>
          <p:cNvPr id="472" name="Google Shape;472;p58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</a:t>
            </a:r>
            <a:endParaRPr/>
          </a:p>
        </p:txBody>
      </p:sp>
      <p:sp>
        <p:nvSpPr>
          <p:cNvPr id="473" name="Google Shape;473;p58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 portail numérique France VAE</a:t>
            </a:r>
            <a:endParaRPr/>
          </a:p>
        </p:txBody>
      </p:sp>
      <p:sp>
        <p:nvSpPr>
          <p:cNvPr id="474" name="Google Shape;474;p58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SOMMAIRE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475" name="Google Shape;475;p58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Lancement de votre projet</a:t>
            </a:r>
            <a:endParaRPr/>
          </a:p>
        </p:txBody>
      </p:sp>
      <p:sp>
        <p:nvSpPr>
          <p:cNvPr id="476" name="Google Shape;476;p58"/>
          <p:cNvSpPr txBox="1"/>
          <p:nvPr>
            <p:ph idx="6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8"/>
          <p:cNvSpPr txBox="1"/>
          <p:nvPr>
            <p:ph idx="7" type="body"/>
          </p:nvPr>
        </p:nvSpPr>
        <p:spPr>
          <a:xfrm>
            <a:off x="931075" y="4493823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8"/>
          <p:cNvSpPr txBox="1"/>
          <p:nvPr>
            <p:ph idx="8" type="body"/>
          </p:nvPr>
        </p:nvSpPr>
        <p:spPr>
          <a:xfrm>
            <a:off x="931075" y="506179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8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480" name="Google Shape;480;p58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  <p:sp>
        <p:nvSpPr>
          <p:cNvPr id="481" name="Google Shape;481;p58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  <p:sp>
        <p:nvSpPr>
          <p:cNvPr id="482" name="Google Shape;482;p58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  <p:sp>
        <p:nvSpPr>
          <p:cNvPr id="483" name="Google Shape;483;p58"/>
          <p:cNvSpPr txBox="1"/>
          <p:nvPr>
            <p:ph idx="5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Co-construction de l’</a:t>
            </a:r>
            <a:r>
              <a:rPr lang="fr"/>
              <a:t>outil de pilotage</a:t>
            </a:r>
            <a:endParaRPr/>
          </a:p>
        </p:txBody>
      </p:sp>
      <p:sp>
        <p:nvSpPr>
          <p:cNvPr id="484" name="Google Shape;484;p58"/>
          <p:cNvSpPr txBox="1"/>
          <p:nvPr>
            <p:ph idx="15" type="body"/>
          </p:nvPr>
        </p:nvSpPr>
        <p:spPr>
          <a:xfrm>
            <a:off x="503050" y="278990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VAE collective, </a:t>
            </a:r>
            <a:br>
              <a:rPr lang="fr"/>
            </a:br>
            <a:r>
              <a:rPr lang="fr"/>
              <a:t>de quoi s’agit-il ?</a:t>
            </a:r>
            <a:endParaRPr/>
          </a:p>
        </p:txBody>
      </p:sp>
      <p:sp>
        <p:nvSpPr>
          <p:cNvPr id="490" name="Google Shape;490;p59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9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0"/>
          <p:cNvSpPr txBox="1"/>
          <p:nvPr>
            <p:ph idx="1" type="body"/>
          </p:nvPr>
        </p:nvSpPr>
        <p:spPr>
          <a:xfrm>
            <a:off x="502542" y="977509"/>
            <a:ext cx="8066400" cy="347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Bien que la VAE soit un droit individuel, </a:t>
            </a:r>
            <a:br>
              <a:rPr lang="fr"/>
            </a:br>
            <a:r>
              <a:rPr lang="fr"/>
              <a:t>un collectif</a:t>
            </a:r>
            <a:r>
              <a:rPr lang="fr"/>
              <a:t> (entreprises, associations, territoire,etc.)</a:t>
            </a:r>
            <a:br>
              <a:rPr lang="fr"/>
            </a:br>
            <a:r>
              <a:rPr lang="fr"/>
              <a:t>peut l’initier de manière collective, au sein de son organisation, à destination de plusieurs collaborateurs.</a:t>
            </a:r>
            <a:endParaRPr/>
          </a:p>
        </p:txBody>
      </p:sp>
      <p:sp>
        <p:nvSpPr>
          <p:cNvPr id="497" name="Google Shape;497;p60"/>
          <p:cNvSpPr txBox="1"/>
          <p:nvPr>
            <p:ph idx="2" type="body"/>
          </p:nvPr>
        </p:nvSpPr>
        <p:spPr>
          <a:xfrm>
            <a:off x="503039" y="-1501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 VAE COLLECTIVE, DE QUOI S’AGIT-IL ?</a:t>
            </a:r>
            <a:endParaRPr/>
          </a:p>
        </p:txBody>
      </p:sp>
      <p:sp>
        <p:nvSpPr>
          <p:cNvPr id="498" name="Google Shape;498;p60"/>
          <p:cNvSpPr txBox="1"/>
          <p:nvPr>
            <p:ph idx="3" type="body"/>
          </p:nvPr>
        </p:nvSpPr>
        <p:spPr>
          <a:xfrm>
            <a:off x="502541" y="334922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Faire reconna</a:t>
            </a:r>
            <a:r>
              <a:rPr lang="fr"/>
              <a:t>ître ensemble les parcours et talents d’un groupe</a:t>
            </a:r>
            <a:endParaRPr/>
          </a:p>
        </p:txBody>
      </p:sp>
      <p:sp>
        <p:nvSpPr>
          <p:cNvPr id="499" name="Google Shape;499;p60"/>
          <p:cNvSpPr txBox="1"/>
          <p:nvPr/>
        </p:nvSpPr>
        <p:spPr>
          <a:xfrm>
            <a:off x="575075" y="3800775"/>
            <a:ext cx="3372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Cela ne peut pas être imposé au collaborateur qui reste libre de mobiliser ou non ce droit individuel.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0" name="Google Shape;500;p60"/>
          <p:cNvSpPr txBox="1"/>
          <p:nvPr/>
        </p:nvSpPr>
        <p:spPr>
          <a:xfrm>
            <a:off x="4572000" y="3800775"/>
            <a:ext cx="3016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D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émarche qui peut s’inscrire </a:t>
            </a:r>
            <a:b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dans un plan de développement des compétences.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1"/>
          <p:cNvSpPr txBox="1"/>
          <p:nvPr>
            <p:ph idx="5" type="body"/>
          </p:nvPr>
        </p:nvSpPr>
        <p:spPr>
          <a:xfrm>
            <a:off x="502546" y="362525"/>
            <a:ext cx="42849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outil au service du maintien et de l’évolution dans l’emploi</a:t>
            </a:r>
            <a:endParaRPr/>
          </a:p>
        </p:txBody>
      </p:sp>
      <p:sp>
        <p:nvSpPr>
          <p:cNvPr id="506" name="Google Shape;506;p61"/>
          <p:cNvSpPr/>
          <p:nvPr/>
        </p:nvSpPr>
        <p:spPr>
          <a:xfrm>
            <a:off x="2434850" y="1586300"/>
            <a:ext cx="3942000" cy="11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07" name="Google Shape;507;p61" title="image vae collectiv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267" r="32214" t="0"/>
          <a:stretch/>
        </p:blipFill>
        <p:spPr>
          <a:xfrm>
            <a:off x="6095125" y="0"/>
            <a:ext cx="30488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61"/>
          <p:cNvSpPr txBox="1"/>
          <p:nvPr/>
        </p:nvSpPr>
        <p:spPr>
          <a:xfrm>
            <a:off x="503049" y="126097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Acte de reconnaissance fort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9" name="Google Shape;509;p61"/>
          <p:cNvSpPr txBox="1"/>
          <p:nvPr/>
        </p:nvSpPr>
        <p:spPr>
          <a:xfrm>
            <a:off x="503039" y="1500350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en dehors des leviers salariaux classiques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61"/>
          <p:cNvSpPr txBox="1"/>
          <p:nvPr/>
        </p:nvSpPr>
        <p:spPr>
          <a:xfrm>
            <a:off x="503049" y="187772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Alternative à la formation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03039" y="2137525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dans votre stratégie de GEPP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61"/>
          <p:cNvSpPr txBox="1"/>
          <p:nvPr/>
        </p:nvSpPr>
        <p:spPr>
          <a:xfrm>
            <a:off x="503050" y="3716275"/>
            <a:ext cx="4428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Réduction du temps et du coût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3" name="Google Shape;513;p61"/>
          <p:cNvSpPr txBox="1"/>
          <p:nvPr/>
        </p:nvSpPr>
        <p:spPr>
          <a:xfrm>
            <a:off x="503050" y="3955775"/>
            <a:ext cx="3783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d’accès à la certification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1"/>
          <p:cNvSpPr txBox="1"/>
          <p:nvPr/>
        </p:nvSpPr>
        <p:spPr>
          <a:xfrm>
            <a:off x="503049" y="2500750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Synergie entre candidats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5" name="Google Shape;515;p61"/>
          <p:cNvSpPr txBox="1"/>
          <p:nvPr/>
        </p:nvSpPr>
        <p:spPr>
          <a:xfrm>
            <a:off x="503046" y="2774700"/>
            <a:ext cx="35697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impulsée par la dimension collective du projet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61"/>
          <p:cNvSpPr txBox="1"/>
          <p:nvPr/>
        </p:nvSpPr>
        <p:spPr>
          <a:xfrm>
            <a:off x="502550" y="3055788"/>
            <a:ext cx="30777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Posture réflexive renforcée 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des collaborateurs post VAE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7" name="Google Shape;517;p61"/>
          <p:cNvSpPr txBox="1"/>
          <p:nvPr/>
        </p:nvSpPr>
        <p:spPr>
          <a:xfrm>
            <a:off x="503039" y="-1501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BÉNÉFIQUE POUR L’EMPLOYEUR COMME POUR LE COLLABORATEUR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2"/>
          <p:cNvSpPr txBox="1"/>
          <p:nvPr>
            <p:ph idx="2" type="body"/>
          </p:nvPr>
        </p:nvSpPr>
        <p:spPr>
          <a:xfrm>
            <a:off x="3474300" y="2098600"/>
            <a:ext cx="21954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800"/>
              <a:t>Le cercle vertueux </a:t>
            </a:r>
            <a:br>
              <a:rPr lang="fr" sz="1800"/>
            </a:br>
            <a:r>
              <a:rPr lang="fr" sz="1800"/>
              <a:t>de la VAE collective</a:t>
            </a:r>
            <a:endParaRPr sz="1800"/>
          </a:p>
        </p:txBody>
      </p:sp>
      <p:sp>
        <p:nvSpPr>
          <p:cNvPr id="523" name="Google Shape;523;p62"/>
          <p:cNvSpPr txBox="1"/>
          <p:nvPr>
            <p:ph idx="2" type="body"/>
          </p:nvPr>
        </p:nvSpPr>
        <p:spPr>
          <a:xfrm>
            <a:off x="-7148600" y="-2063025"/>
            <a:ext cx="6459300" cy="1362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1. Valorisation et Reconnaissance des Compétences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Permet de recenser, développer et actualiser les compétences internes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Renforce l'image de marque en valorisant l'expertise des équipes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Améliore la crédibilité de l'entreprise vis-à-vis de l'extérieur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Obtention d'une reconnaissance officielle (diplôme, titre ou certification)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Gain en confiance, fierté et légitimité professionnelle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Valorisation officielle des compétences acquises tout au long du parcours professionnel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2. Fidélisation et Motivation des Collaborateurs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Création d'un cadre de travail où les salariés se projettent sur le long terme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Diminution du turnover et des coûts de recrutement associés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Instauration d'une dynamique positive d'équipe et de coopération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Sentiment d'appartenance renforcé à l'entreprise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Plus grand engagement dans leur mission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Motivation accrue par la reconnaissance de leur valeur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3. Développement de l'Employabilité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Constitution d'un vivier de candidats pour la mobilité interne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Résolution des difficultés de recrutement externe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Adaptation de la main-d'œuvre aux évolutions du marché et aux nouveaux besoins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Sécurisation de leur parcours professionnel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Accès facilité à d'autres dispositifs de formation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Capacité d'adaptation face aux évolutions du marché du travail et à l'allongement de la vie professionnelle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4. Optimisation de la Gestion des Ressources Humaines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Outil efficace de gestion prévisionnelle des emplois et des compétences (GPEC)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Cartographie complète des compétences disponibles dans l'organisation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Visibilité sur les compétences en sommeil qui peuvent être réactivées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Redécouverte de l'ensemble de leurs expertises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Prise de recul sur les évolutions de leur métier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Projection vers de nouvelles responsabilités futures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5. Renforcement de la Cohésion et de l'Intelligence Collective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Création d'un "esprit de promotion" qui favorise le partage d'expériences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Développement d'une culture d'apprentissage continu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Émulation positive entre les collaborateurs qui limite les abandons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Partage d'expériences enrichissant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Soutien mutuel et entraide entre participants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Réduction du sentiment d'isolement qui peut exister dans une démarche individuelle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6. Optimisation des Coûts et Ressources de Formation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Réduction de la durée et des coûts des formations traditionnelles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Possibilité de coupler la VAE avec d'autres dispositifs de formation (VAE hybride)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Financement possible par les OPCO pour les entreprises de moins de 50 salariés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Formation reconnue sans devoir s'absenter longuement de leur poste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Valorisation de l'expérience déjà acquise plutôt que de repartir de zéro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Accès à une certification sans suivre un cursus complet de formation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7. Contribution au Dialogue Social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Instrument au service du dialogue social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Démonstration de l'engagement de l'entreprise envers le développement professionnel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Amélioration des relations avec les partenaires sociaux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Reconnaissance de leur contribution à l'entreprise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Meilleure transparence sur les parcours d'évolution possibles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Inclusion dans la stratégie de développement de l'entreprise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sz="800"/>
          </a:p>
        </p:txBody>
      </p:sp>
      <p:grpSp>
        <p:nvGrpSpPr>
          <p:cNvPr id="524" name="Google Shape;524;p62"/>
          <p:cNvGrpSpPr/>
          <p:nvPr/>
        </p:nvGrpSpPr>
        <p:grpSpPr>
          <a:xfrm>
            <a:off x="2532678" y="303879"/>
            <a:ext cx="4078634" cy="4078914"/>
            <a:chOff x="3712400" y="-5826350"/>
            <a:chExt cx="2550900" cy="2551075"/>
          </a:xfrm>
        </p:grpSpPr>
        <p:sp>
          <p:nvSpPr>
            <p:cNvPr id="525" name="Google Shape;525;p62"/>
            <p:cNvSpPr/>
            <p:nvPr/>
          </p:nvSpPr>
          <p:spPr>
            <a:xfrm rot="-5400000">
              <a:off x="3712400" y="-5826350"/>
              <a:ext cx="2550900" cy="2550900"/>
            </a:xfrm>
            <a:prstGeom prst="blockArc">
              <a:avLst>
                <a:gd fmla="val 10800000" name="adj1"/>
                <a:gd fmla="val 4642" name="adj2"/>
                <a:gd fmla="val 17340" name="adj3"/>
              </a:avLst>
            </a:prstGeom>
            <a:solidFill>
              <a:srgbClr val="295F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26" name="Google Shape;526;p62"/>
            <p:cNvSpPr/>
            <p:nvPr/>
          </p:nvSpPr>
          <p:spPr>
            <a:xfrm rot="5400000">
              <a:off x="3712400" y="-5826350"/>
              <a:ext cx="2550900" cy="2550900"/>
            </a:xfrm>
            <a:prstGeom prst="blockArc">
              <a:avLst>
                <a:gd fmla="val 10840237" name="adj1"/>
                <a:gd fmla="val 122065" name="adj2"/>
                <a:gd fmla="val 17534" name="adj3"/>
              </a:avLst>
            </a:prstGeom>
            <a:solidFill>
              <a:srgbClr val="104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27" name="Google Shape;527;p62"/>
            <p:cNvSpPr/>
            <p:nvPr/>
          </p:nvSpPr>
          <p:spPr>
            <a:xfrm>
              <a:off x="4731075" y="-3718675"/>
              <a:ext cx="443400" cy="443400"/>
            </a:xfrm>
            <a:prstGeom prst="ellipse">
              <a:avLst/>
            </a:prstGeom>
            <a:solidFill>
              <a:srgbClr val="104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28" name="Google Shape;528;p62"/>
            <p:cNvSpPr/>
            <p:nvPr/>
          </p:nvSpPr>
          <p:spPr>
            <a:xfrm>
              <a:off x="4759642" y="-5826350"/>
              <a:ext cx="443400" cy="443400"/>
            </a:xfrm>
            <a:prstGeom prst="ellipse">
              <a:avLst/>
            </a:prstGeom>
            <a:solidFill>
              <a:srgbClr val="295F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529" name="Google Shape;529;p62"/>
          <p:cNvSpPr/>
          <p:nvPr/>
        </p:nvSpPr>
        <p:spPr>
          <a:xfrm>
            <a:off x="1188150" y="2505524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rPr>
              <a:t>Dialogue social</a:t>
            </a:r>
            <a:endParaRPr>
              <a:solidFill>
                <a:srgbClr val="1041BE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Créer une dynamique</a:t>
            </a:r>
            <a:b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collective positive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0" name="Google Shape;530;p62"/>
          <p:cNvSpPr/>
          <p:nvPr/>
        </p:nvSpPr>
        <p:spPr>
          <a:xfrm>
            <a:off x="1618000" y="649100"/>
            <a:ext cx="16767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Reconnaissance</a:t>
            </a:r>
            <a:endParaRPr>
              <a:solidFill>
                <a:srgbClr val="1041BE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Valoriser l’expérience acquise par vos collaborateurs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1" name="Google Shape;531;p62"/>
          <p:cNvSpPr/>
          <p:nvPr/>
        </p:nvSpPr>
        <p:spPr>
          <a:xfrm>
            <a:off x="5828500" y="649100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Fidélisation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Renforcer l’engagement et réduire le turnover</a:t>
            </a:r>
            <a:endParaRPr>
              <a:solidFill>
                <a:srgbClr val="1041BE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2" name="Google Shape;532;p62"/>
          <p:cNvSpPr/>
          <p:nvPr/>
        </p:nvSpPr>
        <p:spPr>
          <a:xfrm>
            <a:off x="6140650" y="2505525"/>
            <a:ext cx="24282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Sécurisation des parcours professionnels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L’accès à la certification favorise le maintien de l’employabilité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62"/>
          <p:cNvSpPr/>
          <p:nvPr/>
        </p:nvSpPr>
        <p:spPr>
          <a:xfrm>
            <a:off x="3664400" y="3932006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Marque employeur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Attirer et retenir les talents en instaurant une culture de la reconnaissance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3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étapes-clés </a:t>
            </a:r>
            <a:br>
              <a:rPr lang="fr"/>
            </a:br>
            <a:r>
              <a:rPr lang="fr"/>
              <a:t>d’une VAE collective</a:t>
            </a:r>
            <a:endParaRPr/>
          </a:p>
        </p:txBody>
      </p:sp>
      <p:sp>
        <p:nvSpPr>
          <p:cNvPr id="539" name="Google Shape;539;p63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3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4"/>
          <p:cNvSpPr txBox="1"/>
          <p:nvPr>
            <p:ph idx="4294967295" type="body"/>
          </p:nvPr>
        </p:nvSpPr>
        <p:spPr>
          <a:xfrm>
            <a:off x="502550" y="362525"/>
            <a:ext cx="83601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Bien se préparer avant de démarrer le projet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4"/>
          <p:cNvSpPr txBox="1"/>
          <p:nvPr>
            <p:ph idx="4294967295" type="body"/>
          </p:nvPr>
        </p:nvSpPr>
        <p:spPr>
          <a:xfrm>
            <a:off x="575075" y="1677450"/>
            <a:ext cx="3781500" cy="12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Cibler les typologies d’emploi en lien avec vos enjeux RH ou GEPP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Identifier les certifications pertinentes au regard des compétences internes et des perspectives de l’entreprise</a:t>
            </a:r>
            <a:endParaRPr sz="1200"/>
          </a:p>
        </p:txBody>
      </p:sp>
      <p:sp>
        <p:nvSpPr>
          <p:cNvPr id="547" name="Google Shape;547;p64"/>
          <p:cNvSpPr txBox="1"/>
          <p:nvPr>
            <p:ph idx="2" type="body"/>
          </p:nvPr>
        </p:nvSpPr>
        <p:spPr>
          <a:xfrm>
            <a:off x="575081" y="3297575"/>
            <a:ext cx="3114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Sensibiliser et mobiliser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548" name="Google Shape;548;p64"/>
          <p:cNvSpPr txBox="1"/>
          <p:nvPr>
            <p:ph idx="4294967295" type="body"/>
          </p:nvPr>
        </p:nvSpPr>
        <p:spPr>
          <a:xfrm>
            <a:off x="575075" y="3613150"/>
            <a:ext cx="3114600" cy="84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Informer les collaborateurs sur leurs droits et le parcours proposé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Impliquer les managers de proximité et les partenaires sociaux</a:t>
            </a:r>
            <a:endParaRPr sz="1200"/>
          </a:p>
        </p:txBody>
      </p:sp>
      <p:sp>
        <p:nvSpPr>
          <p:cNvPr id="549" name="Google Shape;549;p64"/>
          <p:cNvSpPr txBox="1"/>
          <p:nvPr>
            <p:ph idx="2" type="body"/>
          </p:nvPr>
        </p:nvSpPr>
        <p:spPr>
          <a:xfrm>
            <a:off x="4787529" y="1350975"/>
            <a:ext cx="37113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Organiser la mise en oeuvre 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550" name="Google Shape;550;p64"/>
          <p:cNvSpPr txBox="1"/>
          <p:nvPr>
            <p:ph idx="4294967295" type="body"/>
          </p:nvPr>
        </p:nvSpPr>
        <p:spPr>
          <a:xfrm>
            <a:off x="4787525" y="1666086"/>
            <a:ext cx="3781500" cy="147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Prévoir les besoins logistiques (salles, plannings…)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Anticiper les aménagements d’emploi du temps (remplacements, plages libérées)</a:t>
            </a:r>
            <a:endParaRPr sz="1200"/>
          </a:p>
        </p:txBody>
      </p:sp>
      <p:sp>
        <p:nvSpPr>
          <p:cNvPr id="551" name="Google Shape;551;p64"/>
          <p:cNvSpPr txBox="1"/>
          <p:nvPr>
            <p:ph idx="2" type="body"/>
          </p:nvPr>
        </p:nvSpPr>
        <p:spPr>
          <a:xfrm>
            <a:off x="4787529" y="3297580"/>
            <a:ext cx="2980200" cy="45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Sécuriser le financement </a:t>
            </a:r>
            <a:br>
              <a:rPr b="1" lang="fr" sz="1600">
                <a:solidFill>
                  <a:srgbClr val="1041BE"/>
                </a:solidFill>
              </a:rPr>
            </a:br>
            <a:r>
              <a:rPr b="1" lang="fr" sz="1600">
                <a:solidFill>
                  <a:srgbClr val="1041BE"/>
                </a:solidFill>
              </a:rPr>
              <a:t>et la reconnaissance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552" name="Google Shape;552;p64"/>
          <p:cNvSpPr txBox="1"/>
          <p:nvPr>
            <p:ph idx="4294967295" type="body"/>
          </p:nvPr>
        </p:nvSpPr>
        <p:spPr>
          <a:xfrm>
            <a:off x="4787525" y="3827279"/>
            <a:ext cx="3532500" cy="97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Identifier les financements mobilisables (OPCO, entreprise, autres)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Définir les modalités de reconnaissance des certifications obtenues</a:t>
            </a:r>
            <a:endParaRPr sz="1200"/>
          </a:p>
        </p:txBody>
      </p:sp>
      <p:sp>
        <p:nvSpPr>
          <p:cNvPr id="553" name="Google Shape;553;p64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 D’UNE VAE COLLECTIVE</a:t>
            </a:r>
            <a:endParaRPr/>
          </a:p>
        </p:txBody>
      </p:sp>
      <p:sp>
        <p:nvSpPr>
          <p:cNvPr id="554" name="Google Shape;554;p64"/>
          <p:cNvSpPr txBox="1"/>
          <p:nvPr>
            <p:ph idx="2" type="body"/>
          </p:nvPr>
        </p:nvSpPr>
        <p:spPr>
          <a:xfrm>
            <a:off x="575078" y="1350963"/>
            <a:ext cx="34863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041BE"/>
                </a:solidFill>
              </a:rPr>
              <a:t>Identifier les bons leviers internes</a:t>
            </a:r>
            <a:endParaRPr b="1" sz="1600">
              <a:solidFill>
                <a:srgbClr val="1041B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5"/>
          <p:cNvSpPr txBox="1"/>
          <p:nvPr>
            <p:ph idx="2" type="body"/>
          </p:nvPr>
        </p:nvSpPr>
        <p:spPr>
          <a:xfrm>
            <a:off x="502541" y="36058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parcours simplifié et balisé via la plateforme France VAE</a:t>
            </a:r>
            <a:endParaRPr/>
          </a:p>
        </p:txBody>
      </p:sp>
      <p:sp>
        <p:nvSpPr>
          <p:cNvPr id="560" name="Google Shape;560;p65"/>
          <p:cNvSpPr txBox="1"/>
          <p:nvPr>
            <p:ph idx="3" type="subTitle"/>
          </p:nvPr>
        </p:nvSpPr>
        <p:spPr>
          <a:xfrm>
            <a:off x="64400" y="2935300"/>
            <a:ext cx="1744500" cy="316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Lancement projet </a:t>
            </a:r>
            <a:endParaRPr>
              <a:solidFill>
                <a:srgbClr val="E79D61"/>
              </a:solidFill>
            </a:endParaRPr>
          </a:p>
        </p:txBody>
      </p:sp>
      <p:sp>
        <p:nvSpPr>
          <p:cNvPr id="561" name="Google Shape;561;p65"/>
          <p:cNvSpPr txBox="1"/>
          <p:nvPr>
            <p:ph idx="5" type="subTitle"/>
          </p:nvPr>
        </p:nvSpPr>
        <p:spPr>
          <a:xfrm>
            <a:off x="934175" y="16098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Appel à candidature</a:t>
            </a:r>
            <a:endParaRPr>
              <a:solidFill>
                <a:srgbClr val="E79D61"/>
              </a:solidFill>
            </a:endParaRPr>
          </a:p>
        </p:txBody>
      </p:sp>
      <p:sp>
        <p:nvSpPr>
          <p:cNvPr id="562" name="Google Shape;562;p65"/>
          <p:cNvSpPr txBox="1"/>
          <p:nvPr>
            <p:ph idx="7" type="subTitle"/>
          </p:nvPr>
        </p:nvSpPr>
        <p:spPr>
          <a:xfrm>
            <a:off x="6262925" y="1587250"/>
            <a:ext cx="2597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Suivi de l’accompagnement</a:t>
            </a:r>
            <a:r>
              <a:rPr lang="fr">
                <a:solidFill>
                  <a:srgbClr val="1041BE"/>
                </a:solidFill>
              </a:rPr>
              <a:t>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63" name="Google Shape;563;p65"/>
          <p:cNvSpPr txBox="1"/>
          <p:nvPr>
            <p:ph idx="9" type="subTitle"/>
          </p:nvPr>
        </p:nvSpPr>
        <p:spPr>
          <a:xfrm>
            <a:off x="4656475" y="2852225"/>
            <a:ext cx="19218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Dépôt dossiers &amp; calendrier </a:t>
            </a:r>
            <a:endParaRPr>
              <a:solidFill>
                <a:srgbClr val="1041BE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64" name="Google Shape;564;p65"/>
          <p:cNvSpPr txBox="1"/>
          <p:nvPr>
            <p:ph idx="14" type="subTitle"/>
          </p:nvPr>
        </p:nvSpPr>
        <p:spPr>
          <a:xfrm>
            <a:off x="7839475" y="2808675"/>
            <a:ext cx="2066700" cy="29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Jury </a:t>
            </a:r>
            <a:r>
              <a:rPr lang="fr">
                <a:solidFill>
                  <a:srgbClr val="E79D61"/>
                </a:solidFill>
              </a:rPr>
              <a:t> </a:t>
            </a:r>
            <a:endParaRPr>
              <a:solidFill>
                <a:srgbClr val="E79D61"/>
              </a:solidFill>
            </a:endParaRPr>
          </a:p>
        </p:txBody>
      </p:sp>
      <p:pic>
        <p:nvPicPr>
          <p:cNvPr id="565" name="Google Shape;565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45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34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83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65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312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5"/>
          <p:cNvSpPr txBox="1"/>
          <p:nvPr>
            <p:ph idx="3" type="subTitle"/>
          </p:nvPr>
        </p:nvSpPr>
        <p:spPr>
          <a:xfrm>
            <a:off x="64400" y="3164675"/>
            <a:ext cx="19725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Ciblage des typologies d’emploi et certifications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…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65"/>
          <p:cNvSpPr txBox="1"/>
          <p:nvPr>
            <p:ph idx="6" type="body"/>
          </p:nvPr>
        </p:nvSpPr>
        <p:spPr>
          <a:xfrm>
            <a:off x="934175" y="1817175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 la base du volontariat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65"/>
          <p:cNvSpPr txBox="1"/>
          <p:nvPr>
            <p:ph idx="8" type="body"/>
          </p:nvPr>
        </p:nvSpPr>
        <p:spPr>
          <a:xfrm>
            <a:off x="4644258" y="3275908"/>
            <a:ext cx="19218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Accès aux dates et infos clefs (avis recevabilité, dates jury..)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65"/>
          <p:cNvSpPr txBox="1"/>
          <p:nvPr>
            <p:ph idx="3" type="subTitle"/>
          </p:nvPr>
        </p:nvSpPr>
        <p:spPr>
          <a:xfrm>
            <a:off x="7823900" y="3018174"/>
            <a:ext cx="14901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Accès aux résultats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3" name="Google Shape;573;p65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7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65"/>
          <p:cNvSpPr/>
          <p:nvPr/>
        </p:nvSpPr>
        <p:spPr>
          <a:xfrm>
            <a:off x="5178749" y="2407939"/>
            <a:ext cx="237392" cy="290146"/>
          </a:xfrm>
          <a:custGeom>
            <a:rect b="b" l="l" r="r" t="t"/>
            <a:pathLst>
              <a:path extrusionOk="0" h="386861" w="316523">
                <a:moveTo>
                  <a:pt x="200025" y="24179"/>
                </a:moveTo>
                <a:lnTo>
                  <a:pt x="59348" y="24179"/>
                </a:lnTo>
                <a:cubicBezTo>
                  <a:pt x="40005" y="24179"/>
                  <a:pt x="24355" y="40005"/>
                  <a:pt x="24355" y="59348"/>
                </a:cubicBezTo>
                <a:lnTo>
                  <a:pt x="24179" y="340702"/>
                </a:lnTo>
                <a:cubicBezTo>
                  <a:pt x="24179" y="360045"/>
                  <a:pt x="39829" y="375871"/>
                  <a:pt x="59172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129687"/>
                </a:lnTo>
                <a:lnTo>
                  <a:pt x="200025" y="24179"/>
                </a:lnTo>
                <a:close/>
                <a:moveTo>
                  <a:pt x="59348" y="340702"/>
                </a:moveTo>
                <a:lnTo>
                  <a:pt x="59348" y="59348"/>
                </a:lnTo>
                <a:lnTo>
                  <a:pt x="182440" y="59348"/>
                </a:lnTo>
                <a:lnTo>
                  <a:pt x="182440" y="147271"/>
                </a:lnTo>
                <a:lnTo>
                  <a:pt x="270364" y="147271"/>
                </a:lnTo>
                <a:lnTo>
                  <a:pt x="270364" y="340702"/>
                </a:lnTo>
                <a:lnTo>
                  <a:pt x="59348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5" name="Google Shape;575;p65"/>
          <p:cNvSpPr/>
          <p:nvPr/>
        </p:nvSpPr>
        <p:spPr>
          <a:xfrm>
            <a:off x="7990955" y="407115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6" name="Google Shape;576;p65"/>
          <p:cNvSpPr/>
          <p:nvPr/>
        </p:nvSpPr>
        <p:spPr>
          <a:xfrm>
            <a:off x="195497" y="2407939"/>
            <a:ext cx="276958" cy="290146"/>
          </a:xfrm>
          <a:custGeom>
            <a:rect b="b" l="l" r="r" t="t"/>
            <a:pathLst>
              <a:path extrusionOk="0" h="386861" w="369277">
                <a:moveTo>
                  <a:pt x="358287" y="270364"/>
                </a:moveTo>
                <a:lnTo>
                  <a:pt x="358287" y="235194"/>
                </a:lnTo>
                <a:lnTo>
                  <a:pt x="217610" y="147271"/>
                </a:lnTo>
                <a:lnTo>
                  <a:pt x="217610" y="50556"/>
                </a:lnTo>
                <a:cubicBezTo>
                  <a:pt x="217610" y="35961"/>
                  <a:pt x="205828" y="24179"/>
                  <a:pt x="191233" y="24179"/>
                </a:cubicBezTo>
                <a:cubicBezTo>
                  <a:pt x="176638" y="24179"/>
                  <a:pt x="164856" y="35961"/>
                  <a:pt x="164856" y="50556"/>
                </a:cubicBezTo>
                <a:lnTo>
                  <a:pt x="164856" y="147271"/>
                </a:lnTo>
                <a:lnTo>
                  <a:pt x="24179" y="235194"/>
                </a:lnTo>
                <a:lnTo>
                  <a:pt x="24179" y="270364"/>
                </a:lnTo>
                <a:lnTo>
                  <a:pt x="164856" y="226402"/>
                </a:lnTo>
                <a:lnTo>
                  <a:pt x="164856" y="323118"/>
                </a:lnTo>
                <a:lnTo>
                  <a:pt x="129687" y="349494"/>
                </a:lnTo>
                <a:lnTo>
                  <a:pt x="129687" y="375871"/>
                </a:lnTo>
                <a:lnTo>
                  <a:pt x="191233" y="358287"/>
                </a:lnTo>
                <a:lnTo>
                  <a:pt x="252779" y="375871"/>
                </a:lnTo>
                <a:lnTo>
                  <a:pt x="252779" y="349494"/>
                </a:lnTo>
                <a:lnTo>
                  <a:pt x="217610" y="323118"/>
                </a:lnTo>
                <a:lnTo>
                  <a:pt x="217610" y="226402"/>
                </a:lnTo>
                <a:lnTo>
                  <a:pt x="358287" y="2703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3740804" y="2407958"/>
            <a:ext cx="237392" cy="237392"/>
          </a:xfrm>
          <a:custGeom>
            <a:rect b="b" l="l" r="r" t="t"/>
            <a:pathLst>
              <a:path extrusionOk="0" h="316523" w="316523">
                <a:moveTo>
                  <a:pt x="164856" y="59348"/>
                </a:moveTo>
                <a:cubicBezTo>
                  <a:pt x="184199" y="59348"/>
                  <a:pt x="200025" y="75174"/>
                  <a:pt x="200025" y="94517"/>
                </a:cubicBezTo>
                <a:cubicBezTo>
                  <a:pt x="200025" y="113860"/>
                  <a:pt x="184199" y="129687"/>
                  <a:pt x="164856" y="129687"/>
                </a:cubicBezTo>
                <a:cubicBezTo>
                  <a:pt x="145513" y="129687"/>
                  <a:pt x="129687" y="113860"/>
                  <a:pt x="129687" y="94517"/>
                </a:cubicBezTo>
                <a:cubicBezTo>
                  <a:pt x="129687" y="75174"/>
                  <a:pt x="145513" y="59348"/>
                  <a:pt x="164856" y="59348"/>
                </a:cubicBezTo>
                <a:moveTo>
                  <a:pt x="164856" y="235194"/>
                </a:moveTo>
                <a:cubicBezTo>
                  <a:pt x="212334" y="235194"/>
                  <a:pt x="266847" y="257879"/>
                  <a:pt x="270364" y="270364"/>
                </a:cubicBezTo>
                <a:lnTo>
                  <a:pt x="59348" y="270364"/>
                </a:lnTo>
                <a:cubicBezTo>
                  <a:pt x="63393" y="257703"/>
                  <a:pt x="117553" y="235194"/>
                  <a:pt x="164856" y="235194"/>
                </a:cubicBezTo>
                <a:moveTo>
                  <a:pt x="164856" y="24179"/>
                </a:moveTo>
                <a:cubicBezTo>
                  <a:pt x="125994" y="24179"/>
                  <a:pt x="94517" y="55655"/>
                  <a:pt x="94517" y="94517"/>
                </a:cubicBezTo>
                <a:cubicBezTo>
                  <a:pt x="94517" y="133379"/>
                  <a:pt x="125994" y="164856"/>
                  <a:pt x="164856" y="164856"/>
                </a:cubicBezTo>
                <a:cubicBezTo>
                  <a:pt x="203718" y="164856"/>
                  <a:pt x="235194" y="133379"/>
                  <a:pt x="235194" y="94517"/>
                </a:cubicBezTo>
                <a:cubicBezTo>
                  <a:pt x="235194" y="55655"/>
                  <a:pt x="203718" y="24179"/>
                  <a:pt x="164856" y="24179"/>
                </a:cubicBezTo>
                <a:close/>
                <a:moveTo>
                  <a:pt x="164856" y="200025"/>
                </a:moveTo>
                <a:cubicBezTo>
                  <a:pt x="117905" y="200025"/>
                  <a:pt x="24179" y="223589"/>
                  <a:pt x="24179" y="270364"/>
                </a:cubicBezTo>
                <a:lnTo>
                  <a:pt x="24179" y="305533"/>
                </a:lnTo>
                <a:lnTo>
                  <a:pt x="305533" y="305533"/>
                </a:lnTo>
                <a:lnTo>
                  <a:pt x="305533" y="270364"/>
                </a:lnTo>
                <a:cubicBezTo>
                  <a:pt x="305533" y="223589"/>
                  <a:pt x="211807" y="200025"/>
                  <a:pt x="164856" y="2000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8" name="Google Shape;578;p65"/>
          <p:cNvSpPr/>
          <p:nvPr/>
        </p:nvSpPr>
        <p:spPr>
          <a:xfrm>
            <a:off x="6806865" y="2447504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9" name="Google Shape;579;p65"/>
          <p:cNvSpPr txBox="1"/>
          <p:nvPr>
            <p:ph idx="6" type="body"/>
          </p:nvPr>
        </p:nvSpPr>
        <p:spPr>
          <a:xfrm>
            <a:off x="6277625" y="1825467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Suivi de l’avancement des parcours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0" name="Google Shape;580;p65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16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5"/>
          <p:cNvSpPr/>
          <p:nvPr/>
        </p:nvSpPr>
        <p:spPr>
          <a:xfrm>
            <a:off x="1386192" y="2433279"/>
            <a:ext cx="290146" cy="276958"/>
          </a:xfrm>
          <a:custGeom>
            <a:rect b="b" l="l" r="r" t="t"/>
            <a:pathLst>
              <a:path extrusionOk="0" h="369277" w="386861">
                <a:moveTo>
                  <a:pt x="279156" y="24179"/>
                </a:moveTo>
                <a:cubicBezTo>
                  <a:pt x="248559" y="24179"/>
                  <a:pt x="219192" y="38422"/>
                  <a:pt x="200025" y="60931"/>
                </a:cubicBezTo>
                <a:cubicBezTo>
                  <a:pt x="180858" y="38422"/>
                  <a:pt x="151492" y="24179"/>
                  <a:pt x="120894" y="24179"/>
                </a:cubicBezTo>
                <a:cubicBezTo>
                  <a:pt x="66734" y="24179"/>
                  <a:pt x="24179" y="66734"/>
                  <a:pt x="24179" y="120894"/>
                </a:cubicBezTo>
                <a:cubicBezTo>
                  <a:pt x="24179" y="187364"/>
                  <a:pt x="83967" y="241525"/>
                  <a:pt x="174527" y="323821"/>
                </a:cubicBezTo>
                <a:lnTo>
                  <a:pt x="200025" y="346857"/>
                </a:lnTo>
                <a:lnTo>
                  <a:pt x="225523" y="323645"/>
                </a:lnTo>
                <a:cubicBezTo>
                  <a:pt x="316084" y="241525"/>
                  <a:pt x="375871" y="187364"/>
                  <a:pt x="375871" y="120894"/>
                </a:cubicBezTo>
                <a:cubicBezTo>
                  <a:pt x="375871" y="66734"/>
                  <a:pt x="333317" y="24179"/>
                  <a:pt x="279156" y="24179"/>
                </a:cubicBezTo>
                <a:close/>
                <a:moveTo>
                  <a:pt x="201784" y="297620"/>
                </a:moveTo>
                <a:lnTo>
                  <a:pt x="200025" y="299378"/>
                </a:lnTo>
                <a:lnTo>
                  <a:pt x="198267" y="297620"/>
                </a:lnTo>
                <a:cubicBezTo>
                  <a:pt x="114564" y="221830"/>
                  <a:pt x="59348" y="171714"/>
                  <a:pt x="59348" y="120894"/>
                </a:cubicBezTo>
                <a:cubicBezTo>
                  <a:pt x="59348" y="85725"/>
                  <a:pt x="85725" y="59348"/>
                  <a:pt x="120894" y="59348"/>
                </a:cubicBezTo>
                <a:cubicBezTo>
                  <a:pt x="147975" y="59348"/>
                  <a:pt x="174352" y="76757"/>
                  <a:pt x="183671" y="100848"/>
                </a:cubicBezTo>
                <a:lnTo>
                  <a:pt x="216555" y="100848"/>
                </a:lnTo>
                <a:cubicBezTo>
                  <a:pt x="225699" y="76757"/>
                  <a:pt x="252076" y="59348"/>
                  <a:pt x="279156" y="59348"/>
                </a:cubicBezTo>
                <a:cubicBezTo>
                  <a:pt x="314325" y="59348"/>
                  <a:pt x="340702" y="85725"/>
                  <a:pt x="340702" y="120894"/>
                </a:cubicBezTo>
                <a:cubicBezTo>
                  <a:pt x="340702" y="171714"/>
                  <a:pt x="285486" y="221830"/>
                  <a:pt x="201784" y="2976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2" name="Google Shape;582;p65"/>
          <p:cNvSpPr txBox="1"/>
          <p:nvPr>
            <p:ph idx="5" type="subTitle"/>
          </p:nvPr>
        </p:nvSpPr>
        <p:spPr>
          <a:xfrm>
            <a:off x="3462800" y="1616392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Inscription candidats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83" name="Google Shape;583;p65"/>
          <p:cNvSpPr txBox="1"/>
          <p:nvPr>
            <p:ph idx="6" type="body"/>
          </p:nvPr>
        </p:nvSpPr>
        <p:spPr>
          <a:xfrm>
            <a:off x="3462800" y="1823692"/>
            <a:ext cx="22446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Paramétrage et envoi d’un lien d’inscription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65"/>
          <p:cNvSpPr/>
          <p:nvPr/>
        </p:nvSpPr>
        <p:spPr>
          <a:xfrm>
            <a:off x="534950" y="4194975"/>
            <a:ext cx="8100300" cy="48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Tableau de bord de suivi de toutes les étapes à disposition du porteur de projet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5" name="Google Shape;585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840" y="2325763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5"/>
          <p:cNvSpPr txBox="1"/>
          <p:nvPr>
            <p:ph idx="5" type="subTitle"/>
          </p:nvPr>
        </p:nvSpPr>
        <p:spPr>
          <a:xfrm>
            <a:off x="2204575" y="29290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Sélection du prestataire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87" name="Google Shape;587;p65"/>
          <p:cNvSpPr txBox="1"/>
          <p:nvPr>
            <p:ph idx="6" type="body"/>
          </p:nvPr>
        </p:nvSpPr>
        <p:spPr>
          <a:xfrm>
            <a:off x="2214719" y="3147680"/>
            <a:ext cx="19218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Depuis la liste des AAP référencés chez FVAE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65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 D’UNE VAE COLLECTIVE</a:t>
            </a:r>
            <a:endParaRPr/>
          </a:p>
        </p:txBody>
      </p:sp>
      <p:sp>
        <p:nvSpPr>
          <p:cNvPr id="589" name="Google Shape;589;p65"/>
          <p:cNvSpPr/>
          <p:nvPr/>
        </p:nvSpPr>
        <p:spPr>
          <a:xfrm>
            <a:off x="2527527" y="2406701"/>
            <a:ext cx="290146" cy="290146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90" name="Google Shape;590;p65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93" y="866605"/>
            <a:ext cx="152400" cy="170568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5"/>
          <p:cNvSpPr/>
          <p:nvPr/>
        </p:nvSpPr>
        <p:spPr>
          <a:xfrm>
            <a:off x="778388" y="427851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65"/>
          <p:cNvSpPr txBox="1"/>
          <p:nvPr>
            <p:ph idx="6" type="body"/>
          </p:nvPr>
        </p:nvSpPr>
        <p:spPr>
          <a:xfrm>
            <a:off x="317725" y="857723"/>
            <a:ext cx="19218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 sein de votre organisation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3" name="Google Shape;593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3" y="1095205"/>
            <a:ext cx="152400" cy="170568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5"/>
          <p:cNvSpPr txBox="1"/>
          <p:nvPr>
            <p:ph idx="6" type="body"/>
          </p:nvPr>
        </p:nvSpPr>
        <p:spPr>
          <a:xfrm>
            <a:off x="317725" y="1086323"/>
            <a:ext cx="19218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 sein de votre interface</a:t>
            </a: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FVAE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65"/>
          <p:cNvSpPr/>
          <p:nvPr/>
        </p:nvSpPr>
        <p:spPr>
          <a:xfrm>
            <a:off x="8018028" y="2406708"/>
            <a:ext cx="237392" cy="290146"/>
          </a:xfrm>
          <a:custGeom>
            <a:rect b="b" l="l" r="r" t="t"/>
            <a:pathLst>
              <a:path extrusionOk="0" h="386861" w="316523">
                <a:moveTo>
                  <a:pt x="270364" y="24179"/>
                </a:moveTo>
                <a:lnTo>
                  <a:pt x="59348" y="24179"/>
                </a:lnTo>
                <a:cubicBezTo>
                  <a:pt x="40005" y="24179"/>
                  <a:pt x="24179" y="40005"/>
                  <a:pt x="24179" y="59348"/>
                </a:cubicBezTo>
                <a:lnTo>
                  <a:pt x="24179" y="340702"/>
                </a:lnTo>
                <a:cubicBezTo>
                  <a:pt x="24179" y="360045"/>
                  <a:pt x="40005" y="375871"/>
                  <a:pt x="59348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59348"/>
                </a:lnTo>
                <a:cubicBezTo>
                  <a:pt x="305533" y="40005"/>
                  <a:pt x="289707" y="24179"/>
                  <a:pt x="270364" y="24179"/>
                </a:cubicBezTo>
                <a:close/>
                <a:moveTo>
                  <a:pt x="112102" y="59348"/>
                </a:moveTo>
                <a:lnTo>
                  <a:pt x="147271" y="59348"/>
                </a:lnTo>
                <a:lnTo>
                  <a:pt x="147271" y="147271"/>
                </a:lnTo>
                <a:lnTo>
                  <a:pt x="129687" y="134083"/>
                </a:lnTo>
                <a:lnTo>
                  <a:pt x="112102" y="147271"/>
                </a:lnTo>
                <a:lnTo>
                  <a:pt x="112102" y="59348"/>
                </a:lnTo>
                <a:close/>
                <a:moveTo>
                  <a:pt x="270364" y="340702"/>
                </a:moveTo>
                <a:lnTo>
                  <a:pt x="59348" y="340702"/>
                </a:lnTo>
                <a:lnTo>
                  <a:pt x="59348" y="59348"/>
                </a:lnTo>
                <a:lnTo>
                  <a:pt x="76933" y="59348"/>
                </a:lnTo>
                <a:lnTo>
                  <a:pt x="76933" y="217610"/>
                </a:lnTo>
                <a:lnTo>
                  <a:pt x="129687" y="178044"/>
                </a:lnTo>
                <a:lnTo>
                  <a:pt x="182440" y="217610"/>
                </a:lnTo>
                <a:lnTo>
                  <a:pt x="182440" y="59348"/>
                </a:lnTo>
                <a:lnTo>
                  <a:pt x="270364" y="59348"/>
                </a:lnTo>
                <a:lnTo>
                  <a:pt x="270364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6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portail numérique </a:t>
            </a:r>
            <a:br>
              <a:rPr lang="fr"/>
            </a:br>
            <a:r>
              <a:rPr lang="fr"/>
              <a:t>France VAE</a:t>
            </a:r>
            <a:endParaRPr/>
          </a:p>
        </p:txBody>
      </p:sp>
      <p:sp>
        <p:nvSpPr>
          <p:cNvPr id="601" name="Google Shape;601;p66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Des fonctionnalités adaptées à votre projet collectif</a:t>
            </a:r>
            <a:endParaRPr/>
          </a:p>
        </p:txBody>
      </p:sp>
      <p:sp>
        <p:nvSpPr>
          <p:cNvPr id="602" name="Google Shape;602;p66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7"/>
          <p:cNvSpPr/>
          <p:nvPr/>
        </p:nvSpPr>
        <p:spPr>
          <a:xfrm>
            <a:off x="3042000" y="1171275"/>
            <a:ext cx="3060000" cy="306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08" name="Google Shape;608;p67"/>
          <p:cNvSpPr/>
          <p:nvPr/>
        </p:nvSpPr>
        <p:spPr>
          <a:xfrm>
            <a:off x="2892300" y="1021575"/>
            <a:ext cx="3359400" cy="3359400"/>
          </a:xfrm>
          <a:prstGeom prst="ellipse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09" name="Google Shape;609;p67"/>
          <p:cNvSpPr txBox="1"/>
          <p:nvPr>
            <p:ph idx="3" type="body"/>
          </p:nvPr>
        </p:nvSpPr>
        <p:spPr>
          <a:xfrm>
            <a:off x="502541" y="35299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France VAE, 3 piliers qui simplifient vos projets collectifs </a:t>
            </a:r>
            <a:endParaRPr/>
          </a:p>
        </p:txBody>
      </p:sp>
      <p:sp>
        <p:nvSpPr>
          <p:cNvPr id="610" name="Google Shape;610;p67"/>
          <p:cNvSpPr txBox="1"/>
          <p:nvPr>
            <p:ph idx="4294967295" type="body"/>
          </p:nvPr>
        </p:nvSpPr>
        <p:spPr>
          <a:xfrm>
            <a:off x="417850" y="2327600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Accompagnement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11" name="Google Shape;611;p67"/>
          <p:cNvSpPr txBox="1"/>
          <p:nvPr>
            <p:ph idx="4294967295" type="body"/>
          </p:nvPr>
        </p:nvSpPr>
        <p:spPr>
          <a:xfrm>
            <a:off x="309250" y="2559275"/>
            <a:ext cx="2268600" cy="112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Mise à disposition une liste d’AAP référencés pour accompagner vos salariés.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67"/>
          <p:cNvSpPr txBox="1"/>
          <p:nvPr>
            <p:ph idx="4294967295" type="body"/>
          </p:nvPr>
        </p:nvSpPr>
        <p:spPr>
          <a:xfrm>
            <a:off x="6095114" y="1162875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Espace dédié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13" name="Google Shape;613;p67"/>
          <p:cNvSpPr txBox="1"/>
          <p:nvPr>
            <p:ph idx="4294967295" type="body"/>
          </p:nvPr>
        </p:nvSpPr>
        <p:spPr>
          <a:xfrm>
            <a:off x="6095125" y="1394550"/>
            <a:ext cx="2640300" cy="83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Accès à un o</a:t>
            </a:r>
            <a:r>
              <a:rPr lang="fr" sz="1200">
                <a:latin typeface="Roboto"/>
                <a:ea typeface="Roboto"/>
                <a:cs typeface="Roboto"/>
                <a:sym typeface="Roboto"/>
              </a:rPr>
              <a:t>util de pilotage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de vos projets et suivi des cohortes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67"/>
          <p:cNvSpPr txBox="1"/>
          <p:nvPr>
            <p:ph idx="4294967295" type="body"/>
          </p:nvPr>
        </p:nvSpPr>
        <p:spPr>
          <a:xfrm>
            <a:off x="6129129" y="3549925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Fluidité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15" name="Google Shape;615;p67"/>
          <p:cNvSpPr txBox="1"/>
          <p:nvPr>
            <p:ph idx="4294967295" type="body"/>
          </p:nvPr>
        </p:nvSpPr>
        <p:spPr>
          <a:xfrm>
            <a:off x="6129125" y="3781600"/>
            <a:ext cx="2671500" cy="83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Des échanges</a:t>
            </a:r>
            <a:r>
              <a:rPr lang="fr" sz="1200">
                <a:latin typeface="Roboto"/>
                <a:ea typeface="Roboto"/>
                <a:cs typeface="Roboto"/>
                <a:sym typeface="Roboto"/>
              </a:rPr>
              <a:t> centralisés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et simplifiés au sein d’une plateforme unique (AAP, certificateurs, candidats).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6" name="Google Shape;616;p67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200" y="2342838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7"/>
          <p:cNvSpPr/>
          <p:nvPr/>
        </p:nvSpPr>
        <p:spPr>
          <a:xfrm>
            <a:off x="2756127" y="2480005"/>
            <a:ext cx="290146" cy="290146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8" name="Google Shape;618;p67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25" y="1171188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67"/>
          <p:cNvSpPr/>
          <p:nvPr/>
        </p:nvSpPr>
        <p:spPr>
          <a:xfrm>
            <a:off x="5566463" y="1295166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20" name="Google Shape;620;p67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25" y="3575850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67"/>
          <p:cNvSpPr/>
          <p:nvPr/>
        </p:nvSpPr>
        <p:spPr>
          <a:xfrm>
            <a:off x="5579652" y="3752582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2" name="Google Shape;622;p67"/>
          <p:cNvSpPr txBox="1"/>
          <p:nvPr>
            <p:ph idx="4294967295" type="body"/>
          </p:nvPr>
        </p:nvSpPr>
        <p:spPr>
          <a:xfrm>
            <a:off x="3492000" y="2417325"/>
            <a:ext cx="21600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000"/>
              </a:spcAft>
              <a:buNone/>
            </a:pPr>
            <a:r>
              <a:rPr lang="fr"/>
              <a:t>France</a:t>
            </a:r>
            <a:br>
              <a:rPr lang="fr"/>
            </a:br>
            <a:r>
              <a:rPr lang="fr"/>
              <a:t>VAE</a:t>
            </a:r>
            <a:endParaRPr/>
          </a:p>
        </p:txBody>
      </p:sp>
      <p:sp>
        <p:nvSpPr>
          <p:cNvPr id="623" name="Google Shape;623;p67"/>
          <p:cNvSpPr/>
          <p:nvPr/>
        </p:nvSpPr>
        <p:spPr>
          <a:xfrm>
            <a:off x="349090" y="5479650"/>
            <a:ext cx="4007400" cy="2236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 Medium"/>
                <a:ea typeface="Roboto Medium"/>
                <a:cs typeface="Roboto Medium"/>
                <a:sym typeface="Roboto Medium"/>
              </a:rPr>
              <a:t>@victor 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 Medium"/>
                <a:ea typeface="Roboto Medium"/>
                <a:cs typeface="Roboto Medium"/>
                <a:sym typeface="Roboto Medium"/>
              </a:rPr>
              <a:t>je mettrais bien cette slide en intro des 3 points puis : focus accompagnement avec la slide accompagnement </a:t>
            </a:r>
            <a:br>
              <a:rPr lang="fr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fr">
                <a:latin typeface="Roboto Medium"/>
                <a:ea typeface="Roboto Medium"/>
                <a:cs typeface="Roboto Medium"/>
                <a:sym typeface="Roboto Medium"/>
              </a:rPr>
              <a:t>focus pilotage avec partie </a:t>
            </a:r>
            <a:r>
              <a:rPr lang="fr">
                <a:latin typeface="Roboto Medium"/>
                <a:ea typeface="Roboto Medium"/>
                <a:cs typeface="Roboto Medium"/>
                <a:sym typeface="Roboto Medium"/>
              </a:rPr>
              <a:t>paramétrage</a:t>
            </a:r>
            <a:r>
              <a:rPr lang="fr">
                <a:latin typeface="Roboto Medium"/>
                <a:ea typeface="Roboto Medium"/>
                <a:cs typeface="Roboto Medium"/>
                <a:sym typeface="Roboto Medium"/>
              </a:rPr>
              <a:t> et espace dédié</a:t>
            </a:r>
            <a:br>
              <a:rPr lang="fr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fr">
                <a:latin typeface="Roboto Medium"/>
                <a:ea typeface="Roboto Medium"/>
                <a:cs typeface="Roboto Medium"/>
                <a:sym typeface="Roboto Medium"/>
              </a:rPr>
              <a:t>focus fluidité avec l’espace candidat et le parcours 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 Medium"/>
                <a:ea typeface="Roboto Medium"/>
                <a:cs typeface="Roboto Medium"/>
                <a:sym typeface="Roboto Medium"/>
              </a:rPr>
              <a:t>dis moi si ça te va et je teste ça ;)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4" name="Google Shape;624;p67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8"/>
          <p:cNvSpPr txBox="1"/>
          <p:nvPr>
            <p:ph idx="4294967295" type="body"/>
          </p:nvPr>
        </p:nvSpPr>
        <p:spPr>
          <a:xfrm>
            <a:off x="5749850" y="2440500"/>
            <a:ext cx="2160000" cy="93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co-construit avec le candidat un parcours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visant à maximiser ses chances de réussite et l’accompagne dans la mobilisation du financement de son parcours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68"/>
          <p:cNvSpPr txBox="1"/>
          <p:nvPr>
            <p:ph type="title"/>
          </p:nvPr>
        </p:nvSpPr>
        <p:spPr>
          <a:xfrm>
            <a:off x="503050" y="884700"/>
            <a:ext cx="8270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800">
                <a:solidFill>
                  <a:srgbClr val="002060"/>
                </a:solidFill>
              </a:rPr>
              <a:t>Mise à disposition d’une liste d’AAP référencés </a:t>
            </a:r>
            <a:endParaRPr sz="18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68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3" name="Google Shape;633;p68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6907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68"/>
          <p:cNvSpPr txBox="1"/>
          <p:nvPr>
            <p:ph idx="4294967295" type="body"/>
          </p:nvPr>
        </p:nvSpPr>
        <p:spPr>
          <a:xfrm>
            <a:off x="935232" y="362825"/>
            <a:ext cx="35199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Accompagnement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68"/>
          <p:cNvSpPr/>
          <p:nvPr/>
        </p:nvSpPr>
        <p:spPr>
          <a:xfrm>
            <a:off x="630206" y="449435"/>
            <a:ext cx="179890" cy="179890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6" name="Google Shape;636;p68"/>
          <p:cNvSpPr txBox="1"/>
          <p:nvPr>
            <p:ph idx="4294967295" type="body"/>
          </p:nvPr>
        </p:nvSpPr>
        <p:spPr>
          <a:xfrm>
            <a:off x="3127550" y="1545425"/>
            <a:ext cx="54414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Un accompagnement tout au long</a:t>
            </a:r>
            <a:br>
              <a:rPr lang="fr">
                <a:solidFill>
                  <a:srgbClr val="1041BE"/>
                </a:solidFill>
              </a:rPr>
            </a:br>
            <a:r>
              <a:rPr lang="fr">
                <a:solidFill>
                  <a:srgbClr val="1041BE"/>
                </a:solidFill>
              </a:rPr>
              <a:t>du parcours de VAE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37" name="Google Shape;637;p68"/>
          <p:cNvSpPr txBox="1"/>
          <p:nvPr>
            <p:ph idx="4294967295" type="body"/>
          </p:nvPr>
        </p:nvSpPr>
        <p:spPr>
          <a:xfrm>
            <a:off x="3127550" y="2440500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conforte ou réoriente le candidat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dès le premier RDV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8" name="Google Shape;638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1545425"/>
            <a:ext cx="2164050" cy="2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68"/>
          <p:cNvSpPr txBox="1"/>
          <p:nvPr>
            <p:ph idx="4294967295" type="body"/>
          </p:nvPr>
        </p:nvSpPr>
        <p:spPr>
          <a:xfrm>
            <a:off x="3127550" y="3497725"/>
            <a:ext cx="2160000" cy="1033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réalise un diagnostic de faisabilité et prononce un avis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, le certificateur restant souverain de sa décision.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68"/>
          <p:cNvSpPr txBox="1"/>
          <p:nvPr>
            <p:ph idx="4294967295" type="body"/>
          </p:nvPr>
        </p:nvSpPr>
        <p:spPr>
          <a:xfrm>
            <a:off x="5749850" y="3497725"/>
            <a:ext cx="2160000" cy="121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réalise un accompagnement méthodologique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à la rédaction du dossier de validation et préparation au jury, et si besoin, un entretien post-jury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9"/>
          <p:cNvSpPr txBox="1"/>
          <p:nvPr>
            <p:ph idx="4294967295" type="body"/>
          </p:nvPr>
        </p:nvSpPr>
        <p:spPr>
          <a:xfrm>
            <a:off x="5749850" y="1985650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L’ensemble des AAP sur France VAE est certifié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Qualiopi VAE.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69"/>
          <p:cNvSpPr txBox="1"/>
          <p:nvPr>
            <p:ph idx="4294967295" type="body"/>
          </p:nvPr>
        </p:nvSpPr>
        <p:spPr>
          <a:xfrm>
            <a:off x="3127550" y="1985650"/>
            <a:ext cx="2160000" cy="166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se référence sur la base des critères suivants :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Roboto"/>
              <a:buChar char="●"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par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niveau de certification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et sous domaines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Formacode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,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Roboto"/>
              <a:buChar char="●"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par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modalités d’accompagnement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(distanciel, présentiel) et de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financement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69"/>
          <p:cNvSpPr txBox="1"/>
          <p:nvPr>
            <p:ph type="title"/>
          </p:nvPr>
        </p:nvSpPr>
        <p:spPr>
          <a:xfrm>
            <a:off x="503050" y="884700"/>
            <a:ext cx="8270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800">
                <a:solidFill>
                  <a:srgbClr val="002060"/>
                </a:solidFill>
              </a:rPr>
              <a:t>Mise à disposition d’une liste d’AAP référencés </a:t>
            </a:r>
            <a:endParaRPr sz="18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69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0" name="Google Shape;650;p69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6907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69"/>
          <p:cNvSpPr txBox="1"/>
          <p:nvPr>
            <p:ph idx="4294967295" type="body"/>
          </p:nvPr>
        </p:nvSpPr>
        <p:spPr>
          <a:xfrm>
            <a:off x="935232" y="362825"/>
            <a:ext cx="35199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Accompagnement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9"/>
          <p:cNvSpPr/>
          <p:nvPr/>
        </p:nvSpPr>
        <p:spPr>
          <a:xfrm>
            <a:off x="630206" y="449435"/>
            <a:ext cx="179890" cy="179890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3" name="Google Shape;653;p69"/>
          <p:cNvSpPr txBox="1"/>
          <p:nvPr>
            <p:ph idx="4294967295" type="body"/>
          </p:nvPr>
        </p:nvSpPr>
        <p:spPr>
          <a:xfrm>
            <a:off x="3127550" y="1545425"/>
            <a:ext cx="5441400" cy="318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Un référencement de qualité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54" name="Google Shape;654;p69"/>
          <p:cNvSpPr txBox="1"/>
          <p:nvPr>
            <p:ph idx="4294967295" type="body"/>
          </p:nvPr>
        </p:nvSpPr>
        <p:spPr>
          <a:xfrm>
            <a:off x="5749850" y="3079050"/>
            <a:ext cx="2160000" cy="1593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Ce référencement autorise la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mobilisation des financements </a:t>
            </a:r>
            <a:r>
              <a:rPr i="1" lang="fr" sz="1000">
                <a:latin typeface="Roboto"/>
                <a:ea typeface="Roboto"/>
                <a:cs typeface="Roboto"/>
                <a:sym typeface="Roboto"/>
              </a:rPr>
              <a:t>(décret en cours de rédaction et de publication).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5" name="Google Shape;65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1545425"/>
            <a:ext cx="2160000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9"/>
          <p:cNvSpPr txBox="1"/>
          <p:nvPr>
            <p:ph idx="4294967295" type="body"/>
          </p:nvPr>
        </p:nvSpPr>
        <p:spPr>
          <a:xfrm>
            <a:off x="5749850" y="2547763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Des contrôles et audits réguliers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menés par l’équipe France VAE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0"/>
          <p:cNvSpPr txBox="1"/>
          <p:nvPr>
            <p:ph idx="2" type="body"/>
          </p:nvPr>
        </p:nvSpPr>
        <p:spPr>
          <a:xfrm>
            <a:off x="502550" y="1152825"/>
            <a:ext cx="2883000" cy="54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Accès à un outil de pilotage</a:t>
            </a:r>
            <a:b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de vos projets et suivi des cohortes</a:t>
            </a:r>
            <a:endParaRPr b="1" sz="12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70"/>
          <p:cNvSpPr txBox="1"/>
          <p:nvPr>
            <p:ph idx="3" type="body"/>
          </p:nvPr>
        </p:nvSpPr>
        <p:spPr>
          <a:xfrm>
            <a:off x="502550" y="1885588"/>
            <a:ext cx="2883000" cy="63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latin typeface="Roboto Medium"/>
                <a:ea typeface="Roboto Medium"/>
                <a:cs typeface="Roboto Medium"/>
                <a:sym typeface="Roboto Medium"/>
              </a:rPr>
              <a:t>Outil de gestion de projet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/>
              <a:t>Créez</a:t>
            </a:r>
            <a:r>
              <a:rPr lang="fr" sz="1200"/>
              <a:t> et pilotez efficacement</a:t>
            </a:r>
            <a:endParaRPr sz="12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3" name="Google Shape;663;p70"/>
          <p:cNvSpPr txBox="1"/>
          <p:nvPr>
            <p:ph idx="2" type="body"/>
          </p:nvPr>
        </p:nvSpPr>
        <p:spPr>
          <a:xfrm>
            <a:off x="522800" y="2736900"/>
            <a:ext cx="2842500" cy="56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Pilotage et suivi</a:t>
            </a:r>
            <a:endParaRPr sz="1600"/>
          </a:p>
        </p:txBody>
      </p:sp>
      <p:sp>
        <p:nvSpPr>
          <p:cNvPr id="664" name="Google Shape;664;p70"/>
          <p:cNvSpPr txBox="1"/>
          <p:nvPr>
            <p:ph idx="3" type="body"/>
          </p:nvPr>
        </p:nvSpPr>
        <p:spPr>
          <a:xfrm>
            <a:off x="502550" y="3118475"/>
            <a:ext cx="5325600" cy="5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Suivez l’état d’avancement des parcours</a:t>
            </a:r>
            <a:endParaRPr sz="1200"/>
          </a:p>
        </p:txBody>
      </p:sp>
      <p:sp>
        <p:nvSpPr>
          <p:cNvPr id="665" name="Google Shape;665;p70"/>
          <p:cNvSpPr txBox="1"/>
          <p:nvPr>
            <p:ph idx="2" type="body"/>
          </p:nvPr>
        </p:nvSpPr>
        <p:spPr>
          <a:xfrm>
            <a:off x="502560" y="351110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Données clés</a:t>
            </a:r>
            <a:endParaRPr sz="1600"/>
          </a:p>
        </p:txBody>
      </p:sp>
      <p:sp>
        <p:nvSpPr>
          <p:cNvPr id="666" name="Google Shape;666;p70"/>
          <p:cNvSpPr txBox="1"/>
          <p:nvPr>
            <p:ph idx="3" type="body"/>
          </p:nvPr>
        </p:nvSpPr>
        <p:spPr>
          <a:xfrm>
            <a:off x="503050" y="3885925"/>
            <a:ext cx="2523000" cy="95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Obtenez des indicateurs sur l’avancement via un tableau de bord Metabase </a:t>
            </a:r>
            <a:endParaRPr sz="1200"/>
          </a:p>
        </p:txBody>
      </p:sp>
      <p:sp>
        <p:nvSpPr>
          <p:cNvPr id="667" name="Google Shape;667;p70"/>
          <p:cNvSpPr txBox="1"/>
          <p:nvPr>
            <p:ph idx="3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pic>
        <p:nvPicPr>
          <p:cNvPr id="668" name="Google Shape;668;p70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374658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70"/>
          <p:cNvSpPr txBox="1"/>
          <p:nvPr>
            <p:ph idx="4294967295" type="body"/>
          </p:nvPr>
        </p:nvSpPr>
        <p:spPr>
          <a:xfrm>
            <a:off x="933029" y="36502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Votre espace dédié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70"/>
          <p:cNvSpPr/>
          <p:nvPr/>
        </p:nvSpPr>
        <p:spPr>
          <a:xfrm>
            <a:off x="629040" y="446034"/>
            <a:ext cx="182528" cy="182528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1" name="Google Shape;671;p70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70">
            <a:hlinkClick r:id="rId5"/>
          </p:cNvPr>
          <p:cNvSpPr/>
          <p:nvPr/>
        </p:nvSpPr>
        <p:spPr>
          <a:xfrm>
            <a:off x="6277400" y="4712325"/>
            <a:ext cx="2633400" cy="3249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Démo du prototype -&gt;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70"/>
          <p:cNvSpPr txBox="1"/>
          <p:nvPr>
            <p:ph idx="4294967295" type="body"/>
          </p:nvPr>
        </p:nvSpPr>
        <p:spPr>
          <a:xfrm>
            <a:off x="970479" y="-60887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Espace dédié</a:t>
            </a:r>
            <a:endParaRPr b="1" sz="2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70"/>
          <p:cNvSpPr/>
          <p:nvPr/>
        </p:nvSpPr>
        <p:spPr>
          <a:xfrm>
            <a:off x="3703500" y="878725"/>
            <a:ext cx="5440500" cy="30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5" name="Google Shape;675;p70"/>
          <p:cNvSpPr/>
          <p:nvPr/>
        </p:nvSpPr>
        <p:spPr>
          <a:xfrm>
            <a:off x="3714200" y="889425"/>
            <a:ext cx="5429700" cy="36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Votre espace entreprise</a:t>
            </a:r>
            <a:endParaRPr b="1"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70"/>
          <p:cNvSpPr/>
          <p:nvPr/>
        </p:nvSpPr>
        <p:spPr>
          <a:xfrm>
            <a:off x="3955025" y="1424550"/>
            <a:ext cx="2434800" cy="1102200"/>
          </a:xfrm>
          <a:prstGeom prst="roundRect">
            <a:avLst>
              <a:gd fmla="val 8252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J’accède à mon espace connecté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7" name="Google Shape;677;p70"/>
          <p:cNvSpPr/>
          <p:nvPr/>
        </p:nvSpPr>
        <p:spPr>
          <a:xfrm>
            <a:off x="6524300" y="1424550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sélectionne l’organisme d’accompagnement de mes candidats (AAP)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8" name="Google Shape;678;p70"/>
          <p:cNvSpPr/>
          <p:nvPr/>
        </p:nvSpPr>
        <p:spPr>
          <a:xfrm>
            <a:off x="3955025" y="2648275"/>
            <a:ext cx="2434800" cy="1102200"/>
          </a:xfrm>
          <a:prstGeom prst="roundRect">
            <a:avLst>
              <a:gd fmla="val 873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crée et je suis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9" name="Google Shape;679;p70"/>
          <p:cNvSpPr/>
          <p:nvPr/>
        </p:nvSpPr>
        <p:spPr>
          <a:xfrm>
            <a:off x="6524300" y="2648275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pilote mon projet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Une image contenant Graphique, graphisme, Police, logo&#10;&#10;Description générée automatiquement" id="680" name="Google Shape;680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4197" y="886199"/>
            <a:ext cx="669027" cy="3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1"/>
          <p:cNvSpPr txBox="1"/>
          <p:nvPr>
            <p:ph idx="2" type="body"/>
          </p:nvPr>
        </p:nvSpPr>
        <p:spPr>
          <a:xfrm>
            <a:off x="503050" y="894113"/>
            <a:ext cx="2980800" cy="102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Des échanges centralisés </a:t>
            </a:r>
            <a:b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et simplifiés au sein d’une plateforme unique (AAP, certificateurs, candidats).</a:t>
            </a:r>
            <a:endParaRPr b="1" sz="12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6" name="Google Shape;686;p71" title="interface commanditaires cible@2x.png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475" r="475" t="0"/>
          <a:stretch/>
        </p:blipFill>
        <p:spPr>
          <a:xfrm>
            <a:off x="3703179" y="873140"/>
            <a:ext cx="5419199" cy="3077100"/>
          </a:xfrm>
          <a:prstGeom prst="rect">
            <a:avLst/>
          </a:prstGeom>
        </p:spPr>
      </p:pic>
      <p:sp>
        <p:nvSpPr>
          <p:cNvPr id="687" name="Google Shape;687;p71"/>
          <p:cNvSpPr txBox="1"/>
          <p:nvPr>
            <p:ph idx="3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Tableau de bord du candidat sur France VAE.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688" name="Google Shape;688;p71"/>
          <p:cNvSpPr/>
          <p:nvPr/>
        </p:nvSpPr>
        <p:spPr>
          <a:xfrm>
            <a:off x="5579652" y="3752582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9" name="Google Shape;689;p71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71"/>
          <p:cNvSpPr txBox="1"/>
          <p:nvPr>
            <p:ph idx="4294967295" type="body"/>
          </p:nvPr>
        </p:nvSpPr>
        <p:spPr>
          <a:xfrm>
            <a:off x="933029" y="36502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Fluidité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1" name="Google Shape;691;p71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374650"/>
            <a:ext cx="290148" cy="324958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71"/>
          <p:cNvSpPr/>
          <p:nvPr/>
        </p:nvSpPr>
        <p:spPr>
          <a:xfrm>
            <a:off x="636632" y="476392"/>
            <a:ext cx="167317" cy="121686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93" name="Google Shape;693;p71"/>
          <p:cNvPicPr preferRelativeResize="0"/>
          <p:nvPr/>
        </p:nvPicPr>
        <p:blipFill rotWithShape="1">
          <a:blip r:embed="rId5">
            <a:alphaModFix/>
          </a:blip>
          <a:srcRect b="12724" l="0" r="0" t="19048"/>
          <a:stretch/>
        </p:blipFill>
        <p:spPr>
          <a:xfrm>
            <a:off x="3703175" y="873150"/>
            <a:ext cx="5440826" cy="328128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71"/>
          <p:cNvSpPr txBox="1"/>
          <p:nvPr>
            <p:ph idx="2" type="body"/>
          </p:nvPr>
        </p:nvSpPr>
        <p:spPr>
          <a:xfrm>
            <a:off x="502560" y="1874038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Centralisation des échanges</a:t>
            </a:r>
            <a:endParaRPr sz="1600"/>
          </a:p>
        </p:txBody>
      </p:sp>
      <p:sp>
        <p:nvSpPr>
          <p:cNvPr id="695" name="Google Shape;695;p71"/>
          <p:cNvSpPr txBox="1"/>
          <p:nvPr>
            <p:ph idx="3" type="body"/>
          </p:nvPr>
        </p:nvSpPr>
        <p:spPr>
          <a:xfrm>
            <a:off x="502550" y="2113413"/>
            <a:ext cx="2596200" cy="678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/>
              <a:t>Chaque rôle dispose de son espace pour suivre et orchestrer la VAE collective.</a:t>
            </a:r>
            <a:endParaRPr sz="1200"/>
          </a:p>
        </p:txBody>
      </p:sp>
      <p:sp>
        <p:nvSpPr>
          <p:cNvPr id="696" name="Google Shape;696;p71"/>
          <p:cNvSpPr txBox="1"/>
          <p:nvPr>
            <p:ph idx="2" type="body"/>
          </p:nvPr>
        </p:nvSpPr>
        <p:spPr>
          <a:xfrm>
            <a:off x="498885" y="297120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Pour le candidat</a:t>
            </a:r>
            <a:endParaRPr sz="1600"/>
          </a:p>
        </p:txBody>
      </p:sp>
      <p:sp>
        <p:nvSpPr>
          <p:cNvPr id="697" name="Google Shape;697;p71"/>
          <p:cNvSpPr txBox="1"/>
          <p:nvPr>
            <p:ph idx="3" type="body"/>
          </p:nvPr>
        </p:nvSpPr>
        <p:spPr>
          <a:xfrm>
            <a:off x="498875" y="3210575"/>
            <a:ext cx="2596200" cy="253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/>
              <a:t>Espace dédié de suivi de parcours</a:t>
            </a:r>
            <a:endParaRPr sz="1200"/>
          </a:p>
        </p:txBody>
      </p:sp>
      <p:sp>
        <p:nvSpPr>
          <p:cNvPr id="698" name="Google Shape;698;p71"/>
          <p:cNvSpPr txBox="1"/>
          <p:nvPr>
            <p:ph idx="2" type="body"/>
          </p:nvPr>
        </p:nvSpPr>
        <p:spPr>
          <a:xfrm>
            <a:off x="498885" y="3580800"/>
            <a:ext cx="5325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Pour les AAP et le certificateur</a:t>
            </a:r>
            <a:endParaRPr sz="1600"/>
          </a:p>
        </p:txBody>
      </p:sp>
      <p:sp>
        <p:nvSpPr>
          <p:cNvPr id="699" name="Google Shape;699;p71"/>
          <p:cNvSpPr txBox="1"/>
          <p:nvPr>
            <p:ph idx="3" type="body"/>
          </p:nvPr>
        </p:nvSpPr>
        <p:spPr>
          <a:xfrm>
            <a:off x="498875" y="3820175"/>
            <a:ext cx="2596200" cy="89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/>
              <a:t>Espace dédié de suivi des cohortes, centralisation et efficacité des échanges autour de la recevabilité, dossier de validation…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2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Lancement de votre </a:t>
            </a:r>
            <a:br>
              <a:rPr lang="fr"/>
            </a:br>
            <a:r>
              <a:rPr lang="fr"/>
              <a:t>projet collectif</a:t>
            </a:r>
            <a:endParaRPr/>
          </a:p>
        </p:txBody>
      </p:sp>
      <p:sp>
        <p:nvSpPr>
          <p:cNvPr id="705" name="Google Shape;705;p72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3"/>
          <p:cNvSpPr txBox="1"/>
          <p:nvPr>
            <p:ph idx="12" type="sldNum"/>
          </p:nvPr>
        </p:nvSpPr>
        <p:spPr>
          <a:xfrm>
            <a:off x="6709194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12" name="Google Shape;71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47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9412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73"/>
          <p:cNvSpPr/>
          <p:nvPr/>
        </p:nvSpPr>
        <p:spPr>
          <a:xfrm>
            <a:off x="1250209" y="1992093"/>
            <a:ext cx="222600" cy="22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00009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</a:t>
            </a:r>
            <a:endParaRPr i="0" sz="1100" u="none" cap="none" strike="noStrike">
              <a:solidFill>
                <a:srgbClr val="00009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15" name="Google Shape;715;p73"/>
          <p:cNvSpPr/>
          <p:nvPr/>
        </p:nvSpPr>
        <p:spPr>
          <a:xfrm>
            <a:off x="4433968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716" name="Google Shape;71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5309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7" name="Google Shape;717;p73"/>
          <p:cNvCxnSpPr>
            <a:stCxn id="713" idx="3"/>
            <a:endCxn id="716" idx="1"/>
          </p:cNvCxnSpPr>
          <p:nvPr/>
        </p:nvCxnSpPr>
        <p:spPr>
          <a:xfrm>
            <a:off x="5261275" y="2797773"/>
            <a:ext cx="363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718" name="Google Shape;71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1203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9" name="Google Shape;719;p73"/>
          <p:cNvCxnSpPr>
            <a:endCxn id="718" idx="1"/>
          </p:cNvCxnSpPr>
          <p:nvPr/>
        </p:nvCxnSpPr>
        <p:spPr>
          <a:xfrm>
            <a:off x="7039803" y="2797773"/>
            <a:ext cx="371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0" name="Google Shape;720;p73"/>
          <p:cNvSpPr/>
          <p:nvPr/>
        </p:nvSpPr>
        <p:spPr>
          <a:xfrm>
            <a:off x="8015905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21" name="Google Shape;721;p73"/>
          <p:cNvSpPr/>
          <p:nvPr/>
        </p:nvSpPr>
        <p:spPr>
          <a:xfrm>
            <a:off x="788788" y="1292756"/>
            <a:ext cx="1145400" cy="19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Aujourd’hui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2" name="Google Shape;722;p73"/>
          <p:cNvCxnSpPr>
            <a:stCxn id="721" idx="2"/>
            <a:endCxn id="714" idx="0"/>
          </p:cNvCxnSpPr>
          <p:nvPr/>
        </p:nvCxnSpPr>
        <p:spPr>
          <a:xfrm>
            <a:off x="1361488" y="1490156"/>
            <a:ext cx="0" cy="501900"/>
          </a:xfrm>
          <a:prstGeom prst="straightConnector1">
            <a:avLst/>
          </a:prstGeom>
          <a:noFill/>
          <a:ln cap="flat" cmpd="sng" w="9525">
            <a:solidFill>
              <a:srgbClr val="00009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23" name="Google Shape;723;p73"/>
          <p:cNvSpPr txBox="1"/>
          <p:nvPr/>
        </p:nvSpPr>
        <p:spPr>
          <a:xfrm>
            <a:off x="729075" y="2408928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Rdv avec une chargée de déploiement France VAE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73"/>
          <p:cNvSpPr txBox="1"/>
          <p:nvPr/>
        </p:nvSpPr>
        <p:spPr>
          <a:xfrm>
            <a:off x="3977719" y="2573034"/>
            <a:ext cx="1145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Renseignement d’un f</a:t>
            </a: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ormulaire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infos clés sur votre projet de VAE collective 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73"/>
          <p:cNvSpPr txBox="1"/>
          <p:nvPr/>
        </p:nvSpPr>
        <p:spPr>
          <a:xfrm>
            <a:off x="5798191" y="2501484"/>
            <a:ext cx="114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Création de </a:t>
            </a:r>
            <a:b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votre compte et de votre cohorte  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par France VAE</a:t>
            </a:r>
            <a:b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(sous 48h)</a:t>
            </a:r>
            <a:endParaRPr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73"/>
          <p:cNvSpPr txBox="1"/>
          <p:nvPr/>
        </p:nvSpPr>
        <p:spPr>
          <a:xfrm>
            <a:off x="7549509" y="2429934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Réception d’un lien d’inscription</a:t>
            </a:r>
            <a:endParaRPr b="1"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à communiquer à vos candidats</a:t>
            </a:r>
            <a:endParaRPr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73">
            <a:hlinkClick r:id="rId4"/>
          </p:cNvPr>
          <p:cNvSpPr/>
          <p:nvPr/>
        </p:nvSpPr>
        <p:spPr>
          <a:xfrm>
            <a:off x="3767325" y="3617150"/>
            <a:ext cx="1590600" cy="2226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0" lIns="135000" spcFirstLastPara="1" rIns="135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" sz="9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Accéder au formulaire -&gt;</a:t>
            </a:r>
            <a:endParaRPr b="1" i="0" sz="9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73"/>
          <p:cNvSpPr/>
          <p:nvPr/>
        </p:nvSpPr>
        <p:spPr>
          <a:xfrm>
            <a:off x="3834350" y="1292756"/>
            <a:ext cx="1421700" cy="197400"/>
          </a:xfrm>
          <a:prstGeom prst="roundRect">
            <a:avLst>
              <a:gd fmla="val 16667" name="adj"/>
            </a:avLst>
          </a:prstGeom>
          <a:solidFill>
            <a:srgbClr val="0000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prochaine étape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9" name="Google Shape;729;p73"/>
          <p:cNvCxnSpPr>
            <a:stCxn id="728" idx="2"/>
            <a:endCxn id="715" idx="0"/>
          </p:cNvCxnSpPr>
          <p:nvPr/>
        </p:nvCxnSpPr>
        <p:spPr>
          <a:xfrm>
            <a:off x="4545200" y="1490156"/>
            <a:ext cx="0" cy="501900"/>
          </a:xfrm>
          <a:prstGeom prst="straightConnector1">
            <a:avLst/>
          </a:prstGeom>
          <a:noFill/>
          <a:ln cap="flat" cmpd="sng" w="9525">
            <a:solidFill>
              <a:srgbClr val="00009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730" name="Google Shape;73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122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3"/>
          <p:cNvSpPr txBox="1"/>
          <p:nvPr/>
        </p:nvSpPr>
        <p:spPr>
          <a:xfrm>
            <a:off x="2390053" y="2640534"/>
            <a:ext cx="11454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Consultation et sélection d’un AAP référencé France VAE 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73"/>
          <p:cNvSpPr/>
          <p:nvPr/>
        </p:nvSpPr>
        <p:spPr>
          <a:xfrm>
            <a:off x="7728925" y="1292756"/>
            <a:ext cx="1421700" cy="197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🏁 Le projet est lancé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73"/>
          <p:cNvSpPr/>
          <p:nvPr/>
        </p:nvSpPr>
        <p:spPr>
          <a:xfrm>
            <a:off x="2814743" y="1992093"/>
            <a:ext cx="222600" cy="22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00009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</a:t>
            </a:r>
            <a:endParaRPr sz="1100">
              <a:solidFill>
                <a:srgbClr val="00009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34" name="Google Shape;734;p73"/>
          <p:cNvSpPr/>
          <p:nvPr/>
        </p:nvSpPr>
        <p:spPr>
          <a:xfrm>
            <a:off x="6172830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35" name="Google Shape;735;p73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LANCEMENT DE VOTRE PROJET COLLECTIF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73"/>
          <p:cNvSpPr txBox="1"/>
          <p:nvPr/>
        </p:nvSpPr>
        <p:spPr>
          <a:xfrm>
            <a:off x="502541" y="360587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Le démarrage de votre projet collectif en 5 étapes</a:t>
            </a:r>
            <a:endParaRPr b="1" sz="23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7" name="Google Shape;737;p73"/>
          <p:cNvCxnSpPr>
            <a:stCxn id="712" idx="3"/>
            <a:endCxn id="730" idx="1"/>
          </p:cNvCxnSpPr>
          <p:nvPr/>
        </p:nvCxnSpPr>
        <p:spPr>
          <a:xfrm>
            <a:off x="2012710" y="2797773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8" name="Google Shape;738;p73"/>
          <p:cNvCxnSpPr>
            <a:stCxn id="730" idx="3"/>
            <a:endCxn id="713" idx="1"/>
          </p:cNvCxnSpPr>
          <p:nvPr/>
        </p:nvCxnSpPr>
        <p:spPr>
          <a:xfrm>
            <a:off x="3636985" y="2797773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4"/>
          <p:cNvSpPr txBox="1"/>
          <p:nvPr>
            <p:ph type="ctrTitle"/>
          </p:nvPr>
        </p:nvSpPr>
        <p:spPr>
          <a:xfrm>
            <a:off x="2863400" y="2125275"/>
            <a:ext cx="5705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Co-construction de l’outil de pilotage qui vous correspond</a:t>
            </a:r>
            <a:endParaRPr/>
          </a:p>
        </p:txBody>
      </p:sp>
      <p:sp>
        <p:nvSpPr>
          <p:cNvPr id="744" name="Google Shape;744;p7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5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</a:pPr>
            <a:r>
              <a:rPr lang="fr"/>
              <a:t>LANCEMENT DE VOTRE PROJET COLLECTIF</a:t>
            </a:r>
            <a:endParaRPr/>
          </a:p>
        </p:txBody>
      </p:sp>
      <p:sp>
        <p:nvSpPr>
          <p:cNvPr id="750" name="Google Shape;750;p75"/>
          <p:cNvSpPr txBox="1"/>
          <p:nvPr>
            <p:ph idx="2" type="body"/>
          </p:nvPr>
        </p:nvSpPr>
        <p:spPr>
          <a:xfrm>
            <a:off x="474225" y="457200"/>
            <a:ext cx="3996900" cy="42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/>
              <a:t>Intégrez notre programme de co-conception de l’offre de VAE collective</a:t>
            </a:r>
            <a:endParaRPr sz="3200"/>
          </a:p>
        </p:txBody>
      </p:sp>
      <p:sp>
        <p:nvSpPr>
          <p:cNvPr id="751" name="Google Shape;751;p75"/>
          <p:cNvSpPr txBox="1"/>
          <p:nvPr>
            <p:ph idx="3" type="body"/>
          </p:nvPr>
        </p:nvSpPr>
        <p:spPr>
          <a:xfrm>
            <a:off x="6093050" y="755850"/>
            <a:ext cx="297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Atelier d’embarquement</a:t>
            </a:r>
            <a:endParaRPr/>
          </a:p>
        </p:txBody>
      </p:sp>
      <p:sp>
        <p:nvSpPr>
          <p:cNvPr id="752" name="Google Shape;752;p75"/>
          <p:cNvSpPr txBox="1"/>
          <p:nvPr>
            <p:ph idx="4" type="body"/>
          </p:nvPr>
        </p:nvSpPr>
        <p:spPr>
          <a:xfrm>
            <a:off x="6093050" y="1114225"/>
            <a:ext cx="2619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Votre chef de projet participe </a:t>
            </a:r>
            <a:br>
              <a:rPr lang="fr"/>
            </a:br>
            <a:r>
              <a:rPr lang="fr"/>
              <a:t>à une réunion d’embarquement</a:t>
            </a:r>
            <a:endParaRPr/>
          </a:p>
        </p:txBody>
      </p:sp>
      <p:sp>
        <p:nvSpPr>
          <p:cNvPr id="753" name="Google Shape;753;p75"/>
          <p:cNvSpPr txBox="1"/>
          <p:nvPr>
            <p:ph idx="5" type="body"/>
          </p:nvPr>
        </p:nvSpPr>
        <p:spPr>
          <a:xfrm>
            <a:off x="6093056" y="2095283"/>
            <a:ext cx="247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Préfiguration</a:t>
            </a:r>
            <a:endParaRPr/>
          </a:p>
        </p:txBody>
      </p:sp>
      <p:sp>
        <p:nvSpPr>
          <p:cNvPr id="754" name="Google Shape;754;p75"/>
          <p:cNvSpPr txBox="1"/>
          <p:nvPr>
            <p:ph idx="6" type="body"/>
          </p:nvPr>
        </p:nvSpPr>
        <p:spPr>
          <a:xfrm>
            <a:off x="6093056" y="2453661"/>
            <a:ext cx="24759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Testez la solution </a:t>
            </a:r>
            <a:br>
              <a:rPr lang="fr"/>
            </a:br>
            <a:r>
              <a:rPr lang="fr"/>
              <a:t>avec un groupe pilote</a:t>
            </a:r>
            <a:endParaRPr/>
          </a:p>
        </p:txBody>
      </p:sp>
      <p:sp>
        <p:nvSpPr>
          <p:cNvPr id="755" name="Google Shape;755;p75"/>
          <p:cNvSpPr txBox="1"/>
          <p:nvPr>
            <p:ph idx="7" type="body"/>
          </p:nvPr>
        </p:nvSpPr>
        <p:spPr>
          <a:xfrm>
            <a:off x="6093056" y="3463976"/>
            <a:ext cx="247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Déploiement</a:t>
            </a:r>
            <a:endParaRPr/>
          </a:p>
        </p:txBody>
      </p:sp>
      <p:sp>
        <p:nvSpPr>
          <p:cNvPr id="756" name="Google Shape;756;p75"/>
          <p:cNvSpPr txBox="1"/>
          <p:nvPr>
            <p:ph idx="8" type="body"/>
          </p:nvPr>
        </p:nvSpPr>
        <p:spPr>
          <a:xfrm>
            <a:off x="6093056" y="3822355"/>
            <a:ext cx="2475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Lancez votre projet </a:t>
            </a:r>
            <a:br>
              <a:rPr lang="fr"/>
            </a:br>
            <a:r>
              <a:rPr lang="fr"/>
              <a:t>à grande échelle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6"/>
          <p:cNvSpPr txBox="1"/>
          <p:nvPr>
            <p:ph idx="4294967295" type="body"/>
          </p:nvPr>
        </p:nvSpPr>
        <p:spPr>
          <a:xfrm>
            <a:off x="502450" y="2344500"/>
            <a:ext cx="8066400" cy="76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Olivier GERARD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accent6"/>
                </a:solidFill>
              </a:rPr>
              <a:t>Chef de projet France VAE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62" name="Google Shape;762;p76"/>
          <p:cNvSpPr txBox="1"/>
          <p:nvPr>
            <p:ph idx="4294967295" type="body"/>
          </p:nvPr>
        </p:nvSpPr>
        <p:spPr>
          <a:xfrm>
            <a:off x="538800" y="2816575"/>
            <a:ext cx="8066400" cy="76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olivier.gerard@beta.gouv.fr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https://vae.gouv.fr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VAE">
  <a:themeElements>
    <a:clrScheme name="Personnalisé 1">
      <a:dk1>
        <a:srgbClr val="182759"/>
      </a:dk1>
      <a:lt1>
        <a:srgbClr val="FFFFFF"/>
      </a:lt1>
      <a:dk2>
        <a:srgbClr val="434749"/>
      </a:dk2>
      <a:lt2>
        <a:srgbClr val="E8EBF5"/>
      </a:lt2>
      <a:accent1>
        <a:srgbClr val="E1010F"/>
      </a:accent1>
      <a:accent2>
        <a:srgbClr val="3BB649"/>
      </a:accent2>
      <a:accent3>
        <a:srgbClr val="00929D"/>
      </a:accent3>
      <a:accent4>
        <a:srgbClr val="FE993F"/>
      </a:accent4>
      <a:accent5>
        <a:srgbClr val="A82586"/>
      </a:accent5>
      <a:accent6>
        <a:srgbClr val="7AB1E8"/>
      </a:accent6>
      <a:hlink>
        <a:srgbClr val="3838E7"/>
      </a:hlink>
      <a:folHlink>
        <a:srgbClr val="7F042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