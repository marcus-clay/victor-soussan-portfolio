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2.jpeg" ContentType="image/jpe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182759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ACA"/>
          </a:solidFill>
        </a:fill>
      </a:tcStyle>
    </a:wholeTbl>
    <a:band2H>
      <a:tcTxStyle b="def" i="def"/>
      <a:tcStyle>
        <a:tcBdr/>
        <a:fill>
          <a:solidFill>
            <a:srgbClr val="F9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BDE"/>
          </a:solidFill>
        </a:fill>
      </a:tcStyle>
    </a:wholeTbl>
    <a:band2H>
      <a:tcTxStyle b="def" i="def"/>
      <a:tcStyle>
        <a:tcBdr/>
        <a:fill>
          <a:solidFill>
            <a:srgbClr val="E6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6E4F6"/>
          </a:solidFill>
        </a:fill>
      </a:tcStyle>
    </a:wholeTbl>
    <a:band2H>
      <a:tcTxStyle b="def" i="def"/>
      <a:tcStyle>
        <a:tcBdr/>
        <a:fill>
          <a:solidFill>
            <a:srgbClr val="ECF2FB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182759"/>
        </a:fontRef>
        <a:srgbClr val="18275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82759"/>
              </a:solidFill>
              <a:prstDash val="solid"/>
              <a:round/>
            </a:ln>
          </a:top>
          <a:bottom>
            <a:ln w="254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82759"/>
              </a:solidFill>
              <a:prstDash val="solid"/>
              <a:round/>
            </a:ln>
          </a:top>
          <a:bottom>
            <a:ln w="254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D0"/>
          </a:solidFill>
        </a:fill>
      </a:tcStyle>
    </a:wholeTbl>
    <a:band2H>
      <a:tcTxStyle b="def" i="def"/>
      <a:tcStyle>
        <a:tcBdr/>
        <a:fill>
          <a:solidFill>
            <a:srgbClr val="E7E7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8275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82759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82759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182759"/>
              </a:solidFill>
              <a:prstDash val="solid"/>
              <a:round/>
            </a:ln>
          </a:left>
          <a:right>
            <a:ln w="12700" cap="flat">
              <a:solidFill>
                <a:srgbClr val="182759"/>
              </a:solidFill>
              <a:prstDash val="solid"/>
              <a:round/>
            </a:ln>
          </a:right>
          <a:top>
            <a:ln w="12700" cap="flat">
              <a:solidFill>
                <a:srgbClr val="182759"/>
              </a:solidFill>
              <a:prstDash val="solid"/>
              <a:round/>
            </a:ln>
          </a:top>
          <a:bottom>
            <a:ln w="127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solidFill>
                <a:srgbClr val="182759"/>
              </a:solidFill>
              <a:prstDash val="solid"/>
              <a:round/>
            </a:ln>
          </a:insideH>
          <a:insideV>
            <a:ln w="12700" cap="flat">
              <a:solidFill>
                <a:srgbClr val="182759"/>
              </a:solidFill>
              <a:prstDash val="solid"/>
              <a:round/>
            </a:ln>
          </a:insideV>
        </a:tcBdr>
        <a:fill>
          <a:solidFill>
            <a:srgbClr val="182759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182759"/>
              </a:solidFill>
              <a:prstDash val="solid"/>
              <a:round/>
            </a:ln>
          </a:left>
          <a:right>
            <a:ln w="12700" cap="flat">
              <a:solidFill>
                <a:srgbClr val="182759"/>
              </a:solidFill>
              <a:prstDash val="solid"/>
              <a:round/>
            </a:ln>
          </a:right>
          <a:top>
            <a:ln w="12700" cap="flat">
              <a:solidFill>
                <a:srgbClr val="182759"/>
              </a:solidFill>
              <a:prstDash val="solid"/>
              <a:round/>
            </a:ln>
          </a:top>
          <a:bottom>
            <a:ln w="127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solidFill>
                <a:srgbClr val="182759"/>
              </a:solidFill>
              <a:prstDash val="solid"/>
              <a:round/>
            </a:ln>
          </a:insideH>
          <a:insideV>
            <a:ln w="12700" cap="flat">
              <a:solidFill>
                <a:srgbClr val="182759"/>
              </a:solidFill>
              <a:prstDash val="solid"/>
              <a:round/>
            </a:ln>
          </a:insideV>
        </a:tcBdr>
        <a:fill>
          <a:solidFill>
            <a:srgbClr val="182759">
              <a:alpha val="20000"/>
            </a:srgbClr>
          </a:solidFill>
        </a:fill>
      </a:tcStyle>
    </a:firstCol>
    <a:lastRow>
      <a:tcTxStyle b="on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182759"/>
              </a:solidFill>
              <a:prstDash val="solid"/>
              <a:round/>
            </a:ln>
          </a:left>
          <a:right>
            <a:ln w="12700" cap="flat">
              <a:solidFill>
                <a:srgbClr val="182759"/>
              </a:solidFill>
              <a:prstDash val="solid"/>
              <a:round/>
            </a:ln>
          </a:right>
          <a:top>
            <a:ln w="50800" cap="flat">
              <a:solidFill>
                <a:srgbClr val="182759"/>
              </a:solidFill>
              <a:prstDash val="solid"/>
              <a:round/>
            </a:ln>
          </a:top>
          <a:bottom>
            <a:ln w="127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solidFill>
                <a:srgbClr val="182759"/>
              </a:solidFill>
              <a:prstDash val="solid"/>
              <a:round/>
            </a:ln>
          </a:insideH>
          <a:insideV>
            <a:ln w="12700" cap="flat">
              <a:solidFill>
                <a:srgbClr val="182759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182759"/>
        </a:fontRef>
        <a:srgbClr val="182759"/>
      </a:tcTxStyle>
      <a:tcStyle>
        <a:tcBdr>
          <a:left>
            <a:ln w="12700" cap="flat">
              <a:solidFill>
                <a:srgbClr val="182759"/>
              </a:solidFill>
              <a:prstDash val="solid"/>
              <a:round/>
            </a:ln>
          </a:left>
          <a:right>
            <a:ln w="12700" cap="flat">
              <a:solidFill>
                <a:srgbClr val="182759"/>
              </a:solidFill>
              <a:prstDash val="solid"/>
              <a:round/>
            </a:ln>
          </a:right>
          <a:top>
            <a:ln w="12700" cap="flat">
              <a:solidFill>
                <a:srgbClr val="182759"/>
              </a:solidFill>
              <a:prstDash val="solid"/>
              <a:round/>
            </a:ln>
          </a:top>
          <a:bottom>
            <a:ln w="25400" cap="flat">
              <a:solidFill>
                <a:srgbClr val="182759"/>
              </a:solidFill>
              <a:prstDash val="solid"/>
              <a:round/>
            </a:ln>
          </a:bottom>
          <a:insideH>
            <a:ln w="12700" cap="flat">
              <a:solidFill>
                <a:srgbClr val="182759"/>
              </a:solidFill>
              <a:prstDash val="solid"/>
              <a:round/>
            </a:ln>
          </a:insideH>
          <a:insideV>
            <a:ln w="12700" cap="flat">
              <a:solidFill>
                <a:srgbClr val="182759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Shape 78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7" name="Shape 78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Shape 7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8" name="Shape 7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6" name="Shape 8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8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3" name="Shape 8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2" name="Shape 8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8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9" name="Shape 8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Shape 8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5" name="Shape 8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Olivier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Shape 8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2" name="Shape 8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Shape 8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6" name="Shape 8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Shape 9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0" name="Shape 9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7" name="Shape 9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Shape 9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8" name="Shape 9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Shape 9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3" name="Shape 9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9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8" name="Shape 9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7" name="Shape 10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Victor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Shape 10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3" name="Shape 10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Victor - En mode co-construction. Vision cible. En mode co-construction. Actuellement le processus est manuel. Demain on souhaite proposer un espace dans lequel vous pourrez par exemple importer en masse vos collaborateurs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Shape 11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9" name="Shape 11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Victor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Shape 11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5" name="Shape 11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Victor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Shape 1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2" name="Shape 1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Victor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Shape 1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6" name="Shape 1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Shape 11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3" name="Shape 1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7" name="Shape 11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Mélanie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re d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" name="Google Shape;9;p1" descr="Google Shape;9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225" cy="27427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e du titre"/>
          <p:cNvSpPr txBox="1"/>
          <p:nvPr>
            <p:ph type="title"/>
          </p:nvPr>
        </p:nvSpPr>
        <p:spPr>
          <a:xfrm>
            <a:off x="477146" y="2179745"/>
            <a:ext cx="7210371" cy="2399163"/>
          </a:xfrm>
          <a:prstGeom prst="rect">
            <a:avLst/>
          </a:prstGeom>
        </p:spPr>
        <p:txBody>
          <a:bodyPr/>
          <a:lstStyle>
            <a:lvl1pPr>
              <a:defRPr sz="4100"/>
            </a:lvl1pPr>
          </a:lstStyle>
          <a:p>
            <a:pPr/>
            <a:r>
              <a:t>Texte du titre</a:t>
            </a:r>
          </a:p>
        </p:txBody>
      </p:sp>
      <p:sp>
        <p:nvSpPr>
          <p:cNvPr id="15" name="Texte niveau 1…"/>
          <p:cNvSpPr txBox="1"/>
          <p:nvPr>
            <p:ph type="body" sz="quarter" idx="1"/>
          </p:nvPr>
        </p:nvSpPr>
        <p:spPr>
          <a:xfrm>
            <a:off x="503190" y="1888825"/>
            <a:ext cx="7184326" cy="273845"/>
          </a:xfrm>
          <a:prstGeom prst="rect">
            <a:avLst/>
          </a:prstGeom>
        </p:spPr>
        <p:txBody>
          <a:bodyPr/>
          <a:lstStyle>
            <a:lvl1pPr marL="342900" indent="-228600">
              <a:lnSpc>
                <a:spcPct val="90000"/>
              </a:lnSpc>
              <a:defRPr sz="1100">
                <a:solidFill>
                  <a:srgbClr val="1041BE"/>
                </a:solidFill>
              </a:defRPr>
            </a:lvl1pPr>
            <a:lvl2pPr marL="342900" indent="228600">
              <a:lnSpc>
                <a:spcPct val="90000"/>
              </a:lnSpc>
              <a:defRPr sz="1100">
                <a:solidFill>
                  <a:srgbClr val="1041BE"/>
                </a:solidFill>
              </a:defRPr>
            </a:lvl2pPr>
            <a:lvl3pPr marL="342900" indent="711200">
              <a:lnSpc>
                <a:spcPct val="90000"/>
              </a:lnSpc>
              <a:defRPr sz="1100">
                <a:solidFill>
                  <a:srgbClr val="1041BE"/>
                </a:solidFill>
              </a:defRPr>
            </a:lvl3pPr>
            <a:lvl4pPr marL="342900" indent="1181100">
              <a:lnSpc>
                <a:spcPct val="90000"/>
              </a:lnSpc>
              <a:defRPr sz="1100">
                <a:solidFill>
                  <a:srgbClr val="1041BE"/>
                </a:solidFill>
              </a:defRPr>
            </a:lvl4pPr>
            <a:lvl5pPr marL="342900" indent="1644650">
              <a:lnSpc>
                <a:spcPct val="90000"/>
              </a:lnSpc>
              <a:defRPr sz="11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6" name="Google Shape;13;p2"/>
          <p:cNvSpPr/>
          <p:nvPr/>
        </p:nvSpPr>
        <p:spPr>
          <a:xfrm>
            <a:off x="252247" y="4406462"/>
            <a:ext cx="1174533" cy="7370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" name="Google Shape;14;p2" descr="Google Shape;14;p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6601" y="289749"/>
            <a:ext cx="2171373" cy="1279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Google Shape;15;p2" descr="Google Shape;15;p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1774" y="289746"/>
            <a:ext cx="2103125" cy="1143952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Google Shape;16;p2"/>
          <p:cNvSpPr txBox="1"/>
          <p:nvPr>
            <p:ph type="body" sz="quarter" idx="21"/>
          </p:nvPr>
        </p:nvSpPr>
        <p:spPr>
          <a:xfrm>
            <a:off x="575074" y="4684150"/>
            <a:ext cx="3281402" cy="459301"/>
          </a:xfrm>
          <a:prstGeom prst="rect">
            <a:avLst/>
          </a:prstGeom>
        </p:spPr>
        <p:txBody>
          <a:bodyPr anchor="ctr"/>
          <a:lstStyle/>
          <a:p>
            <a:pPr marL="457200" indent="-269875">
              <a:lnSpc>
                <a:spcPct val="90000"/>
              </a:lnSpc>
              <a:buClr>
                <a:srgbClr val="7A869A"/>
              </a:buClr>
              <a:buSzPts val="600"/>
              <a:buFont typeface="Helvetica"/>
              <a:buChar char="•"/>
              <a:defRPr sz="600">
                <a:solidFill>
                  <a:srgbClr val="7A869A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mmair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" name="Google Shape;18;p3"/>
          <p:cNvSpPr/>
          <p:nvPr/>
        </p:nvSpPr>
        <p:spPr>
          <a:xfrm>
            <a:off x="575071" y="1977270"/>
            <a:ext cx="8568930" cy="13529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" name="Google Shape;19;p3"/>
          <p:cNvSpPr/>
          <p:nvPr/>
        </p:nvSpPr>
        <p:spPr>
          <a:xfrm>
            <a:off x="0" y="310324"/>
            <a:ext cx="167700" cy="4367702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" name="Texte niveau 1…"/>
          <p:cNvSpPr txBox="1"/>
          <p:nvPr>
            <p:ph type="body" sz="quarter" idx="1"/>
          </p:nvPr>
        </p:nvSpPr>
        <p:spPr>
          <a:xfrm>
            <a:off x="931075" y="518000"/>
            <a:ext cx="6750000" cy="5400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400"/>
            </a:lvl2pPr>
            <a:lvl3pPr>
              <a:lnSpc>
                <a:spcPct val="90000"/>
              </a:lnSpc>
              <a:defRPr sz="2400"/>
            </a:lvl3pPr>
            <a:lvl4pPr>
              <a:lnSpc>
                <a:spcPct val="90000"/>
              </a:lnSpc>
              <a:defRPr sz="2400"/>
            </a:lvl4pPr>
            <a:lvl5pPr>
              <a:lnSpc>
                <a:spcPct val="90000"/>
              </a:lnSpc>
              <a:defRPr sz="2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0" name="Google Shape;21;p3"/>
          <p:cNvSpPr txBox="1"/>
          <p:nvPr>
            <p:ph type="body" sz="quarter" idx="21"/>
          </p:nvPr>
        </p:nvSpPr>
        <p:spPr>
          <a:xfrm>
            <a:off x="931075" y="1085975"/>
            <a:ext cx="6749999" cy="5400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1" name="Google Shape;22;p3"/>
          <p:cNvSpPr txBox="1"/>
          <p:nvPr>
            <p:ph type="body" sz="quarter" idx="22"/>
          </p:nvPr>
        </p:nvSpPr>
        <p:spPr>
          <a:xfrm>
            <a:off x="931075" y="1653949"/>
            <a:ext cx="6749999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2" name="Google Shape;23;p3"/>
          <p:cNvSpPr txBox="1"/>
          <p:nvPr>
            <p:ph type="body" sz="quarter" idx="23"/>
          </p:nvPr>
        </p:nvSpPr>
        <p:spPr>
          <a:xfrm>
            <a:off x="503042" y="6248"/>
            <a:ext cx="8568902" cy="304200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chemeClr val="accent1"/>
                </a:solidFill>
              </a:defRPr>
            </a:pPr>
          </a:p>
        </p:txBody>
      </p:sp>
      <p:sp>
        <p:nvSpPr>
          <p:cNvPr id="33" name="Google Shape;24;p3"/>
          <p:cNvSpPr txBox="1"/>
          <p:nvPr>
            <p:ph type="body" sz="quarter" idx="24"/>
          </p:nvPr>
        </p:nvSpPr>
        <p:spPr>
          <a:xfrm>
            <a:off x="931075" y="2221924"/>
            <a:ext cx="6749999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4" name="Google Shape;25;p3"/>
          <p:cNvSpPr txBox="1"/>
          <p:nvPr>
            <p:ph type="body" sz="quarter" idx="25"/>
          </p:nvPr>
        </p:nvSpPr>
        <p:spPr>
          <a:xfrm>
            <a:off x="931075" y="2789899"/>
            <a:ext cx="6749999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5" name="Google Shape;26;p3"/>
          <p:cNvSpPr txBox="1"/>
          <p:nvPr>
            <p:ph type="body" sz="quarter" idx="26"/>
          </p:nvPr>
        </p:nvSpPr>
        <p:spPr>
          <a:xfrm>
            <a:off x="931075" y="3357872"/>
            <a:ext cx="6749999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6" name="Google Shape;27;p3"/>
          <p:cNvSpPr txBox="1"/>
          <p:nvPr>
            <p:ph type="body" sz="quarter" idx="27"/>
          </p:nvPr>
        </p:nvSpPr>
        <p:spPr>
          <a:xfrm>
            <a:off x="931075" y="3925849"/>
            <a:ext cx="6749999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2400"/>
            </a:pPr>
          </a:p>
        </p:txBody>
      </p:sp>
      <p:sp>
        <p:nvSpPr>
          <p:cNvPr id="37" name="Google Shape;28;p3"/>
          <p:cNvSpPr txBox="1"/>
          <p:nvPr>
            <p:ph type="body" sz="quarter" idx="28"/>
          </p:nvPr>
        </p:nvSpPr>
        <p:spPr>
          <a:xfrm>
            <a:off x="503050" y="518000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38" name="Google Shape;29;p3"/>
          <p:cNvSpPr txBox="1"/>
          <p:nvPr>
            <p:ph type="body" sz="quarter" idx="29"/>
          </p:nvPr>
        </p:nvSpPr>
        <p:spPr>
          <a:xfrm>
            <a:off x="503050" y="1085975"/>
            <a:ext cx="504300" cy="5400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39" name="Google Shape;30;p3"/>
          <p:cNvSpPr txBox="1"/>
          <p:nvPr>
            <p:ph type="body" sz="quarter" idx="30"/>
          </p:nvPr>
        </p:nvSpPr>
        <p:spPr>
          <a:xfrm>
            <a:off x="503050" y="1653950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40" name="Google Shape;31;p3"/>
          <p:cNvSpPr txBox="1"/>
          <p:nvPr>
            <p:ph type="body" sz="quarter" idx="31"/>
          </p:nvPr>
        </p:nvSpPr>
        <p:spPr>
          <a:xfrm>
            <a:off x="503050" y="2221925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41" name="Google Shape;32;p3"/>
          <p:cNvSpPr txBox="1"/>
          <p:nvPr>
            <p:ph type="body" sz="quarter" idx="32"/>
          </p:nvPr>
        </p:nvSpPr>
        <p:spPr>
          <a:xfrm>
            <a:off x="503050" y="2789899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42" name="Google Shape;33;p3"/>
          <p:cNvSpPr txBox="1"/>
          <p:nvPr>
            <p:ph type="body" sz="quarter" idx="33"/>
          </p:nvPr>
        </p:nvSpPr>
        <p:spPr>
          <a:xfrm>
            <a:off x="503050" y="3357874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  <p:sp>
        <p:nvSpPr>
          <p:cNvPr id="43" name="Google Shape;34;p3"/>
          <p:cNvSpPr txBox="1"/>
          <p:nvPr>
            <p:ph type="body" sz="quarter" idx="34"/>
          </p:nvPr>
        </p:nvSpPr>
        <p:spPr>
          <a:xfrm>
            <a:off x="503050" y="3925849"/>
            <a:ext cx="504300" cy="540001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b="1">
                <a:solidFill>
                  <a:srgbClr val="1041BE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" name="Texte du titre"/>
          <p:cNvSpPr txBox="1"/>
          <p:nvPr>
            <p:ph type="title"/>
          </p:nvPr>
        </p:nvSpPr>
        <p:spPr>
          <a:xfrm>
            <a:off x="2863400" y="2125276"/>
            <a:ext cx="5273400" cy="1091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Texte du titre</a:t>
            </a:r>
          </a:p>
        </p:txBody>
      </p:sp>
      <p:sp>
        <p:nvSpPr>
          <p:cNvPr id="52" name="Google Shape;37;p4"/>
          <p:cNvSpPr/>
          <p:nvPr/>
        </p:nvSpPr>
        <p:spPr>
          <a:xfrm>
            <a:off x="-1" y="0"/>
            <a:ext cx="2354402" cy="5143500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Texte niveau 1…"/>
          <p:cNvSpPr txBox="1"/>
          <p:nvPr>
            <p:ph type="body" sz="quarter" idx="1"/>
          </p:nvPr>
        </p:nvSpPr>
        <p:spPr>
          <a:xfrm>
            <a:off x="2880808" y="1834356"/>
            <a:ext cx="4804201" cy="273901"/>
          </a:xfrm>
          <a:prstGeom prst="rect">
            <a:avLst/>
          </a:prstGeom>
        </p:spPr>
        <p:txBody>
          <a:bodyPr/>
          <a:lstStyle>
            <a:lvl1pPr marL="342900" indent="-228600">
              <a:lnSpc>
                <a:spcPct val="90000"/>
              </a:lnSpc>
              <a:defRPr sz="1100">
                <a:solidFill>
                  <a:srgbClr val="1041BE"/>
                </a:solidFill>
              </a:defRPr>
            </a:lvl1pPr>
            <a:lvl2pPr marL="342900" indent="228600">
              <a:lnSpc>
                <a:spcPct val="90000"/>
              </a:lnSpc>
              <a:defRPr sz="1100">
                <a:solidFill>
                  <a:srgbClr val="1041BE"/>
                </a:solidFill>
              </a:defRPr>
            </a:lvl2pPr>
            <a:lvl3pPr marL="342900" indent="711200">
              <a:lnSpc>
                <a:spcPct val="90000"/>
              </a:lnSpc>
              <a:defRPr sz="1100">
                <a:solidFill>
                  <a:srgbClr val="1041BE"/>
                </a:solidFill>
              </a:defRPr>
            </a:lvl3pPr>
            <a:lvl4pPr marL="342900" indent="1181100">
              <a:lnSpc>
                <a:spcPct val="90000"/>
              </a:lnSpc>
              <a:defRPr sz="1100">
                <a:solidFill>
                  <a:srgbClr val="1041BE"/>
                </a:solidFill>
              </a:defRPr>
            </a:lvl4pPr>
            <a:lvl5pPr marL="342900" indent="1644650">
              <a:lnSpc>
                <a:spcPct val="90000"/>
              </a:lnSpc>
              <a:defRPr sz="11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54" name="fvae_logo_couleur_inverse@2x.pngGoogle Shape;39;p4" descr="fvae_logo_couleur_inverse@2x.pngGoogle Shape;39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losange blanc fvae@2x.pngGoogle Shape;40;p4" descr="losange blanc fvae@2x.pngGoogle Shape;40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5875" y="2187552"/>
            <a:ext cx="822653" cy="9207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" name="Google Shape;43;p5"/>
          <p:cNvSpPr/>
          <p:nvPr/>
        </p:nvSpPr>
        <p:spPr>
          <a:xfrm>
            <a:off x="-2" y="0"/>
            <a:ext cx="6095702" cy="5143500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" name="Texte du titre"/>
          <p:cNvSpPr txBox="1"/>
          <p:nvPr>
            <p:ph type="title"/>
          </p:nvPr>
        </p:nvSpPr>
        <p:spPr>
          <a:xfrm>
            <a:off x="512266" y="2125276"/>
            <a:ext cx="5025001" cy="24216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65" name="Texte niveau 1…"/>
          <p:cNvSpPr txBox="1"/>
          <p:nvPr>
            <p:ph type="body" sz="quarter" idx="1"/>
          </p:nvPr>
        </p:nvSpPr>
        <p:spPr>
          <a:xfrm>
            <a:off x="529683" y="1834356"/>
            <a:ext cx="3843301" cy="273901"/>
          </a:xfrm>
          <a:prstGeom prst="rect">
            <a:avLst/>
          </a:prstGeom>
        </p:spPr>
        <p:txBody>
          <a:bodyPr/>
          <a:lstStyle>
            <a:lvl1pPr marL="342900" indent="-228600">
              <a:lnSpc>
                <a:spcPct val="90000"/>
              </a:lnSpc>
              <a:defRPr sz="1100">
                <a:solidFill>
                  <a:schemeClr val="accent6"/>
                </a:solidFill>
              </a:defRPr>
            </a:lvl1pPr>
            <a:lvl2pPr marL="342900" indent="228600">
              <a:lnSpc>
                <a:spcPct val="90000"/>
              </a:lnSpc>
              <a:defRPr sz="1100">
                <a:solidFill>
                  <a:schemeClr val="accent6"/>
                </a:solidFill>
              </a:defRPr>
            </a:lvl2pPr>
            <a:lvl3pPr marL="342900" indent="711200">
              <a:lnSpc>
                <a:spcPct val="90000"/>
              </a:lnSpc>
              <a:defRPr sz="1100">
                <a:solidFill>
                  <a:schemeClr val="accent6"/>
                </a:solidFill>
              </a:defRPr>
            </a:lvl3pPr>
            <a:lvl4pPr marL="342900" indent="1181100">
              <a:lnSpc>
                <a:spcPct val="90000"/>
              </a:lnSpc>
              <a:defRPr sz="1100">
                <a:solidFill>
                  <a:schemeClr val="accent6"/>
                </a:solidFill>
              </a:defRPr>
            </a:lvl4pPr>
            <a:lvl5pPr marL="342900" indent="1644650">
              <a:lnSpc>
                <a:spcPct val="90000"/>
              </a:lnSpc>
              <a:defRPr sz="1100">
                <a:solidFill>
                  <a:schemeClr val="accent6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6" name="Google Shape;46;p5"/>
          <p:cNvSpPr/>
          <p:nvPr>
            <p:ph type="pic" sz="half" idx="21"/>
          </p:nvPr>
        </p:nvSpPr>
        <p:spPr>
          <a:xfrm>
            <a:off x="6096000" y="-2"/>
            <a:ext cx="3048000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67" name="fvae_logo_couleur_inverse@2x.pngGoogle Shape;47;p5" descr="fvae_logo_couleur_inverse@2x.pngGoogle Shape;47;p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Titre-Parag-Large-1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6" name="Google Shape;50;p6"/>
          <p:cNvSpPr txBox="1"/>
          <p:nvPr>
            <p:ph type="body" sz="quarter" idx="21"/>
          </p:nvPr>
        </p:nvSpPr>
        <p:spPr>
          <a:xfrm>
            <a:off x="503038" y="-1502"/>
            <a:ext cx="8568930" cy="304087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sp>
        <p:nvSpPr>
          <p:cNvPr id="77" name="Google Shape;51;p6"/>
          <p:cNvSpPr txBox="1"/>
          <p:nvPr>
            <p:ph type="body" sz="quarter" idx="22"/>
          </p:nvPr>
        </p:nvSpPr>
        <p:spPr>
          <a:xfrm>
            <a:off x="502541" y="563521"/>
            <a:ext cx="8569426" cy="32623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Titre-Parag-Medium-1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5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6" name="Google Shape;54;p7"/>
          <p:cNvSpPr txBox="1"/>
          <p:nvPr>
            <p:ph type="body" sz="quarter" idx="21"/>
          </p:nvPr>
        </p:nvSpPr>
        <p:spPr>
          <a:xfrm>
            <a:off x="502541" y="561712"/>
            <a:ext cx="6120598" cy="32623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2400"/>
            </a:pPr>
          </a:p>
        </p:txBody>
      </p:sp>
      <p:sp>
        <p:nvSpPr>
          <p:cNvPr id="87" name="Google Shape;55;p7"/>
          <p:cNvSpPr txBox="1"/>
          <p:nvPr>
            <p:ph type="body" idx="22"/>
          </p:nvPr>
        </p:nvSpPr>
        <p:spPr>
          <a:xfrm>
            <a:off x="502542" y="1323593"/>
            <a:ext cx="8066386" cy="335437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e-Parag-large-1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95" name="Google Shape;9;p1" descr="Google Shape;9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225" cy="27427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7" name="Google Shape;58;p8"/>
          <p:cNvSpPr txBox="1"/>
          <p:nvPr>
            <p:ph type="body" idx="21"/>
          </p:nvPr>
        </p:nvSpPr>
        <p:spPr>
          <a:xfrm>
            <a:off x="502540" y="376881"/>
            <a:ext cx="8131731" cy="4301084"/>
          </a:xfrm>
          <a:prstGeom prst="rect">
            <a:avLst/>
          </a:prstGeom>
        </p:spPr>
        <p:txBody>
          <a:bodyPr anchor="ctr"/>
          <a:lstStyle/>
          <a:p>
            <a:pPr>
              <a:defRPr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- Parag Medium - 2 blocs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5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6" name="Google Shape;61;p9"/>
          <p:cNvSpPr txBox="1"/>
          <p:nvPr>
            <p:ph type="body" sz="quarter" idx="21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107" name="Google Shape;62;p9"/>
          <p:cNvSpPr txBox="1"/>
          <p:nvPr>
            <p:ph type="body" sz="quarter" idx="22"/>
          </p:nvPr>
        </p:nvSpPr>
        <p:spPr>
          <a:xfrm>
            <a:off x="502541" y="1320022"/>
            <a:ext cx="7634190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8" name="Google Shape;63;p9"/>
          <p:cNvSpPr txBox="1"/>
          <p:nvPr>
            <p:ph type="body" sz="half" idx="23"/>
          </p:nvPr>
        </p:nvSpPr>
        <p:spPr>
          <a:xfrm>
            <a:off x="502541" y="1635591"/>
            <a:ext cx="7634190" cy="1242000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09" name="Google Shape;64;p9"/>
          <p:cNvSpPr txBox="1"/>
          <p:nvPr>
            <p:ph type="body" sz="quarter" idx="24"/>
          </p:nvPr>
        </p:nvSpPr>
        <p:spPr>
          <a:xfrm>
            <a:off x="502541" y="3111711"/>
            <a:ext cx="7634190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10" name="Google Shape;65;p9"/>
          <p:cNvSpPr txBox="1"/>
          <p:nvPr>
            <p:ph type="body" sz="half" idx="25"/>
          </p:nvPr>
        </p:nvSpPr>
        <p:spPr>
          <a:xfrm>
            <a:off x="502541" y="3427279"/>
            <a:ext cx="7634190" cy="1243314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- Parag Small - 3 blocs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8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19" name="Google Shape;68;p10"/>
          <p:cNvSpPr txBox="1"/>
          <p:nvPr>
            <p:ph type="body" sz="quarter" idx="21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120" name="Google Shape;69;p10"/>
          <p:cNvSpPr txBox="1"/>
          <p:nvPr>
            <p:ph type="body" sz="quarter" idx="22"/>
          </p:nvPr>
        </p:nvSpPr>
        <p:spPr>
          <a:xfrm>
            <a:off x="939546" y="1319072"/>
            <a:ext cx="7197185" cy="2787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21" name="Google Shape;70;p10"/>
          <p:cNvSpPr txBox="1"/>
          <p:nvPr>
            <p:ph type="body" sz="quarter" idx="23"/>
          </p:nvPr>
        </p:nvSpPr>
        <p:spPr>
          <a:xfrm>
            <a:off x="939546" y="1611486"/>
            <a:ext cx="7197185" cy="810001"/>
          </a:xfrm>
          <a:prstGeom prst="rect">
            <a:avLst/>
          </a:prstGeom>
        </p:spPr>
        <p:txBody>
          <a:bodyPr/>
          <a:lstStyle/>
          <a:p>
            <a:pPr>
              <a:defRPr sz="1100"/>
            </a:pPr>
          </a:p>
        </p:txBody>
      </p:sp>
      <p:sp>
        <p:nvSpPr>
          <p:cNvPr id="122" name="Google Shape;71;p10"/>
          <p:cNvSpPr txBox="1"/>
          <p:nvPr>
            <p:ph type="body" sz="quarter" idx="24"/>
          </p:nvPr>
        </p:nvSpPr>
        <p:spPr>
          <a:xfrm>
            <a:off x="939546" y="2442961"/>
            <a:ext cx="7197185" cy="2787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23" name="Google Shape;72;p10"/>
          <p:cNvSpPr txBox="1"/>
          <p:nvPr>
            <p:ph type="body" sz="quarter" idx="25"/>
          </p:nvPr>
        </p:nvSpPr>
        <p:spPr>
          <a:xfrm>
            <a:off x="939546" y="2729033"/>
            <a:ext cx="7197185" cy="810002"/>
          </a:xfrm>
          <a:prstGeom prst="rect">
            <a:avLst/>
          </a:prstGeom>
        </p:spPr>
        <p:txBody>
          <a:bodyPr/>
          <a:lstStyle/>
          <a:p>
            <a:pPr>
              <a:defRPr sz="1100"/>
            </a:pPr>
          </a:p>
        </p:txBody>
      </p:sp>
      <p:sp>
        <p:nvSpPr>
          <p:cNvPr id="124" name="Google Shape;73;p10"/>
          <p:cNvSpPr txBox="1"/>
          <p:nvPr>
            <p:ph type="body" sz="quarter" idx="26"/>
          </p:nvPr>
        </p:nvSpPr>
        <p:spPr>
          <a:xfrm>
            <a:off x="939546" y="3563008"/>
            <a:ext cx="7197185" cy="2787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25" name="Google Shape;74;p10"/>
          <p:cNvSpPr txBox="1"/>
          <p:nvPr>
            <p:ph type="body" sz="quarter" idx="27"/>
          </p:nvPr>
        </p:nvSpPr>
        <p:spPr>
          <a:xfrm>
            <a:off x="939546" y="3869656"/>
            <a:ext cx="7197185" cy="810001"/>
          </a:xfrm>
          <a:prstGeom prst="rect">
            <a:avLst/>
          </a:prstGeom>
        </p:spPr>
        <p:txBody>
          <a:bodyPr/>
          <a:lstStyle/>
          <a:p>
            <a:pPr>
              <a:defRPr sz="11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- parag Medium - sur-titre - 4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4" name="Google Shape;77;p11"/>
          <p:cNvSpPr txBox="1"/>
          <p:nvPr>
            <p:ph type="body" sz="quarter" idx="21"/>
          </p:nvPr>
        </p:nvSpPr>
        <p:spPr>
          <a:xfrm>
            <a:off x="502541" y="599312"/>
            <a:ext cx="8569426" cy="7457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135" name="Google Shape;78;p11"/>
          <p:cNvSpPr txBox="1"/>
          <p:nvPr>
            <p:ph type="body" sz="quarter" idx="22"/>
          </p:nvPr>
        </p:nvSpPr>
        <p:spPr>
          <a:xfrm>
            <a:off x="502540" y="1612273"/>
            <a:ext cx="3853957" cy="107377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36" name="Google Shape;79;p11"/>
          <p:cNvSpPr txBox="1"/>
          <p:nvPr>
            <p:ph type="body" sz="quarter" idx="23"/>
          </p:nvPr>
        </p:nvSpPr>
        <p:spPr>
          <a:xfrm>
            <a:off x="4711470" y="1612273"/>
            <a:ext cx="3853956" cy="107377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37" name="Google Shape;80;p11"/>
          <p:cNvSpPr txBox="1"/>
          <p:nvPr>
            <p:ph type="body" sz="quarter" idx="24"/>
          </p:nvPr>
        </p:nvSpPr>
        <p:spPr>
          <a:xfrm>
            <a:off x="502540" y="3095848"/>
            <a:ext cx="3853957" cy="107377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38" name="Google Shape;81;p11"/>
          <p:cNvSpPr txBox="1"/>
          <p:nvPr>
            <p:ph type="body" sz="quarter" idx="25"/>
          </p:nvPr>
        </p:nvSpPr>
        <p:spPr>
          <a:xfrm>
            <a:off x="4711470" y="3095848"/>
            <a:ext cx="3853956" cy="107377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39" name="Google Shape;82;p11"/>
          <p:cNvSpPr txBox="1"/>
          <p:nvPr>
            <p:ph type="body" sz="quarter" idx="26"/>
          </p:nvPr>
        </p:nvSpPr>
        <p:spPr>
          <a:xfrm>
            <a:off x="500643" y="1411771"/>
            <a:ext cx="3855855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40" name="Google Shape;83;p11"/>
          <p:cNvSpPr txBox="1"/>
          <p:nvPr>
            <p:ph type="body" sz="quarter" idx="27"/>
          </p:nvPr>
        </p:nvSpPr>
        <p:spPr>
          <a:xfrm>
            <a:off x="500643" y="2896492"/>
            <a:ext cx="3855855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41" name="Google Shape;84;p11"/>
          <p:cNvSpPr txBox="1"/>
          <p:nvPr>
            <p:ph type="body" sz="quarter" idx="28"/>
          </p:nvPr>
        </p:nvSpPr>
        <p:spPr>
          <a:xfrm>
            <a:off x="4707356" y="1411771"/>
            <a:ext cx="3855854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42" name="Google Shape;85;p11"/>
          <p:cNvSpPr txBox="1"/>
          <p:nvPr>
            <p:ph type="body" sz="quarter" idx="29"/>
          </p:nvPr>
        </p:nvSpPr>
        <p:spPr>
          <a:xfrm>
            <a:off x="4707356" y="2896492"/>
            <a:ext cx="3855854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- Parag Medium - 2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0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51" name="Google Shape;88;p12"/>
          <p:cNvSpPr txBox="1"/>
          <p:nvPr>
            <p:ph type="body" sz="quarter" idx="21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152" name="Google Shape;89;p12"/>
          <p:cNvSpPr txBox="1"/>
          <p:nvPr>
            <p:ph type="body" sz="quarter" idx="22"/>
          </p:nvPr>
        </p:nvSpPr>
        <p:spPr>
          <a:xfrm>
            <a:off x="502540" y="1315230"/>
            <a:ext cx="3853957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53" name="Google Shape;90;p12"/>
          <p:cNvSpPr txBox="1"/>
          <p:nvPr>
            <p:ph type="body" sz="half" idx="23"/>
          </p:nvPr>
        </p:nvSpPr>
        <p:spPr>
          <a:xfrm>
            <a:off x="502540" y="1630800"/>
            <a:ext cx="3853957" cy="2882575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54" name="Google Shape;91;p12"/>
          <p:cNvSpPr txBox="1"/>
          <p:nvPr>
            <p:ph type="body" sz="quarter" idx="24"/>
          </p:nvPr>
        </p:nvSpPr>
        <p:spPr>
          <a:xfrm>
            <a:off x="4711470" y="1315230"/>
            <a:ext cx="3853956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55" name="Google Shape;92;p12"/>
          <p:cNvSpPr txBox="1"/>
          <p:nvPr>
            <p:ph type="body" sz="half" idx="25"/>
          </p:nvPr>
        </p:nvSpPr>
        <p:spPr>
          <a:xfrm>
            <a:off x="4711470" y="1630800"/>
            <a:ext cx="3853956" cy="2882575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- Parag Medium - 2 col - Light/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3" name="Google Shape;95;p13"/>
          <p:cNvSpPr/>
          <p:nvPr/>
        </p:nvSpPr>
        <p:spPr>
          <a:xfrm>
            <a:off x="4572001" y="0"/>
            <a:ext cx="4572001" cy="5143500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164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65" name="Google Shape;97;p13"/>
          <p:cNvSpPr txBox="1"/>
          <p:nvPr>
            <p:ph type="body" sz="quarter" idx="21"/>
          </p:nvPr>
        </p:nvSpPr>
        <p:spPr>
          <a:xfrm>
            <a:off x="516191" y="901054"/>
            <a:ext cx="3400937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66" name="Google Shape;98;p13"/>
          <p:cNvSpPr txBox="1"/>
          <p:nvPr>
            <p:ph type="body" sz="quarter" idx="22"/>
          </p:nvPr>
        </p:nvSpPr>
        <p:spPr>
          <a:xfrm>
            <a:off x="516192" y="1181565"/>
            <a:ext cx="3400937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67" name="Google Shape;99;p13"/>
          <p:cNvSpPr txBox="1"/>
          <p:nvPr>
            <p:ph type="body" sz="half" idx="23"/>
          </p:nvPr>
        </p:nvSpPr>
        <p:spPr>
          <a:xfrm>
            <a:off x="516192" y="1497134"/>
            <a:ext cx="3400937" cy="318083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68" name="Google Shape;100;p13"/>
          <p:cNvSpPr txBox="1"/>
          <p:nvPr>
            <p:ph type="body" sz="quarter" idx="24"/>
          </p:nvPr>
        </p:nvSpPr>
        <p:spPr>
          <a:xfrm>
            <a:off x="5156143" y="901054"/>
            <a:ext cx="3403718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69" name="Google Shape;101;p13"/>
          <p:cNvSpPr txBox="1"/>
          <p:nvPr>
            <p:ph type="body" sz="quarter" idx="25"/>
          </p:nvPr>
        </p:nvSpPr>
        <p:spPr>
          <a:xfrm>
            <a:off x="5156143" y="1181565"/>
            <a:ext cx="3403718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70" name="Google Shape;102;p13"/>
          <p:cNvSpPr txBox="1"/>
          <p:nvPr>
            <p:ph type="body" sz="half" idx="26"/>
          </p:nvPr>
        </p:nvSpPr>
        <p:spPr>
          <a:xfrm>
            <a:off x="5156143" y="1497134"/>
            <a:ext cx="3403718" cy="3180832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- parag Medium - 3 blocs - sur-titr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8" name="Texte niveau 1…"/>
          <p:cNvSpPr txBox="1"/>
          <p:nvPr>
            <p:ph type="body" sz="quarter" idx="1"/>
          </p:nvPr>
        </p:nvSpPr>
        <p:spPr>
          <a:xfrm>
            <a:off x="502540" y="599312"/>
            <a:ext cx="8569427" cy="32623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b="1"/>
            </a:lvl1pPr>
            <a:lvl2pPr marL="1002594" indent="-405694">
              <a:lnSpc>
                <a:spcPct val="90000"/>
              </a:lnSpc>
              <a:buSzPts val="2300"/>
              <a:buChar char="•"/>
              <a:defRPr b="1"/>
            </a:lvl2pPr>
            <a:lvl3pPr marL="1575707" indent="-521607">
              <a:lnSpc>
                <a:spcPct val="90000"/>
              </a:lnSpc>
              <a:buSzPts val="2300"/>
              <a:buChar char="•"/>
              <a:defRPr b="1"/>
            </a:lvl3pPr>
            <a:lvl4pPr marL="2119841" indent="-608541">
              <a:lnSpc>
                <a:spcPct val="90000"/>
              </a:lnSpc>
              <a:buSzPts val="2300"/>
              <a:buChar char="•"/>
              <a:defRPr b="1"/>
            </a:lvl4pPr>
            <a:lvl5pPr marL="2632363" indent="-663863">
              <a:lnSpc>
                <a:spcPct val="90000"/>
              </a:lnSpc>
              <a:buSzPts val="2300"/>
              <a:buChar char="•"/>
              <a:defRPr b="1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79" name="Google Shape;105;p14"/>
          <p:cNvSpPr txBox="1"/>
          <p:nvPr>
            <p:ph type="body" sz="quarter" idx="21"/>
          </p:nvPr>
        </p:nvSpPr>
        <p:spPr>
          <a:xfrm>
            <a:off x="502541" y="1251223"/>
            <a:ext cx="2430002" cy="3156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80" name="Google Shape;106;p14"/>
          <p:cNvSpPr txBox="1"/>
          <p:nvPr>
            <p:ph type="body" sz="quarter" idx="22"/>
          </p:nvPr>
        </p:nvSpPr>
        <p:spPr>
          <a:xfrm>
            <a:off x="502541" y="1566790"/>
            <a:ext cx="2430002" cy="257340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81" name="Google Shape;107;p14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sp>
        <p:nvSpPr>
          <p:cNvPr id="182" name="Google Shape;108;p14"/>
          <p:cNvSpPr txBox="1"/>
          <p:nvPr>
            <p:ph type="body" sz="quarter" idx="24"/>
          </p:nvPr>
        </p:nvSpPr>
        <p:spPr>
          <a:xfrm>
            <a:off x="3388171" y="1251223"/>
            <a:ext cx="2430001" cy="3156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83" name="Google Shape;109;p14"/>
          <p:cNvSpPr txBox="1"/>
          <p:nvPr>
            <p:ph type="body" sz="quarter" idx="25"/>
          </p:nvPr>
        </p:nvSpPr>
        <p:spPr>
          <a:xfrm>
            <a:off x="3388171" y="1566790"/>
            <a:ext cx="2430001" cy="257340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184" name="Google Shape;110;p14"/>
          <p:cNvSpPr txBox="1"/>
          <p:nvPr>
            <p:ph type="body" sz="quarter" idx="26"/>
          </p:nvPr>
        </p:nvSpPr>
        <p:spPr>
          <a:xfrm>
            <a:off x="6216039" y="1251223"/>
            <a:ext cx="2430001" cy="3156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85" name="Google Shape;111;p14"/>
          <p:cNvSpPr txBox="1"/>
          <p:nvPr>
            <p:ph type="body" sz="quarter" idx="27"/>
          </p:nvPr>
        </p:nvSpPr>
        <p:spPr>
          <a:xfrm>
            <a:off x="6216039" y="1566790"/>
            <a:ext cx="2430001" cy="257340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- parag Small - 6 blocs - sur-titr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3" name="Texte niveau 1…"/>
          <p:cNvSpPr txBox="1"/>
          <p:nvPr>
            <p:ph type="body" sz="quarter" idx="1"/>
          </p:nvPr>
        </p:nvSpPr>
        <p:spPr>
          <a:xfrm>
            <a:off x="502541" y="879983"/>
            <a:ext cx="2430001" cy="3042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94" name="Google Shape;114;p15"/>
          <p:cNvSpPr txBox="1"/>
          <p:nvPr>
            <p:ph type="body" sz="quarter" idx="21"/>
          </p:nvPr>
        </p:nvSpPr>
        <p:spPr>
          <a:xfrm>
            <a:off x="502541" y="1195550"/>
            <a:ext cx="2430002" cy="1295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195" name="Google Shape;115;p15"/>
          <p:cNvSpPr txBox="1"/>
          <p:nvPr>
            <p:ph type="body" sz="quarter" idx="22"/>
          </p:nvPr>
        </p:nvSpPr>
        <p:spPr>
          <a:xfrm>
            <a:off x="3388171" y="879983"/>
            <a:ext cx="2430001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96" name="Google Shape;116;p15"/>
          <p:cNvSpPr txBox="1"/>
          <p:nvPr>
            <p:ph type="body" sz="quarter" idx="23"/>
          </p:nvPr>
        </p:nvSpPr>
        <p:spPr>
          <a:xfrm>
            <a:off x="3388171" y="1195550"/>
            <a:ext cx="2430001" cy="129523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197" name="Google Shape;117;p15"/>
          <p:cNvSpPr txBox="1"/>
          <p:nvPr>
            <p:ph type="body" sz="quarter" idx="24"/>
          </p:nvPr>
        </p:nvSpPr>
        <p:spPr>
          <a:xfrm>
            <a:off x="6216039" y="879983"/>
            <a:ext cx="2430001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98" name="Google Shape;118;p15"/>
          <p:cNvSpPr txBox="1"/>
          <p:nvPr>
            <p:ph type="body" sz="quarter" idx="25"/>
          </p:nvPr>
        </p:nvSpPr>
        <p:spPr>
          <a:xfrm>
            <a:off x="6216039" y="1195550"/>
            <a:ext cx="2430001" cy="129523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199" name="Google Shape;119;p15"/>
          <p:cNvSpPr txBox="1"/>
          <p:nvPr>
            <p:ph type="body" sz="quarter" idx="26"/>
          </p:nvPr>
        </p:nvSpPr>
        <p:spPr>
          <a:xfrm>
            <a:off x="502541" y="2937382"/>
            <a:ext cx="2430002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00" name="Google Shape;120;p15"/>
          <p:cNvSpPr txBox="1"/>
          <p:nvPr>
            <p:ph type="body" sz="quarter" idx="27"/>
          </p:nvPr>
        </p:nvSpPr>
        <p:spPr>
          <a:xfrm>
            <a:off x="502541" y="3252951"/>
            <a:ext cx="2430002" cy="1296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201" name="Google Shape;121;p15"/>
          <p:cNvSpPr txBox="1"/>
          <p:nvPr>
            <p:ph type="body" sz="quarter" idx="28"/>
          </p:nvPr>
        </p:nvSpPr>
        <p:spPr>
          <a:xfrm>
            <a:off x="3388171" y="2937382"/>
            <a:ext cx="2430001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02" name="Google Shape;122;p15"/>
          <p:cNvSpPr txBox="1"/>
          <p:nvPr>
            <p:ph type="body" sz="quarter" idx="29"/>
          </p:nvPr>
        </p:nvSpPr>
        <p:spPr>
          <a:xfrm>
            <a:off x="3388171" y="3252951"/>
            <a:ext cx="2430001" cy="1296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203" name="Google Shape;123;p15"/>
          <p:cNvSpPr txBox="1"/>
          <p:nvPr>
            <p:ph type="body" sz="quarter" idx="30"/>
          </p:nvPr>
        </p:nvSpPr>
        <p:spPr>
          <a:xfrm>
            <a:off x="6216039" y="2937382"/>
            <a:ext cx="2430001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04" name="Google Shape;124;p15"/>
          <p:cNvSpPr txBox="1"/>
          <p:nvPr>
            <p:ph type="body" sz="quarter" idx="31"/>
          </p:nvPr>
        </p:nvSpPr>
        <p:spPr>
          <a:xfrm>
            <a:off x="6216039" y="3252951"/>
            <a:ext cx="2430001" cy="1296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205" name="Google Shape;125;p15"/>
          <p:cNvSpPr txBox="1"/>
          <p:nvPr>
            <p:ph type="body" sz="quarter" idx="32"/>
          </p:nvPr>
        </p:nvSpPr>
        <p:spPr>
          <a:xfrm>
            <a:off x="503038" y="6248"/>
            <a:ext cx="8568902" cy="304200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+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14" name="Google Shape;128;p16"/>
          <p:cNvSpPr txBox="1"/>
          <p:nvPr>
            <p:ph type="body" sz="quarter" idx="21"/>
          </p:nvPr>
        </p:nvSpPr>
        <p:spPr>
          <a:xfrm>
            <a:off x="502540" y="648295"/>
            <a:ext cx="3475339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15" name="Google Shape;129;p16"/>
          <p:cNvSpPr txBox="1"/>
          <p:nvPr>
            <p:ph type="body" sz="half" idx="22"/>
          </p:nvPr>
        </p:nvSpPr>
        <p:spPr>
          <a:xfrm>
            <a:off x="502540" y="963863"/>
            <a:ext cx="3475339" cy="348093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216" name="Google Shape;130;p16"/>
          <p:cNvSpPr/>
          <p:nvPr>
            <p:ph type="pic" idx="23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Image - 1 col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4" name="Google Shape;133;p17"/>
          <p:cNvSpPr/>
          <p:nvPr/>
        </p:nvSpPr>
        <p:spPr>
          <a:xfrm>
            <a:off x="6091518" y="1"/>
            <a:ext cx="3052501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25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6" name="Google Shape;135;p17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27" name="Google Shape;136;p17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228" name="Google Shape;137;p17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sp>
        <p:nvSpPr>
          <p:cNvPr id="229" name="Google Shape;138;p17"/>
          <p:cNvSpPr/>
          <p:nvPr>
            <p:ph type="pic" idx="24"/>
          </p:nvPr>
        </p:nvSpPr>
        <p:spPr>
          <a:xfrm>
            <a:off x="3426040" y="865165"/>
            <a:ext cx="5717961" cy="38128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3Parag Medium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7" name="Texte niveau 1…"/>
          <p:cNvSpPr txBox="1"/>
          <p:nvPr>
            <p:ph type="body" sz="half" idx="1"/>
          </p:nvPr>
        </p:nvSpPr>
        <p:spPr>
          <a:xfrm>
            <a:off x="502443" y="1579749"/>
            <a:ext cx="8066487" cy="182207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800"/>
            </a:lvl1pPr>
            <a:lvl2pPr>
              <a:lnSpc>
                <a:spcPct val="90000"/>
              </a:lnSpc>
              <a:defRPr sz="3800"/>
            </a:lvl2pPr>
            <a:lvl3pPr>
              <a:lnSpc>
                <a:spcPct val="90000"/>
              </a:lnSpc>
              <a:defRPr sz="3800"/>
            </a:lvl3pPr>
            <a:lvl4pPr>
              <a:lnSpc>
                <a:spcPct val="90000"/>
              </a:lnSpc>
              <a:defRPr sz="3800"/>
            </a:lvl4pPr>
            <a:lvl5pPr>
              <a:lnSpc>
                <a:spcPct val="90000"/>
              </a:lnSpc>
              <a:defRPr sz="3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38" name="Google Shape;141;p18"/>
          <p:cNvSpPr txBox="1"/>
          <p:nvPr>
            <p:ph type="body" sz="quarter" idx="21"/>
          </p:nvPr>
        </p:nvSpPr>
        <p:spPr>
          <a:xfrm>
            <a:off x="502541" y="3860832"/>
            <a:ext cx="2430002" cy="812054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239" name="Google Shape;142;p18"/>
          <p:cNvSpPr txBox="1"/>
          <p:nvPr>
            <p:ph type="body" sz="quarter" idx="22"/>
          </p:nvPr>
        </p:nvSpPr>
        <p:spPr>
          <a:xfrm>
            <a:off x="3388171" y="3860832"/>
            <a:ext cx="2430001" cy="812054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240" name="Google Shape;143;p18"/>
          <p:cNvSpPr txBox="1"/>
          <p:nvPr>
            <p:ph type="body" sz="quarter" idx="23"/>
          </p:nvPr>
        </p:nvSpPr>
        <p:spPr>
          <a:xfrm>
            <a:off x="6216039" y="3860832"/>
            <a:ext cx="2430001" cy="812054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241" name="Google Shape;144;p18"/>
          <p:cNvSpPr txBox="1"/>
          <p:nvPr>
            <p:ph type="body" sz="quarter" idx="24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3Parag Medium - Dark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9" name="Texte niveau 1…"/>
          <p:cNvSpPr txBox="1"/>
          <p:nvPr>
            <p:ph type="body" sz="half" idx="1"/>
          </p:nvPr>
        </p:nvSpPr>
        <p:spPr>
          <a:xfrm>
            <a:off x="502443" y="1579749"/>
            <a:ext cx="8066487" cy="182207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100">
                <a:solidFill>
                  <a:srgbClr val="FFFFFF"/>
                </a:solidFill>
              </a:defRPr>
            </a:lvl1pPr>
            <a:lvl2pPr>
              <a:lnSpc>
                <a:spcPct val="90000"/>
              </a:lnSpc>
              <a:defRPr sz="4100">
                <a:solidFill>
                  <a:srgbClr val="FFFFFF"/>
                </a:solidFill>
              </a:defRPr>
            </a:lvl2pPr>
            <a:lvl3pPr>
              <a:lnSpc>
                <a:spcPct val="90000"/>
              </a:lnSpc>
              <a:defRPr sz="4100">
                <a:solidFill>
                  <a:srgbClr val="FFFFFF"/>
                </a:solidFill>
              </a:defRPr>
            </a:lvl3pPr>
            <a:lvl4pPr>
              <a:lnSpc>
                <a:spcPct val="90000"/>
              </a:lnSpc>
              <a:defRPr sz="4100">
                <a:solidFill>
                  <a:srgbClr val="FFFFFF"/>
                </a:solidFill>
              </a:defRPr>
            </a:lvl4pPr>
            <a:lvl5pPr>
              <a:lnSpc>
                <a:spcPct val="90000"/>
              </a:lnSpc>
              <a:defRPr sz="4100">
                <a:solidFill>
                  <a:srgbClr val="FFFFFF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50" name="Google Shape;147;p19"/>
          <p:cNvSpPr txBox="1"/>
          <p:nvPr>
            <p:ph type="body" sz="quarter" idx="21"/>
          </p:nvPr>
        </p:nvSpPr>
        <p:spPr>
          <a:xfrm>
            <a:off x="502541" y="3860832"/>
            <a:ext cx="2430002" cy="812054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51" name="Google Shape;148;p19"/>
          <p:cNvSpPr txBox="1"/>
          <p:nvPr>
            <p:ph type="body" sz="quarter" idx="22"/>
          </p:nvPr>
        </p:nvSpPr>
        <p:spPr>
          <a:xfrm>
            <a:off x="3388171" y="3860832"/>
            <a:ext cx="2430001" cy="812054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52" name="Google Shape;149;p19"/>
          <p:cNvSpPr txBox="1"/>
          <p:nvPr>
            <p:ph type="body" sz="quarter" idx="23"/>
          </p:nvPr>
        </p:nvSpPr>
        <p:spPr>
          <a:xfrm>
            <a:off x="6216039" y="3860832"/>
            <a:ext cx="2430001" cy="812054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53" name="Google Shape;150;p19"/>
          <p:cNvSpPr txBox="1"/>
          <p:nvPr>
            <p:ph type="body" sz="quarter" idx="24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chemeClr val="accent6"/>
                </a:solidFill>
              </a:defRPr>
            </a:pPr>
          </a:p>
        </p:txBody>
      </p:sp>
      <p:sp>
        <p:nvSpPr>
          <p:cNvPr id="254" name="Google Shape;151;p19"/>
          <p:cNvSpPr/>
          <p:nvPr/>
        </p:nvSpPr>
        <p:spPr>
          <a:xfrm>
            <a:off x="0" y="4624387"/>
            <a:ext cx="1949947" cy="512865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55" name="fvae_logo_couleur_inverse@2x.pngGoogle Shape;152;p19" descr="fvae_logo_couleur_inverse@2x.pngGoogle Shape;152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valeurs - Center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4" name="Google Shape;155;p20"/>
          <p:cNvSpPr/>
          <p:nvPr/>
        </p:nvSpPr>
        <p:spPr>
          <a:xfrm flipH="1">
            <a:off x="4571999" y="1104024"/>
            <a:ext cx="1" cy="3592801"/>
          </a:xfrm>
          <a:prstGeom prst="line">
            <a:avLst/>
          </a:prstGeom>
          <a:ln w="38100">
            <a:solidFill>
              <a:srgbClr val="1041BE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5" name="Google Shape;157;p20"/>
          <p:cNvSpPr/>
          <p:nvPr/>
        </p:nvSpPr>
        <p:spPr>
          <a:xfrm flipH="1" flipV="1">
            <a:off x="567524" y="2901695"/>
            <a:ext cx="8017501" cy="1"/>
          </a:xfrm>
          <a:prstGeom prst="line">
            <a:avLst/>
          </a:prstGeom>
          <a:ln w="38100">
            <a:solidFill>
              <a:srgbClr val="1041BE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6" name="Google Shape;161;p20"/>
          <p:cNvSpPr txBox="1"/>
          <p:nvPr>
            <p:ph type="body" sz="quarter" idx="21"/>
          </p:nvPr>
        </p:nvSpPr>
        <p:spPr>
          <a:xfrm>
            <a:off x="597799" y="1446924"/>
            <a:ext cx="3758702" cy="562201"/>
          </a:xfrm>
          <a:prstGeom prst="rect">
            <a:avLst/>
          </a:prstGeom>
        </p:spPr>
        <p:txBody>
          <a:bodyPr/>
          <a:lstStyle/>
          <a:p>
            <a:pPr marL="457200" indent="-317500">
              <a:lnSpc>
                <a:spcPct val="115000"/>
              </a:lnSpc>
              <a:buClr>
                <a:srgbClr val="182759"/>
              </a:buClr>
              <a:buSzPts val="1400"/>
              <a:buFont typeface="Helvetica"/>
              <a:buChar char="•"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67" name="Google Shape;162;p20"/>
          <p:cNvSpPr txBox="1"/>
          <p:nvPr>
            <p:ph type="body" sz="quarter" idx="22"/>
          </p:nvPr>
        </p:nvSpPr>
        <p:spPr>
          <a:xfrm>
            <a:off x="4826325" y="1446924"/>
            <a:ext cx="3758701" cy="562201"/>
          </a:xfrm>
          <a:prstGeom prst="rect">
            <a:avLst/>
          </a:prstGeom>
        </p:spPr>
        <p:txBody>
          <a:bodyPr/>
          <a:lstStyle/>
          <a:p>
            <a:pPr marL="457200" indent="-317500" algn="r">
              <a:lnSpc>
                <a:spcPct val="115000"/>
              </a:lnSpc>
              <a:buClr>
                <a:srgbClr val="182759"/>
              </a:buClr>
              <a:buSzPts val="1400"/>
              <a:buFont typeface="Helvetica"/>
              <a:buChar char="•"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68" name="Google Shape;163;p20"/>
          <p:cNvSpPr txBox="1"/>
          <p:nvPr>
            <p:ph type="body" sz="quarter" idx="23"/>
          </p:nvPr>
        </p:nvSpPr>
        <p:spPr>
          <a:xfrm>
            <a:off x="597799" y="3066400"/>
            <a:ext cx="3758702" cy="562201"/>
          </a:xfrm>
          <a:prstGeom prst="rect">
            <a:avLst/>
          </a:prstGeom>
        </p:spPr>
        <p:txBody>
          <a:bodyPr/>
          <a:lstStyle/>
          <a:p>
            <a:pPr marL="457200" indent="-317500">
              <a:lnSpc>
                <a:spcPct val="115000"/>
              </a:lnSpc>
              <a:buClr>
                <a:srgbClr val="182759"/>
              </a:buClr>
              <a:buSzPts val="1400"/>
              <a:buFont typeface="Helvetica"/>
              <a:buChar char="•"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69" name="Google Shape;164;p20"/>
          <p:cNvSpPr txBox="1"/>
          <p:nvPr>
            <p:ph type="body" sz="quarter" idx="24"/>
          </p:nvPr>
        </p:nvSpPr>
        <p:spPr>
          <a:xfrm>
            <a:off x="4826325" y="3066400"/>
            <a:ext cx="3758701" cy="562201"/>
          </a:xfrm>
          <a:prstGeom prst="rect">
            <a:avLst/>
          </a:prstGeom>
        </p:spPr>
        <p:txBody>
          <a:bodyPr/>
          <a:lstStyle/>
          <a:p>
            <a:pPr marL="457200" indent="-317500" algn="r">
              <a:lnSpc>
                <a:spcPct val="115000"/>
              </a:lnSpc>
              <a:buClr>
                <a:srgbClr val="182759"/>
              </a:buClr>
              <a:buSzPts val="1400"/>
              <a:buFont typeface="Helvetica"/>
              <a:buChar char="•"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70" name="Google Shape;165;p20"/>
          <p:cNvSpPr txBox="1"/>
          <p:nvPr>
            <p:ph type="body" sz="quarter" idx="25"/>
          </p:nvPr>
        </p:nvSpPr>
        <p:spPr>
          <a:xfrm>
            <a:off x="502540" y="599312"/>
            <a:ext cx="8569502" cy="326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valeurs - Center - Ligh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8" name="Texte niveau 1…"/>
          <p:cNvSpPr txBox="1"/>
          <p:nvPr>
            <p:ph type="body" sz="quarter" idx="1"/>
          </p:nvPr>
        </p:nvSpPr>
        <p:spPr>
          <a:xfrm>
            <a:off x="503039" y="6248"/>
            <a:ext cx="8568901" cy="30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79" name="Google Shape;168;p21"/>
          <p:cNvSpPr txBox="1"/>
          <p:nvPr>
            <p:ph type="body" sz="quarter" idx="21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80" name="Google Shape;169;p21"/>
          <p:cNvSpPr txBox="1"/>
          <p:nvPr>
            <p:ph type="body" sz="quarter" idx="22"/>
          </p:nvPr>
        </p:nvSpPr>
        <p:spPr>
          <a:xfrm>
            <a:off x="3492001" y="395417"/>
            <a:ext cx="2160001" cy="42825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81" name="Google Shape;170;p21"/>
          <p:cNvSpPr txBox="1"/>
          <p:nvPr>
            <p:ph type="body" sz="quarter" idx="23"/>
          </p:nvPr>
        </p:nvSpPr>
        <p:spPr>
          <a:xfrm>
            <a:off x="6408928" y="395417"/>
            <a:ext cx="2160001" cy="42825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82" name="Google Shape;171;p21"/>
          <p:cNvSpPr/>
          <p:nvPr/>
        </p:nvSpPr>
        <p:spPr>
          <a:xfrm flipH="1">
            <a:off x="2971642" y="1981812"/>
            <a:ext cx="303301" cy="560700"/>
          </a:xfrm>
          <a:prstGeom prst="line">
            <a:avLst/>
          </a:prstGeom>
          <a:ln w="38100">
            <a:solidFill>
              <a:srgbClr val="1041BE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3" name="Google Shape;172;p21"/>
          <p:cNvSpPr/>
          <p:nvPr/>
        </p:nvSpPr>
        <p:spPr>
          <a:xfrm flipH="1">
            <a:off x="5876495" y="1981812"/>
            <a:ext cx="303301" cy="560700"/>
          </a:xfrm>
          <a:prstGeom prst="line">
            <a:avLst/>
          </a:prstGeom>
          <a:ln w="38100">
            <a:solidFill>
              <a:srgbClr val="1041BE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4" name="Google Shape;173;p21"/>
          <p:cNvSpPr txBox="1"/>
          <p:nvPr>
            <p:ph type="body" sz="quarter" idx="24"/>
          </p:nvPr>
        </p:nvSpPr>
        <p:spPr>
          <a:xfrm>
            <a:off x="502540" y="599312"/>
            <a:ext cx="8569502" cy="326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3pointsclé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2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93" name="Google Shape;177;p22"/>
          <p:cNvSpPr/>
          <p:nvPr/>
        </p:nvSpPr>
        <p:spPr>
          <a:xfrm>
            <a:off x="5004196" y="0"/>
            <a:ext cx="4139804" cy="5143500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294" name="Google Shape;178;p22"/>
          <p:cNvSpPr txBox="1"/>
          <p:nvPr>
            <p:ph type="body" sz="half" idx="21"/>
          </p:nvPr>
        </p:nvSpPr>
        <p:spPr>
          <a:xfrm>
            <a:off x="474215" y="457199"/>
            <a:ext cx="3996930" cy="422076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  <a:defRPr sz="4100"/>
            </a:pPr>
          </a:p>
        </p:txBody>
      </p:sp>
      <p:sp>
        <p:nvSpPr>
          <p:cNvPr id="295" name="Google Shape;179;p22"/>
          <p:cNvSpPr txBox="1"/>
          <p:nvPr>
            <p:ph type="body" sz="quarter" idx="22"/>
          </p:nvPr>
        </p:nvSpPr>
        <p:spPr>
          <a:xfrm>
            <a:off x="6093055" y="755848"/>
            <a:ext cx="2475874" cy="32504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96" name="Google Shape;180;p22"/>
          <p:cNvSpPr txBox="1"/>
          <p:nvPr>
            <p:ph type="body" sz="quarter" idx="23"/>
          </p:nvPr>
        </p:nvSpPr>
        <p:spPr>
          <a:xfrm>
            <a:off x="6093055" y="1114225"/>
            <a:ext cx="2475874" cy="856680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97" name="Google Shape;181;p22"/>
          <p:cNvSpPr txBox="1"/>
          <p:nvPr>
            <p:ph type="body" sz="quarter" idx="24"/>
          </p:nvPr>
        </p:nvSpPr>
        <p:spPr>
          <a:xfrm>
            <a:off x="6093055" y="2095282"/>
            <a:ext cx="2475874" cy="32504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298" name="Google Shape;182;p22"/>
          <p:cNvSpPr txBox="1"/>
          <p:nvPr>
            <p:ph type="body" sz="quarter" idx="25"/>
          </p:nvPr>
        </p:nvSpPr>
        <p:spPr>
          <a:xfrm>
            <a:off x="6093055" y="2453661"/>
            <a:ext cx="2475874" cy="857950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299" name="Google Shape;183;p22"/>
          <p:cNvSpPr txBox="1"/>
          <p:nvPr>
            <p:ph type="body" sz="quarter" idx="26"/>
          </p:nvPr>
        </p:nvSpPr>
        <p:spPr>
          <a:xfrm>
            <a:off x="6093055" y="3463976"/>
            <a:ext cx="2475874" cy="32504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300" name="Google Shape;184;p22"/>
          <p:cNvSpPr txBox="1"/>
          <p:nvPr>
            <p:ph type="body" sz="quarter" idx="27"/>
          </p:nvPr>
        </p:nvSpPr>
        <p:spPr>
          <a:xfrm>
            <a:off x="6093055" y="3822355"/>
            <a:ext cx="2475874" cy="855613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301" name="Google Shape;185;p22"/>
          <p:cNvSpPr/>
          <p:nvPr/>
        </p:nvSpPr>
        <p:spPr>
          <a:xfrm rot="10800000">
            <a:off x="5702565" y="793508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02" name="Google Shape;186;p22"/>
          <p:cNvSpPr/>
          <p:nvPr/>
        </p:nvSpPr>
        <p:spPr>
          <a:xfrm rot="10800000">
            <a:off x="5702565" y="2145540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03" name="Google Shape;187;p22"/>
          <p:cNvSpPr/>
          <p:nvPr/>
        </p:nvSpPr>
        <p:spPr>
          <a:xfrm rot="10800000">
            <a:off x="5702565" y="3505810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3pointsclés-Dark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1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2" name="Google Shape;190;p23"/>
          <p:cNvSpPr/>
          <p:nvPr/>
        </p:nvSpPr>
        <p:spPr>
          <a:xfrm>
            <a:off x="0" y="4624387"/>
            <a:ext cx="1949947" cy="512865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Google Shape;191;p23"/>
          <p:cNvSpPr/>
          <p:nvPr/>
        </p:nvSpPr>
        <p:spPr>
          <a:xfrm rot="10800000">
            <a:off x="5702565" y="793508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14" name="Google Shape;192;p23"/>
          <p:cNvSpPr/>
          <p:nvPr/>
        </p:nvSpPr>
        <p:spPr>
          <a:xfrm rot="10800000">
            <a:off x="5702565" y="2145540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15" name="Google Shape;193;p23"/>
          <p:cNvSpPr/>
          <p:nvPr/>
        </p:nvSpPr>
        <p:spPr>
          <a:xfrm rot="10800000">
            <a:off x="5702565" y="3505810"/>
            <a:ext cx="237394" cy="158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9000"/>
                </a:moveTo>
                <a:lnTo>
                  <a:pt x="4596" y="9000"/>
                </a:lnTo>
                <a:lnTo>
                  <a:pt x="8892" y="2538"/>
                </a:lnTo>
                <a:lnTo>
                  <a:pt x="7200" y="0"/>
                </a:lnTo>
                <a:lnTo>
                  <a:pt x="0" y="10800"/>
                </a:lnTo>
                <a:lnTo>
                  <a:pt x="7200" y="21600"/>
                </a:lnTo>
                <a:lnTo>
                  <a:pt x="8892" y="19062"/>
                </a:lnTo>
                <a:lnTo>
                  <a:pt x="4596" y="12600"/>
                </a:lnTo>
                <a:lnTo>
                  <a:pt x="21600" y="12600"/>
                </a:lnTo>
                <a:lnTo>
                  <a:pt x="21600" y="90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16" name="Google Shape;194;p23"/>
          <p:cNvSpPr txBox="1"/>
          <p:nvPr>
            <p:ph type="body" sz="half" idx="21"/>
          </p:nvPr>
        </p:nvSpPr>
        <p:spPr>
          <a:xfrm>
            <a:off x="502443" y="479323"/>
            <a:ext cx="4429482" cy="419864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317" name="Google Shape;195;p23"/>
          <p:cNvSpPr txBox="1"/>
          <p:nvPr>
            <p:ph type="body" sz="quarter" idx="22"/>
          </p:nvPr>
        </p:nvSpPr>
        <p:spPr>
          <a:xfrm>
            <a:off x="6093055" y="705698"/>
            <a:ext cx="2475874" cy="1080001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318" name="Google Shape;196;p23"/>
          <p:cNvSpPr txBox="1"/>
          <p:nvPr>
            <p:ph type="body" sz="quarter" idx="23"/>
          </p:nvPr>
        </p:nvSpPr>
        <p:spPr>
          <a:xfrm>
            <a:off x="6093055" y="2063582"/>
            <a:ext cx="2475874" cy="1080001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319" name="Google Shape;197;p23"/>
          <p:cNvSpPr txBox="1"/>
          <p:nvPr>
            <p:ph type="body" sz="quarter" idx="24"/>
          </p:nvPr>
        </p:nvSpPr>
        <p:spPr>
          <a:xfrm>
            <a:off x="6093055" y="3414609"/>
            <a:ext cx="2475874" cy="1080001"/>
          </a:xfrm>
          <a:prstGeom prst="rect">
            <a:avLst/>
          </a:prstGeom>
        </p:spPr>
        <p:txBody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  <p:pic>
        <p:nvPicPr>
          <p:cNvPr id="320" name="fvae_logo_couleur_inverse@2x.pngGoogle Shape;198;p23" descr="fvae_logo_couleur_inverse@2x.pngGoogle Shape;198;p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 + Medi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8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29" name="Google Shape;201;p24"/>
          <p:cNvSpPr txBox="1"/>
          <p:nvPr>
            <p:ph type="body" sz="half" idx="21"/>
          </p:nvPr>
        </p:nvSpPr>
        <p:spPr>
          <a:xfrm>
            <a:off x="502445" y="537519"/>
            <a:ext cx="3854054" cy="4015544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4100"/>
            </a:pPr>
          </a:p>
        </p:txBody>
      </p:sp>
      <p:sp>
        <p:nvSpPr>
          <p:cNvPr id="330" name="Google Shape;202;p24"/>
          <p:cNvSpPr/>
          <p:nvPr>
            <p:ph type="pic" idx="22"/>
          </p:nvPr>
        </p:nvSpPr>
        <p:spPr>
          <a:xfrm>
            <a:off x="4787503" y="0"/>
            <a:ext cx="4356497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 + Media - Dark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8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39" name="Google Shape;205;p25"/>
          <p:cNvSpPr txBox="1"/>
          <p:nvPr>
            <p:ph type="body" sz="half" idx="21"/>
          </p:nvPr>
        </p:nvSpPr>
        <p:spPr>
          <a:xfrm>
            <a:off x="502445" y="554046"/>
            <a:ext cx="3854054" cy="3999016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4100">
                <a:solidFill>
                  <a:srgbClr val="FFFFFF"/>
                </a:solidFill>
              </a:defRPr>
            </a:pPr>
          </a:p>
        </p:txBody>
      </p:sp>
      <p:sp>
        <p:nvSpPr>
          <p:cNvPr id="340" name="Google Shape;206;p25"/>
          <p:cNvSpPr/>
          <p:nvPr>
            <p:ph type="pic" idx="22"/>
          </p:nvPr>
        </p:nvSpPr>
        <p:spPr>
          <a:xfrm>
            <a:off x="4787503" y="0"/>
            <a:ext cx="4356497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1" name="Google Shape;207;p25"/>
          <p:cNvSpPr/>
          <p:nvPr/>
        </p:nvSpPr>
        <p:spPr>
          <a:xfrm>
            <a:off x="0" y="4624387"/>
            <a:ext cx="1949947" cy="512865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42" name="fvae_logo_couleur_inverse@2x.pngGoogle Shape;208;p25" descr="fvae_logo_couleur_inverse@2x.pngGoogle Shape;208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Tablette - 1 col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0" name="Google Shape;211;p26"/>
          <p:cNvSpPr/>
          <p:nvPr/>
        </p:nvSpPr>
        <p:spPr>
          <a:xfrm>
            <a:off x="6091518" y="1"/>
            <a:ext cx="3052483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52" name="Google Shape;213;p26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353" name="Google Shape;214;p26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354" name="Google Shape;215;p26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355" name="Google Shape;216;p26" descr="Google Shape;216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2851" y="607494"/>
            <a:ext cx="6462552" cy="3890547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Google Shape;217;p26"/>
          <p:cNvSpPr/>
          <p:nvPr>
            <p:ph type="pic" sz="half" idx="24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7" name="Google Shape;218;p26"/>
          <p:cNvSpPr txBox="1"/>
          <p:nvPr>
            <p:ph type="body" sz="quarter" idx="25"/>
          </p:nvPr>
        </p:nvSpPr>
        <p:spPr>
          <a:xfrm>
            <a:off x="3193974" y="4568775"/>
            <a:ext cx="5777402" cy="219901"/>
          </a:xfrm>
          <a:prstGeom prst="rect">
            <a:avLst/>
          </a:prstGeom>
        </p:spPr>
        <p:txBody>
          <a:bodyPr/>
          <a:lstStyle/>
          <a:p>
            <a:pPr marL="457200" indent="-279400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Tablette - 1 co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5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66" name="Google Shape;221;p27"/>
          <p:cNvSpPr txBox="1"/>
          <p:nvPr>
            <p:ph type="body" sz="quarter" idx="21"/>
          </p:nvPr>
        </p:nvSpPr>
        <p:spPr>
          <a:xfrm>
            <a:off x="502542" y="964797"/>
            <a:ext cx="2523047" cy="30408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367" name="Google Shape;222;p27"/>
          <p:cNvSpPr txBox="1"/>
          <p:nvPr>
            <p:ph type="body" sz="quarter" idx="22"/>
          </p:nvPr>
        </p:nvSpPr>
        <p:spPr>
          <a:xfrm>
            <a:off x="502542" y="1280365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pic>
        <p:nvPicPr>
          <p:cNvPr id="368" name="Google Shape;223;p27" descr="Google Shape;223;p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99313" y="964797"/>
            <a:ext cx="5069616" cy="3051981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Google Shape;224;p27"/>
          <p:cNvSpPr/>
          <p:nvPr>
            <p:ph type="pic" sz="half" idx="23"/>
          </p:nvPr>
        </p:nvSpPr>
        <p:spPr>
          <a:xfrm>
            <a:off x="3908097" y="1163438"/>
            <a:ext cx="4251119" cy="26546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70" name="Google Shape;225;p27"/>
          <p:cNvSpPr txBox="1"/>
          <p:nvPr>
            <p:ph type="body" sz="quarter" idx="24"/>
          </p:nvPr>
        </p:nvSpPr>
        <p:spPr>
          <a:xfrm>
            <a:off x="3499325" y="4073149"/>
            <a:ext cx="5069701" cy="219901"/>
          </a:xfrm>
          <a:prstGeom prst="rect">
            <a:avLst/>
          </a:prstGeom>
        </p:spPr>
        <p:txBody>
          <a:bodyPr/>
          <a:lstStyle/>
          <a:p>
            <a:pPr marL="457200" indent="-279400" algn="ctr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vice - Front - Tab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8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379" name="Google Shape;228;p28" descr="Google Shape;228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0321" y="701796"/>
            <a:ext cx="5943357" cy="3577984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Google Shape;229;p28"/>
          <p:cNvSpPr/>
          <p:nvPr>
            <p:ph type="pic" sz="half" idx="21"/>
          </p:nvPr>
        </p:nvSpPr>
        <p:spPr>
          <a:xfrm>
            <a:off x="2077984" y="931375"/>
            <a:ext cx="4983795" cy="311223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81" name="Google Shape;230;p28"/>
          <p:cNvSpPr txBox="1"/>
          <p:nvPr>
            <p:ph type="body" sz="quarter" idx="22"/>
          </p:nvPr>
        </p:nvSpPr>
        <p:spPr>
          <a:xfrm>
            <a:off x="1600324" y="4313625"/>
            <a:ext cx="5943302" cy="219901"/>
          </a:xfrm>
          <a:prstGeom prst="rect">
            <a:avLst/>
          </a:prstGeom>
        </p:spPr>
        <p:txBody>
          <a:bodyPr/>
          <a:lstStyle/>
          <a:p>
            <a:pPr marL="457200" indent="-279400" algn="ctr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tte Big Right + Texte - parag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9" name="Texte niveau 1…"/>
          <p:cNvSpPr txBox="1"/>
          <p:nvPr>
            <p:ph type="body" sz="quarter" idx="1"/>
          </p:nvPr>
        </p:nvSpPr>
        <p:spPr>
          <a:xfrm>
            <a:off x="7111830" y="458867"/>
            <a:ext cx="1776138" cy="26829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90" name="Google Shape;233;p29"/>
          <p:cNvSpPr txBox="1"/>
          <p:nvPr>
            <p:ph type="body" sz="quarter" idx="21"/>
          </p:nvPr>
        </p:nvSpPr>
        <p:spPr>
          <a:xfrm>
            <a:off x="7111830" y="774435"/>
            <a:ext cx="1776137" cy="3216723"/>
          </a:xfrm>
          <a:prstGeom prst="rect">
            <a:avLst/>
          </a:prstGeom>
        </p:spPr>
        <p:txBody>
          <a:bodyPr/>
          <a:lstStyle/>
          <a:p>
            <a:pPr>
              <a:defRPr sz="1100">
                <a:solidFill>
                  <a:srgbClr val="283A5B"/>
                </a:solidFill>
              </a:defRPr>
            </a:pPr>
          </a:p>
        </p:txBody>
      </p:sp>
      <p:pic>
        <p:nvPicPr>
          <p:cNvPr id="391" name="Google Shape;234;p29" descr="Google Shape;234;p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5072" y="4790423"/>
            <a:ext cx="520590" cy="285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Google Shape;235;p29" descr="Google Shape;235;p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91940" y="4861364"/>
            <a:ext cx="624462" cy="144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Google Shape;236;p29" descr="Google Shape;236;p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3476474" y="281179"/>
            <a:ext cx="10423464" cy="6275071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Google Shape;237;p29"/>
          <p:cNvSpPr/>
          <p:nvPr>
            <p:ph type="pic" idx="22"/>
          </p:nvPr>
        </p:nvSpPr>
        <p:spPr>
          <a:xfrm>
            <a:off x="-2635161" y="690141"/>
            <a:ext cx="8740583" cy="54582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5" name="Google Shape;238;p29"/>
          <p:cNvSpPr txBox="1"/>
          <p:nvPr>
            <p:ph type="body" sz="quarter" idx="23"/>
          </p:nvPr>
        </p:nvSpPr>
        <p:spPr>
          <a:xfrm>
            <a:off x="190174" y="61275"/>
            <a:ext cx="6699902" cy="219901"/>
          </a:xfrm>
          <a:prstGeom prst="rect">
            <a:avLst/>
          </a:prstGeom>
        </p:spPr>
        <p:txBody>
          <a:bodyPr/>
          <a:lstStyle/>
          <a:p>
            <a:pPr marL="457200" indent="-279400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tte Big Left + Texte - parag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03" name="Google Shape;240;p30" descr="Google Shape;240;p3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3961" y="281179"/>
            <a:ext cx="10423464" cy="6275071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Google Shape;241;p30"/>
          <p:cNvSpPr/>
          <p:nvPr>
            <p:ph type="pic" idx="21"/>
          </p:nvPr>
        </p:nvSpPr>
        <p:spPr>
          <a:xfrm>
            <a:off x="3355273" y="690141"/>
            <a:ext cx="8740583" cy="54582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05" name="Texte niveau 1…"/>
          <p:cNvSpPr txBox="1"/>
          <p:nvPr>
            <p:ph type="body" sz="quarter" idx="1"/>
          </p:nvPr>
        </p:nvSpPr>
        <p:spPr>
          <a:xfrm>
            <a:off x="511659" y="458867"/>
            <a:ext cx="1776138" cy="26829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6" name="Google Shape;243;p30"/>
          <p:cNvSpPr txBox="1"/>
          <p:nvPr>
            <p:ph type="body" sz="quarter" idx="22"/>
          </p:nvPr>
        </p:nvSpPr>
        <p:spPr>
          <a:xfrm>
            <a:off x="511660" y="774435"/>
            <a:ext cx="1776136" cy="3216723"/>
          </a:xfrm>
          <a:prstGeom prst="rect">
            <a:avLst/>
          </a:prstGeom>
        </p:spPr>
        <p:txBody>
          <a:bodyPr/>
          <a:lstStyle/>
          <a:p>
            <a:pPr>
              <a:defRPr sz="1100">
                <a:solidFill>
                  <a:srgbClr val="283A5B"/>
                </a:solidFill>
              </a:defRPr>
            </a:pPr>
          </a:p>
        </p:txBody>
      </p:sp>
      <p:sp>
        <p:nvSpPr>
          <p:cNvPr id="407" name="Google Shape;244;p30"/>
          <p:cNvSpPr txBox="1"/>
          <p:nvPr>
            <p:ph type="body" sz="quarter" idx="23"/>
          </p:nvPr>
        </p:nvSpPr>
        <p:spPr>
          <a:xfrm>
            <a:off x="2513950" y="61275"/>
            <a:ext cx="5777401" cy="219901"/>
          </a:xfrm>
          <a:prstGeom prst="rect">
            <a:avLst/>
          </a:prstGeom>
        </p:spPr>
        <p:txBody>
          <a:bodyPr/>
          <a:lstStyle/>
          <a:p>
            <a:pPr marL="457200" indent="-279400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e + Parag Medium + Laptop - 1 col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5" name="Google Shape;9;p1" descr="Google Shape;9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225" cy="274270"/>
          </a:xfrm>
          <a:prstGeom prst="rect">
            <a:avLst/>
          </a:prstGeom>
          <a:ln w="12700">
            <a:miter lim="400000"/>
          </a:ln>
        </p:spPr>
      </p:pic>
      <p:sp>
        <p:nvSpPr>
          <p:cNvPr id="416" name="Google Shape;247;p31"/>
          <p:cNvSpPr/>
          <p:nvPr/>
        </p:nvSpPr>
        <p:spPr>
          <a:xfrm>
            <a:off x="6091518" y="0"/>
            <a:ext cx="3052483" cy="5143500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18" name="Google Shape;249;p31"/>
          <p:cNvSpPr txBox="1"/>
          <p:nvPr>
            <p:ph type="body" sz="quarter" idx="21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19" name="Google Shape;250;p31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420" name="Google Shape;251;p31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421" name="Google Shape;252;p31" descr="Google Shape;252;p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93732" y="607494"/>
            <a:ext cx="7492381" cy="4258776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Google Shape;253;p31"/>
          <p:cNvSpPr/>
          <p:nvPr>
            <p:ph type="pic" sz="half" idx="24"/>
          </p:nvPr>
        </p:nvSpPr>
        <p:spPr>
          <a:xfrm>
            <a:off x="3703179" y="873138"/>
            <a:ext cx="5419165" cy="3077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3" name="Google Shape;254;p31"/>
          <p:cNvSpPr txBox="1"/>
          <p:nvPr>
            <p:ph type="body" sz="quarter" idx="25"/>
          </p:nvPr>
        </p:nvSpPr>
        <p:spPr>
          <a:xfrm>
            <a:off x="3193974" y="4644975"/>
            <a:ext cx="5777402" cy="219901"/>
          </a:xfrm>
          <a:prstGeom prst="rect">
            <a:avLst/>
          </a:prstGeom>
        </p:spPr>
        <p:txBody>
          <a:bodyPr/>
          <a:lstStyle/>
          <a:p>
            <a:pPr marL="457200" indent="-279400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24" name="Google Shape;255;p31"/>
          <p:cNvSpPr/>
          <p:nvPr/>
        </p:nvSpPr>
        <p:spPr>
          <a:xfrm>
            <a:off x="3703175" y="669974"/>
            <a:ext cx="1247101" cy="200401"/>
          </a:xfrm>
          <a:prstGeom prst="rect">
            <a:avLst/>
          </a:prstGeom>
          <a:solidFill>
            <a:srgbClr val="44484A"/>
          </a:solidFill>
          <a:ln>
            <a:solidFill>
              <a:srgbClr val="434749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Laptop - 1 co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2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433" name="Google Shape;258;p32" descr="Google Shape;258;p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18522" y="832348"/>
            <a:ext cx="5695639" cy="3237483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Google Shape;259;p32"/>
          <p:cNvSpPr/>
          <p:nvPr>
            <p:ph type="pic" sz="half" idx="21"/>
          </p:nvPr>
        </p:nvSpPr>
        <p:spPr>
          <a:xfrm>
            <a:off x="4302304" y="1039606"/>
            <a:ext cx="4127083" cy="23435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5" name="Google Shape;260;p32"/>
          <p:cNvSpPr txBox="1"/>
          <p:nvPr>
            <p:ph type="body" sz="quarter" idx="22"/>
          </p:nvPr>
        </p:nvSpPr>
        <p:spPr>
          <a:xfrm>
            <a:off x="502542" y="964797"/>
            <a:ext cx="2523047" cy="30408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36" name="Google Shape;261;p32"/>
          <p:cNvSpPr txBox="1"/>
          <p:nvPr>
            <p:ph type="body" sz="quarter" idx="23"/>
          </p:nvPr>
        </p:nvSpPr>
        <p:spPr>
          <a:xfrm>
            <a:off x="502542" y="1280365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437" name="Google Shape;262;p32"/>
          <p:cNvSpPr txBox="1"/>
          <p:nvPr>
            <p:ph type="body" sz="quarter" idx="24"/>
          </p:nvPr>
        </p:nvSpPr>
        <p:spPr>
          <a:xfrm>
            <a:off x="3915425" y="3959175"/>
            <a:ext cx="5055900" cy="219901"/>
          </a:xfrm>
          <a:prstGeom prst="rect">
            <a:avLst/>
          </a:prstGeom>
        </p:spPr>
        <p:txBody>
          <a:bodyPr/>
          <a:lstStyle/>
          <a:p>
            <a:pPr marL="457200" indent="-279400" algn="ctr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●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38" name="Google Shape;263;p32"/>
          <p:cNvSpPr/>
          <p:nvPr/>
        </p:nvSpPr>
        <p:spPr>
          <a:xfrm>
            <a:off x="4302300" y="870349"/>
            <a:ext cx="934501" cy="162301"/>
          </a:xfrm>
          <a:prstGeom prst="rect">
            <a:avLst/>
          </a:prstGeom>
          <a:solidFill>
            <a:srgbClr val="44484A"/>
          </a:solidFill>
          <a:ln>
            <a:solidFill>
              <a:srgbClr val="434749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vice - Front -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6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pic>
        <p:nvPicPr>
          <p:cNvPr id="447" name="Google Shape;266;p33" descr="Google Shape;266;p3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705" y="537721"/>
            <a:ext cx="7492380" cy="4258775"/>
          </a:xfrm>
          <a:prstGeom prst="rect">
            <a:avLst/>
          </a:prstGeom>
          <a:ln w="12700">
            <a:miter lim="400000"/>
          </a:ln>
        </p:spPr>
      </p:pic>
      <p:sp>
        <p:nvSpPr>
          <p:cNvPr id="448" name="Google Shape;267;p33"/>
          <p:cNvSpPr/>
          <p:nvPr>
            <p:ph type="pic" sz="half" idx="21"/>
          </p:nvPr>
        </p:nvSpPr>
        <p:spPr>
          <a:xfrm>
            <a:off x="1865151" y="803365"/>
            <a:ext cx="5419166" cy="30772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49" name="Google Shape;268;p33"/>
          <p:cNvSpPr txBox="1"/>
          <p:nvPr>
            <p:ph type="body" sz="quarter" idx="22"/>
          </p:nvPr>
        </p:nvSpPr>
        <p:spPr>
          <a:xfrm>
            <a:off x="1387550" y="4576474"/>
            <a:ext cx="6582600" cy="219901"/>
          </a:xfrm>
          <a:prstGeom prst="rect">
            <a:avLst/>
          </a:prstGeom>
        </p:spPr>
        <p:txBody>
          <a:bodyPr/>
          <a:lstStyle/>
          <a:p>
            <a:pPr marL="457200" indent="-279400" algn="ctr">
              <a:lnSpc>
                <a:spcPct val="90000"/>
              </a:lnSpc>
              <a:buClr>
                <a:srgbClr val="7A869A"/>
              </a:buClr>
              <a:buSzPts val="800"/>
              <a:buFont typeface="Helvetica"/>
              <a:buChar char="•"/>
              <a:defRPr sz="800">
                <a:solidFill>
                  <a:srgbClr val="7A869A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50" name="Google Shape;269;p33"/>
          <p:cNvSpPr/>
          <p:nvPr/>
        </p:nvSpPr>
        <p:spPr>
          <a:xfrm>
            <a:off x="1843725" y="602975"/>
            <a:ext cx="1247101" cy="200401"/>
          </a:xfrm>
          <a:prstGeom prst="rect">
            <a:avLst/>
          </a:prstGeom>
          <a:solidFill>
            <a:srgbClr val="44484A"/>
          </a:solidFill>
          <a:ln>
            <a:solidFill>
              <a:srgbClr val="434749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Browser - 1 col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8" name="Google Shape;271;p34"/>
          <p:cNvSpPr/>
          <p:nvPr/>
        </p:nvSpPr>
        <p:spPr>
          <a:xfrm>
            <a:off x="6091518" y="1"/>
            <a:ext cx="3052483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9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60" name="Google Shape;273;p34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61" name="Google Shape;274;p34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462" name="Google Shape;275;p34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463" name="Google Shape;276;p34" descr="Google Shape;276;p3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5732" y="865165"/>
            <a:ext cx="5750585" cy="3812802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Google Shape;277;p34"/>
          <p:cNvSpPr/>
          <p:nvPr>
            <p:ph type="pic" idx="24"/>
          </p:nvPr>
        </p:nvSpPr>
        <p:spPr>
          <a:xfrm>
            <a:off x="3149924" y="1065674"/>
            <a:ext cx="5750702" cy="3612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Browser - 1 col - Grey_2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2" name="Texte niveau 1…"/>
          <p:cNvSpPr txBox="1"/>
          <p:nvPr>
            <p:ph type="body" sz="quarter" idx="1"/>
          </p:nvPr>
        </p:nvSpPr>
        <p:spPr>
          <a:xfrm>
            <a:off x="1479724" y="29800"/>
            <a:ext cx="6184502" cy="257101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FFFFFF"/>
                </a:solidFill>
              </a:defRPr>
            </a:lvl1pPr>
            <a:lvl2pPr algn="ctr">
              <a:defRPr sz="1400">
                <a:solidFill>
                  <a:srgbClr val="FFFFFF"/>
                </a:solidFill>
              </a:defRPr>
            </a:lvl2pPr>
            <a:lvl3pPr algn="ctr">
              <a:defRPr sz="1400">
                <a:solidFill>
                  <a:srgbClr val="FFFFFF"/>
                </a:solidFill>
              </a:defRPr>
            </a:lvl3pPr>
            <a:lvl4pPr algn="ctr">
              <a:defRPr sz="1400">
                <a:solidFill>
                  <a:srgbClr val="FFFFFF"/>
                </a:solidFill>
              </a:defRPr>
            </a:lvl4pPr>
            <a:lvl5pPr algn="ctr">
              <a:defRPr sz="1400">
                <a:solidFill>
                  <a:srgbClr val="FFFFFF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73" name="Google Shape;280;p35"/>
          <p:cNvSpPr txBox="1"/>
          <p:nvPr>
            <p:ph type="body" sz="quarter" idx="21"/>
          </p:nvPr>
        </p:nvSpPr>
        <p:spPr>
          <a:xfrm>
            <a:off x="503042" y="6250"/>
            <a:ext cx="2580901" cy="304200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chemeClr val="accent6"/>
                </a:solidFill>
              </a:defRPr>
            </a:pPr>
          </a:p>
        </p:txBody>
      </p:sp>
      <p:pic>
        <p:nvPicPr>
          <p:cNvPr id="474" name="Google Shape;281;p35" descr="Google Shape;281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5075" y="331800"/>
            <a:ext cx="7993875" cy="5300100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Google Shape;282;p35"/>
          <p:cNvSpPr/>
          <p:nvPr>
            <p:ph type="pic" idx="22"/>
          </p:nvPr>
        </p:nvSpPr>
        <p:spPr>
          <a:xfrm>
            <a:off x="575075" y="815551"/>
            <a:ext cx="7993800" cy="50217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Browser - 1 col - Gre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8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01" cy="30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84" name="Google Shape;285;p36"/>
          <p:cNvSpPr txBox="1"/>
          <p:nvPr>
            <p:ph type="body" sz="quarter" idx="21"/>
          </p:nvPr>
        </p:nvSpPr>
        <p:spPr>
          <a:xfrm>
            <a:off x="502541" y="1337183"/>
            <a:ext cx="2430002" cy="3042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85" name="Google Shape;286;p36"/>
          <p:cNvSpPr txBox="1"/>
          <p:nvPr>
            <p:ph type="body" sz="quarter" idx="22"/>
          </p:nvPr>
        </p:nvSpPr>
        <p:spPr>
          <a:xfrm>
            <a:off x="502541" y="1652751"/>
            <a:ext cx="2430002" cy="1295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486" name="Google Shape;287;p36"/>
          <p:cNvSpPr txBox="1"/>
          <p:nvPr>
            <p:ph type="body" sz="quarter" idx="23"/>
          </p:nvPr>
        </p:nvSpPr>
        <p:spPr>
          <a:xfrm>
            <a:off x="3311971" y="1337183"/>
            <a:ext cx="2430001" cy="3042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87" name="Google Shape;288;p36"/>
          <p:cNvSpPr txBox="1"/>
          <p:nvPr>
            <p:ph type="body" sz="quarter" idx="24"/>
          </p:nvPr>
        </p:nvSpPr>
        <p:spPr>
          <a:xfrm>
            <a:off x="3311971" y="1652751"/>
            <a:ext cx="2430001" cy="1295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sp>
        <p:nvSpPr>
          <p:cNvPr id="488" name="Google Shape;289;p36"/>
          <p:cNvSpPr txBox="1"/>
          <p:nvPr>
            <p:ph type="body" sz="quarter" idx="25"/>
          </p:nvPr>
        </p:nvSpPr>
        <p:spPr>
          <a:xfrm>
            <a:off x="6139839" y="1337183"/>
            <a:ext cx="2430001" cy="3042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489" name="Google Shape;290;p36"/>
          <p:cNvSpPr txBox="1"/>
          <p:nvPr>
            <p:ph type="body" sz="quarter" idx="26"/>
          </p:nvPr>
        </p:nvSpPr>
        <p:spPr>
          <a:xfrm>
            <a:off x="6139839" y="1652751"/>
            <a:ext cx="2430001" cy="1295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defRPr sz="1100"/>
            </a:pPr>
          </a:p>
        </p:txBody>
      </p:sp>
      <p:pic>
        <p:nvPicPr>
          <p:cNvPr id="490" name="Google Shape;291;p36" descr="Google Shape;291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7550" y="2312973"/>
            <a:ext cx="2342790" cy="1553321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Google Shape;292;p36"/>
          <p:cNvSpPr/>
          <p:nvPr>
            <p:ph type="pic" sz="quarter" idx="27"/>
          </p:nvPr>
        </p:nvSpPr>
        <p:spPr>
          <a:xfrm>
            <a:off x="560995" y="2394738"/>
            <a:ext cx="2342702" cy="1471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92" name="Google Shape;293;p36" descr="Google Shape;293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88171" y="2312973"/>
            <a:ext cx="2342789" cy="1553321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Google Shape;294;p36"/>
          <p:cNvSpPr/>
          <p:nvPr>
            <p:ph type="pic" sz="quarter" idx="28"/>
          </p:nvPr>
        </p:nvSpPr>
        <p:spPr>
          <a:xfrm>
            <a:off x="3388171" y="2394738"/>
            <a:ext cx="2342701" cy="1471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94" name="Google Shape;295;p36" descr="Google Shape;295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3701" y="2312973"/>
            <a:ext cx="2342789" cy="1553321"/>
          </a:xfrm>
          <a:prstGeom prst="rect">
            <a:avLst/>
          </a:prstGeom>
          <a:ln w="12700">
            <a:miter lim="400000"/>
          </a:ln>
        </p:spPr>
      </p:pic>
      <p:sp>
        <p:nvSpPr>
          <p:cNvPr id="495" name="Google Shape;296;p36"/>
          <p:cNvSpPr/>
          <p:nvPr>
            <p:ph type="pic" sz="quarter" idx="29"/>
          </p:nvPr>
        </p:nvSpPr>
        <p:spPr>
          <a:xfrm>
            <a:off x="6227145" y="2394738"/>
            <a:ext cx="2342701" cy="1471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96" name="Google Shape;297;p36"/>
          <p:cNvSpPr txBox="1"/>
          <p:nvPr>
            <p:ph type="body" sz="quarter" idx="30"/>
          </p:nvPr>
        </p:nvSpPr>
        <p:spPr>
          <a:xfrm>
            <a:off x="502541" y="561712"/>
            <a:ext cx="6120602" cy="3261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4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05" name="Google Shape;300;p37"/>
          <p:cNvSpPr txBox="1"/>
          <p:nvPr>
            <p:ph type="body" sz="quarter" idx="21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ge vide - entete + p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ge vide - entete + pi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1" name="Texte niveau 1…"/>
          <p:cNvSpPr txBox="1"/>
          <p:nvPr>
            <p:ph type="body" sz="quarter" idx="1"/>
          </p:nvPr>
        </p:nvSpPr>
        <p:spPr>
          <a:xfrm>
            <a:off x="503039" y="6248"/>
            <a:ext cx="8568901" cy="30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22" name="Google Shape;305;p39"/>
          <p:cNvSpPr txBox="1"/>
          <p:nvPr>
            <p:ph type="body" sz="quarter" idx="21"/>
          </p:nvPr>
        </p:nvSpPr>
        <p:spPr>
          <a:xfrm>
            <a:off x="502540" y="599312"/>
            <a:ext cx="8569502" cy="326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523" name="Google Shape;306;p39"/>
          <p:cNvSpPr/>
          <p:nvPr/>
        </p:nvSpPr>
        <p:spPr>
          <a:xfrm>
            <a:off x="-21680" y="2574140"/>
            <a:ext cx="9180602" cy="1"/>
          </a:xfrm>
          <a:prstGeom prst="line">
            <a:avLst/>
          </a:prstGeom>
          <a:ln w="38100">
            <a:solidFill>
              <a:srgbClr val="E8EBF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4" name="Google Shape;308;p39"/>
          <p:cNvSpPr txBox="1"/>
          <p:nvPr>
            <p:ph type="body" sz="quarter" idx="22"/>
          </p:nvPr>
        </p:nvSpPr>
        <p:spPr>
          <a:xfrm>
            <a:off x="521600" y="2837800"/>
            <a:ext cx="1744499" cy="326101"/>
          </a:xfrm>
          <a:prstGeom prst="rect">
            <a:avLst/>
          </a:prstGeom>
        </p:spPr>
        <p:txBody>
          <a:bodyPr/>
          <a:lstStyle/>
          <a:p>
            <a:pPr marL="457200" indent="-304800">
              <a:lnSpc>
                <a:spcPct val="115000"/>
              </a:lnSpc>
              <a:buClr>
                <a:srgbClr val="295FEC"/>
              </a:buClr>
              <a:buSzPts val="1200"/>
              <a:buFont typeface="Helvetica"/>
              <a:buChar char="•"/>
              <a:defRPr sz="1200">
                <a:solidFill>
                  <a:srgbClr val="295FEC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525" name="Google Shape;310;p39"/>
          <p:cNvSpPr txBox="1"/>
          <p:nvPr>
            <p:ph type="body" sz="quarter" idx="23"/>
          </p:nvPr>
        </p:nvSpPr>
        <p:spPr>
          <a:xfrm>
            <a:off x="2415350" y="1664774"/>
            <a:ext cx="1744500" cy="326101"/>
          </a:xfrm>
          <a:prstGeom prst="rect">
            <a:avLst/>
          </a:prstGeom>
        </p:spPr>
        <p:txBody>
          <a:bodyPr/>
          <a:lstStyle/>
          <a:p>
            <a:pPr marL="457200" indent="-304800">
              <a:lnSpc>
                <a:spcPct val="115000"/>
              </a:lnSpc>
              <a:buClr>
                <a:srgbClr val="295FEC"/>
              </a:buClr>
              <a:buSzPts val="1200"/>
              <a:buFont typeface="Helvetica"/>
              <a:buChar char="•"/>
              <a:defRPr sz="1200">
                <a:solidFill>
                  <a:srgbClr val="295FEC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526" name="Google Shape;312;p39"/>
          <p:cNvSpPr txBox="1"/>
          <p:nvPr>
            <p:ph type="body" sz="quarter" idx="24"/>
          </p:nvPr>
        </p:nvSpPr>
        <p:spPr>
          <a:xfrm>
            <a:off x="4280300" y="2837800"/>
            <a:ext cx="1744499" cy="326101"/>
          </a:xfrm>
          <a:prstGeom prst="rect">
            <a:avLst/>
          </a:prstGeom>
        </p:spPr>
        <p:txBody>
          <a:bodyPr/>
          <a:lstStyle/>
          <a:p>
            <a:pPr marL="457200" indent="-304800">
              <a:lnSpc>
                <a:spcPct val="115000"/>
              </a:lnSpc>
              <a:buClr>
                <a:srgbClr val="295FEC"/>
              </a:buClr>
              <a:buSzPts val="1200"/>
              <a:buFont typeface="Helvetica"/>
              <a:buChar char="•"/>
              <a:defRPr sz="1200">
                <a:solidFill>
                  <a:srgbClr val="295FEC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527" name="Google Shape;314;p39"/>
          <p:cNvSpPr txBox="1"/>
          <p:nvPr>
            <p:ph type="body" sz="quarter" idx="25"/>
          </p:nvPr>
        </p:nvSpPr>
        <p:spPr>
          <a:xfrm>
            <a:off x="5869249" y="1664774"/>
            <a:ext cx="1744500" cy="326101"/>
          </a:xfrm>
          <a:prstGeom prst="rect">
            <a:avLst/>
          </a:prstGeom>
        </p:spPr>
        <p:txBody>
          <a:bodyPr/>
          <a:lstStyle/>
          <a:p>
            <a:pPr marL="457200" indent="-304800">
              <a:lnSpc>
                <a:spcPct val="115000"/>
              </a:lnSpc>
              <a:buClr>
                <a:srgbClr val="295FEC"/>
              </a:buClr>
              <a:buSzPts val="1200"/>
              <a:buFont typeface="Helvetica"/>
              <a:buChar char="•"/>
              <a:defRPr sz="1200">
                <a:solidFill>
                  <a:srgbClr val="295FEC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528" name="Google Shape;316;p39"/>
          <p:cNvSpPr txBox="1"/>
          <p:nvPr>
            <p:ph type="body" sz="quarter" idx="26"/>
          </p:nvPr>
        </p:nvSpPr>
        <p:spPr>
          <a:xfrm>
            <a:off x="6972175" y="2837800"/>
            <a:ext cx="1744500" cy="326101"/>
          </a:xfrm>
          <a:prstGeom prst="rect">
            <a:avLst/>
          </a:prstGeom>
        </p:spPr>
        <p:txBody>
          <a:bodyPr/>
          <a:lstStyle/>
          <a:p>
            <a:pPr marL="457200" indent="-304800">
              <a:lnSpc>
                <a:spcPct val="115000"/>
              </a:lnSpc>
              <a:buClr>
                <a:srgbClr val="295FEC"/>
              </a:buClr>
              <a:buSzPts val="1200"/>
              <a:buFont typeface="Helvetica"/>
              <a:buChar char="•"/>
              <a:defRPr sz="1200">
                <a:solidFill>
                  <a:srgbClr val="295FEC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mmai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36" name="Google Shape;318;p40"/>
          <p:cNvSpPr/>
          <p:nvPr/>
        </p:nvSpPr>
        <p:spPr>
          <a:xfrm>
            <a:off x="575071" y="1977270"/>
            <a:ext cx="8568930" cy="13529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Google Shape;319;p40"/>
          <p:cNvSpPr/>
          <p:nvPr/>
        </p:nvSpPr>
        <p:spPr>
          <a:xfrm>
            <a:off x="503043" y="632948"/>
            <a:ext cx="8704589" cy="1352915"/>
          </a:xfrm>
          <a:prstGeom prst="rect">
            <a:avLst/>
          </a:prstGeom>
          <a:solidFill>
            <a:srgbClr val="E0E0E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Google Shape;320;p40"/>
          <p:cNvSpPr/>
          <p:nvPr/>
        </p:nvSpPr>
        <p:spPr>
          <a:xfrm>
            <a:off x="503043" y="3325052"/>
            <a:ext cx="8704589" cy="1352914"/>
          </a:xfrm>
          <a:prstGeom prst="rect">
            <a:avLst/>
          </a:prstGeom>
          <a:solidFill>
            <a:srgbClr val="E0E0E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e niveau 1…"/>
          <p:cNvSpPr txBox="1"/>
          <p:nvPr>
            <p:ph type="body" sz="quarter" idx="1"/>
          </p:nvPr>
        </p:nvSpPr>
        <p:spPr>
          <a:xfrm>
            <a:off x="989112" y="770893"/>
            <a:ext cx="4860000" cy="26432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b="1" sz="1400"/>
            </a:lvl1pPr>
            <a:lvl2pPr>
              <a:lnSpc>
                <a:spcPct val="90000"/>
              </a:lnSpc>
              <a:defRPr b="1" sz="1400"/>
            </a:lvl2pPr>
            <a:lvl3pPr>
              <a:lnSpc>
                <a:spcPct val="90000"/>
              </a:lnSpc>
              <a:defRPr b="1" sz="1400"/>
            </a:lvl3pPr>
            <a:lvl4pPr>
              <a:lnSpc>
                <a:spcPct val="90000"/>
              </a:lnSpc>
              <a:defRPr b="1" sz="1400"/>
            </a:lvl4pPr>
            <a:lvl5pPr>
              <a:lnSpc>
                <a:spcPct val="90000"/>
              </a:lnSpc>
              <a:defRPr b="1"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40" name="Google Shape;322;p40"/>
          <p:cNvSpPr txBox="1"/>
          <p:nvPr>
            <p:ph type="body" sz="quarter" idx="21"/>
          </p:nvPr>
        </p:nvSpPr>
        <p:spPr>
          <a:xfrm>
            <a:off x="989111" y="2089269"/>
            <a:ext cx="4860002" cy="26432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400"/>
            </a:pPr>
          </a:p>
        </p:txBody>
      </p:sp>
      <p:sp>
        <p:nvSpPr>
          <p:cNvPr id="541" name="Google Shape;323;p40"/>
          <p:cNvSpPr txBox="1"/>
          <p:nvPr>
            <p:ph type="body" sz="quarter" idx="22"/>
          </p:nvPr>
        </p:nvSpPr>
        <p:spPr>
          <a:xfrm>
            <a:off x="989111" y="3433167"/>
            <a:ext cx="4860002" cy="26432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400"/>
            </a:pPr>
          </a:p>
        </p:txBody>
      </p:sp>
      <p:sp>
        <p:nvSpPr>
          <p:cNvPr id="542" name="Google Shape;324;p40"/>
          <p:cNvSpPr txBox="1"/>
          <p:nvPr>
            <p:ph type="body" sz="quarter" idx="23"/>
          </p:nvPr>
        </p:nvSpPr>
        <p:spPr>
          <a:xfrm>
            <a:off x="989112" y="1038309"/>
            <a:ext cx="4860002" cy="865585"/>
          </a:xfrm>
          <a:prstGeom prst="rect">
            <a:avLst/>
          </a:prstGeom>
        </p:spPr>
        <p:txBody>
          <a:bodyPr/>
          <a:lstStyle/>
          <a:p>
            <a:pPr marL="457200" indent="-298450">
              <a:lnSpc>
                <a:spcPct val="90000"/>
              </a:lnSpc>
              <a:buClr>
                <a:srgbClr val="182759"/>
              </a:buClr>
              <a:buSzPts val="1100"/>
              <a:buAutoNum type="arabicPeriod" startAt="1"/>
              <a:defRPr sz="1100"/>
            </a:pPr>
          </a:p>
        </p:txBody>
      </p:sp>
      <p:sp>
        <p:nvSpPr>
          <p:cNvPr id="543" name="Google Shape;325;p40"/>
          <p:cNvSpPr txBox="1"/>
          <p:nvPr>
            <p:ph type="body" sz="quarter" idx="24"/>
          </p:nvPr>
        </p:nvSpPr>
        <p:spPr>
          <a:xfrm>
            <a:off x="989112" y="2356396"/>
            <a:ext cx="4860002" cy="865585"/>
          </a:xfrm>
          <a:prstGeom prst="rect">
            <a:avLst/>
          </a:prstGeom>
        </p:spPr>
        <p:txBody>
          <a:bodyPr/>
          <a:lstStyle/>
          <a:p>
            <a:pPr marL="457200" indent="-298450">
              <a:lnSpc>
                <a:spcPct val="90000"/>
              </a:lnSpc>
              <a:buClr>
                <a:srgbClr val="182759"/>
              </a:buClr>
              <a:buSzPts val="1100"/>
              <a:buAutoNum type="arabicPeriod" startAt="1"/>
              <a:defRPr sz="1100"/>
            </a:pPr>
          </a:p>
        </p:txBody>
      </p:sp>
      <p:sp>
        <p:nvSpPr>
          <p:cNvPr id="544" name="Google Shape;326;p40"/>
          <p:cNvSpPr txBox="1"/>
          <p:nvPr>
            <p:ph type="body" sz="quarter" idx="25"/>
          </p:nvPr>
        </p:nvSpPr>
        <p:spPr>
          <a:xfrm>
            <a:off x="989112" y="3705990"/>
            <a:ext cx="4860002" cy="865585"/>
          </a:xfrm>
          <a:prstGeom prst="rect">
            <a:avLst/>
          </a:prstGeom>
        </p:spPr>
        <p:txBody>
          <a:bodyPr/>
          <a:lstStyle/>
          <a:p>
            <a:pPr marL="457200" indent="-298450">
              <a:lnSpc>
                <a:spcPct val="90000"/>
              </a:lnSpc>
              <a:buClr>
                <a:srgbClr val="182759"/>
              </a:buClr>
              <a:buSzPts val="1100"/>
              <a:buAutoNum type="arabicPeriod" startAt="1"/>
              <a:defRPr sz="1100"/>
            </a:pPr>
          </a:p>
        </p:txBody>
      </p:sp>
      <p:sp>
        <p:nvSpPr>
          <p:cNvPr id="545" name="Google Shape;327;p40"/>
          <p:cNvSpPr/>
          <p:nvPr>
            <p:ph type="pic" sz="half" idx="26"/>
          </p:nvPr>
        </p:nvSpPr>
        <p:spPr>
          <a:xfrm>
            <a:off x="6096000" y="-2"/>
            <a:ext cx="3048000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46" name="Google Shape;328;p40"/>
          <p:cNvSpPr txBox="1"/>
          <p:nvPr>
            <p:ph type="body" sz="quarter" idx="27"/>
          </p:nvPr>
        </p:nvSpPr>
        <p:spPr>
          <a:xfrm>
            <a:off x="503042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547" name="losange rouge fvae@2x.pngGoogle Shape;329;p40" descr="losange rouge fvae@2x.pngGoogle Shape;329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900" y="714989"/>
            <a:ext cx="334353" cy="3761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0" name="Google Shape;330;p40"/>
          <p:cNvGrpSpPr/>
          <p:nvPr/>
        </p:nvGrpSpPr>
        <p:grpSpPr>
          <a:xfrm>
            <a:off x="654781" y="760674"/>
            <a:ext cx="264601" cy="264601"/>
            <a:chOff x="0" y="0"/>
            <a:chExt cx="264600" cy="264600"/>
          </a:xfrm>
        </p:grpSpPr>
        <p:sp>
          <p:nvSpPr>
            <p:cNvPr id="548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9" name="1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pic>
        <p:nvPicPr>
          <p:cNvPr id="551" name="losange rouge fvae@2x.pngGoogle Shape;331;p40" descr="losange rouge fvae@2x.pngGoogle Shape;331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900" y="2020013"/>
            <a:ext cx="334353" cy="3761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4" name="Google Shape;332;p40"/>
          <p:cNvGrpSpPr/>
          <p:nvPr/>
        </p:nvGrpSpPr>
        <p:grpSpPr>
          <a:xfrm>
            <a:off x="654781" y="2065700"/>
            <a:ext cx="264601" cy="264601"/>
            <a:chOff x="0" y="0"/>
            <a:chExt cx="264600" cy="264600"/>
          </a:xfrm>
        </p:grpSpPr>
        <p:sp>
          <p:nvSpPr>
            <p:cNvPr id="552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3" name="2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pic>
        <p:nvPicPr>
          <p:cNvPr id="555" name="losange rouge fvae@2x.pngGoogle Shape;333;p40" descr="losange rouge fvae@2x.pngGoogle Shape;333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900" y="3370714"/>
            <a:ext cx="334353" cy="3761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8" name="Google Shape;334;p40"/>
          <p:cNvGrpSpPr/>
          <p:nvPr/>
        </p:nvGrpSpPr>
        <p:grpSpPr>
          <a:xfrm>
            <a:off x="654781" y="3416399"/>
            <a:ext cx="264601" cy="264601"/>
            <a:chOff x="0" y="0"/>
            <a:chExt cx="264600" cy="264600"/>
          </a:xfrm>
        </p:grpSpPr>
        <p:sp>
          <p:nvSpPr>
            <p:cNvPr id="556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7" name="3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mmai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66" name="losange bleu roi fvae@2x.pngGoogle Shape;336;p41" descr="losange bleu roi fvae@2x.pngGoogle Shape;336;p4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22599" y="1418525"/>
            <a:ext cx="334349" cy="374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losange bleu roi fvae@2x.pngGoogle Shape;337;p41" descr="losange bleu roi fvae@2x.pngGoogle Shape;337;p4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0124" y="1418525"/>
            <a:ext cx="334349" cy="374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losange bleu roi fvae@2x.pngGoogle Shape;338;p41" descr="losange bleu roi fvae@2x.pngGoogle Shape;338;p4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5075" y="1418525"/>
            <a:ext cx="334349" cy="374203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Texte niveau 1…"/>
          <p:cNvSpPr txBox="1"/>
          <p:nvPr>
            <p:ph type="body" sz="quarter" idx="1"/>
          </p:nvPr>
        </p:nvSpPr>
        <p:spPr>
          <a:xfrm>
            <a:off x="502540" y="569700"/>
            <a:ext cx="8569427" cy="32623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1"/>
            </a:lvl1pPr>
            <a:lvl2pPr marL="1002594" indent="-405694">
              <a:lnSpc>
                <a:spcPct val="100000"/>
              </a:lnSpc>
              <a:buSzPts val="2300"/>
              <a:buChar char="•"/>
              <a:defRPr b="1"/>
            </a:lvl2pPr>
            <a:lvl3pPr marL="1575707" indent="-521607">
              <a:lnSpc>
                <a:spcPct val="100000"/>
              </a:lnSpc>
              <a:buSzPts val="2300"/>
              <a:buChar char="•"/>
              <a:defRPr b="1"/>
            </a:lvl3pPr>
            <a:lvl4pPr marL="2119841" indent="-608541">
              <a:lnSpc>
                <a:spcPct val="100000"/>
              </a:lnSpc>
              <a:buSzPts val="2300"/>
              <a:buChar char="•"/>
              <a:defRPr b="1"/>
            </a:lvl4pPr>
            <a:lvl5pPr marL="2632363" indent="-663863">
              <a:lnSpc>
                <a:spcPct val="100000"/>
              </a:lnSpc>
              <a:buSzPts val="2300"/>
              <a:buChar char="•"/>
              <a:defRPr b="1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70" name="Google Shape;340;p41"/>
          <p:cNvSpPr txBox="1"/>
          <p:nvPr>
            <p:ph type="body" sz="quarter" idx="21"/>
          </p:nvPr>
        </p:nvSpPr>
        <p:spPr>
          <a:xfrm>
            <a:off x="980099" y="1476000"/>
            <a:ext cx="2160001" cy="2643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800"/>
            </a:pPr>
          </a:p>
        </p:txBody>
      </p:sp>
      <p:sp>
        <p:nvSpPr>
          <p:cNvPr id="571" name="Google Shape;341;p41"/>
          <p:cNvSpPr txBox="1"/>
          <p:nvPr>
            <p:ph type="body" sz="quarter" idx="22"/>
          </p:nvPr>
        </p:nvSpPr>
        <p:spPr>
          <a:xfrm>
            <a:off x="980099" y="1860069"/>
            <a:ext cx="2160001" cy="833401"/>
          </a:xfrm>
          <a:prstGeom prst="rect">
            <a:avLst/>
          </a:prstGeom>
        </p:spPr>
        <p:txBody>
          <a:bodyPr/>
          <a:lstStyle/>
          <a:p>
            <a:pPr marL="457200" indent="-317500">
              <a:buClr>
                <a:srgbClr val="182759"/>
              </a:buClr>
              <a:buSzPts val="1400"/>
              <a:buAutoNum type="arabicPeriod" startAt="1"/>
              <a:defRPr sz="1400"/>
            </a:pPr>
          </a:p>
        </p:txBody>
      </p:sp>
      <p:sp>
        <p:nvSpPr>
          <p:cNvPr id="572" name="Google Shape;342;p41"/>
          <p:cNvSpPr txBox="1"/>
          <p:nvPr>
            <p:ph type="body" sz="quarter" idx="23"/>
          </p:nvPr>
        </p:nvSpPr>
        <p:spPr>
          <a:xfrm>
            <a:off x="3732614" y="1476000"/>
            <a:ext cx="2160000" cy="2643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800"/>
            </a:pPr>
          </a:p>
        </p:txBody>
      </p:sp>
      <p:sp>
        <p:nvSpPr>
          <p:cNvPr id="573" name="Google Shape;343;p41"/>
          <p:cNvSpPr txBox="1"/>
          <p:nvPr>
            <p:ph type="body" sz="quarter" idx="24"/>
          </p:nvPr>
        </p:nvSpPr>
        <p:spPr>
          <a:xfrm>
            <a:off x="3732614" y="1860069"/>
            <a:ext cx="2160000" cy="833401"/>
          </a:xfrm>
          <a:prstGeom prst="rect">
            <a:avLst/>
          </a:prstGeom>
        </p:spPr>
        <p:txBody>
          <a:bodyPr/>
          <a:lstStyle/>
          <a:p>
            <a:pPr marL="457200" indent="-317500">
              <a:buClr>
                <a:srgbClr val="182759"/>
              </a:buClr>
              <a:buSzPts val="1400"/>
              <a:buAutoNum type="arabicPeriod" startAt="1"/>
              <a:defRPr sz="1400"/>
            </a:pPr>
          </a:p>
        </p:txBody>
      </p:sp>
      <p:sp>
        <p:nvSpPr>
          <p:cNvPr id="574" name="Google Shape;344;p41"/>
          <p:cNvSpPr txBox="1"/>
          <p:nvPr>
            <p:ph type="body" sz="quarter" idx="25"/>
          </p:nvPr>
        </p:nvSpPr>
        <p:spPr>
          <a:xfrm>
            <a:off x="6485128" y="1476000"/>
            <a:ext cx="2160001" cy="2643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800"/>
            </a:pPr>
          </a:p>
        </p:txBody>
      </p:sp>
      <p:sp>
        <p:nvSpPr>
          <p:cNvPr id="575" name="Google Shape;345;p41"/>
          <p:cNvSpPr txBox="1"/>
          <p:nvPr>
            <p:ph type="body" sz="quarter" idx="26"/>
          </p:nvPr>
        </p:nvSpPr>
        <p:spPr>
          <a:xfrm>
            <a:off x="6485128" y="1860069"/>
            <a:ext cx="2160001" cy="833401"/>
          </a:xfrm>
          <a:prstGeom prst="rect">
            <a:avLst/>
          </a:prstGeom>
        </p:spPr>
        <p:txBody>
          <a:bodyPr/>
          <a:lstStyle/>
          <a:p>
            <a:pPr marL="457200" indent="-317500">
              <a:buClr>
                <a:srgbClr val="182759"/>
              </a:buClr>
              <a:buSzPts val="1400"/>
              <a:buAutoNum type="arabicPeriod" startAt="1"/>
              <a:defRPr sz="1400"/>
            </a:pPr>
          </a:p>
        </p:txBody>
      </p:sp>
      <p:sp>
        <p:nvSpPr>
          <p:cNvPr id="576" name="Google Shape;346;p41"/>
          <p:cNvSpPr txBox="1"/>
          <p:nvPr>
            <p:ph type="body" sz="quarter" idx="27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grpSp>
        <p:nvGrpSpPr>
          <p:cNvPr id="579" name="Google Shape;347;p41"/>
          <p:cNvGrpSpPr/>
          <p:nvPr/>
        </p:nvGrpSpPr>
        <p:grpSpPr>
          <a:xfrm>
            <a:off x="609956" y="1464211"/>
            <a:ext cx="264602" cy="264601"/>
            <a:chOff x="0" y="0"/>
            <a:chExt cx="264600" cy="264600"/>
          </a:xfrm>
        </p:grpSpPr>
        <p:sp>
          <p:nvSpPr>
            <p:cNvPr id="577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8" name="1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582" name="Google Shape;348;p41"/>
          <p:cNvGrpSpPr/>
          <p:nvPr/>
        </p:nvGrpSpPr>
        <p:grpSpPr>
          <a:xfrm>
            <a:off x="3357469" y="1464211"/>
            <a:ext cx="264601" cy="264601"/>
            <a:chOff x="0" y="0"/>
            <a:chExt cx="264600" cy="264600"/>
          </a:xfrm>
        </p:grpSpPr>
        <p:sp>
          <p:nvSpPr>
            <p:cNvPr id="580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1" name="2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585" name="Google Shape;349;p41"/>
          <p:cNvGrpSpPr/>
          <p:nvPr/>
        </p:nvGrpSpPr>
        <p:grpSpPr>
          <a:xfrm>
            <a:off x="6104995" y="1464211"/>
            <a:ext cx="264601" cy="264601"/>
            <a:chOff x="0" y="0"/>
            <a:chExt cx="264600" cy="264600"/>
          </a:xfrm>
        </p:grpSpPr>
        <p:sp>
          <p:nvSpPr>
            <p:cNvPr id="583" name="Cercle"/>
            <p:cNvSpPr/>
            <p:nvPr/>
          </p:nvSpPr>
          <p:spPr>
            <a:xfrm>
              <a:off x="-1" y="-1"/>
              <a:ext cx="264602" cy="264602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4" name="3"/>
            <p:cNvSpPr txBox="1"/>
            <p:nvPr/>
          </p:nvSpPr>
          <p:spPr>
            <a:xfrm>
              <a:off x="73049" y="28174"/>
              <a:ext cx="118502" cy="208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75" tIns="34275" rIns="34275" bIns="34275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- Parag Medium - 2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3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94" name="Google Shape;352;p42"/>
          <p:cNvSpPr txBox="1"/>
          <p:nvPr>
            <p:ph type="body" sz="quarter" idx="21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595" name="Google Shape;353;p42"/>
          <p:cNvSpPr txBox="1"/>
          <p:nvPr>
            <p:ph type="body" sz="half" idx="22"/>
          </p:nvPr>
        </p:nvSpPr>
        <p:spPr>
          <a:xfrm>
            <a:off x="502540" y="1323593"/>
            <a:ext cx="3853957" cy="318978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596" name="Google Shape;354;p42"/>
          <p:cNvSpPr txBox="1"/>
          <p:nvPr>
            <p:ph type="body" sz="half" idx="23"/>
          </p:nvPr>
        </p:nvSpPr>
        <p:spPr>
          <a:xfrm>
            <a:off x="4711470" y="1323593"/>
            <a:ext cx="3853956" cy="318978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- parag Medium - 4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4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05" name="Google Shape;357;p43"/>
          <p:cNvSpPr txBox="1"/>
          <p:nvPr>
            <p:ph type="body" sz="quarter" idx="21"/>
          </p:nvPr>
        </p:nvSpPr>
        <p:spPr>
          <a:xfrm>
            <a:off x="502541" y="599312"/>
            <a:ext cx="8569426" cy="40195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  <p:sp>
        <p:nvSpPr>
          <p:cNvPr id="606" name="Google Shape;358;p43"/>
          <p:cNvSpPr txBox="1"/>
          <p:nvPr>
            <p:ph type="body" sz="quarter" idx="22"/>
          </p:nvPr>
        </p:nvSpPr>
        <p:spPr>
          <a:xfrm>
            <a:off x="502540" y="1324237"/>
            <a:ext cx="3853957" cy="107377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07" name="Google Shape;359;p43"/>
          <p:cNvSpPr txBox="1"/>
          <p:nvPr>
            <p:ph type="body" sz="quarter" idx="23"/>
          </p:nvPr>
        </p:nvSpPr>
        <p:spPr>
          <a:xfrm>
            <a:off x="4711470" y="1324237"/>
            <a:ext cx="3853956" cy="107377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08" name="Google Shape;360;p43"/>
          <p:cNvSpPr txBox="1"/>
          <p:nvPr>
            <p:ph type="body" sz="quarter" idx="24"/>
          </p:nvPr>
        </p:nvSpPr>
        <p:spPr>
          <a:xfrm>
            <a:off x="502540" y="2534884"/>
            <a:ext cx="3853957" cy="107377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09" name="Google Shape;361;p43"/>
          <p:cNvSpPr txBox="1"/>
          <p:nvPr>
            <p:ph type="body" sz="quarter" idx="25"/>
          </p:nvPr>
        </p:nvSpPr>
        <p:spPr>
          <a:xfrm>
            <a:off x="4711470" y="2534884"/>
            <a:ext cx="3853956" cy="1073772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+ Texte - parag Medium - 4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7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18" name="Google Shape;364;p44"/>
          <p:cNvSpPr txBox="1"/>
          <p:nvPr>
            <p:ph type="body" sz="quarter" idx="21"/>
          </p:nvPr>
        </p:nvSpPr>
        <p:spPr>
          <a:xfrm>
            <a:off x="502540" y="1320269"/>
            <a:ext cx="3853957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19" name="Google Shape;365;p44"/>
          <p:cNvSpPr txBox="1"/>
          <p:nvPr>
            <p:ph type="body" sz="quarter" idx="22"/>
          </p:nvPr>
        </p:nvSpPr>
        <p:spPr>
          <a:xfrm>
            <a:off x="502540" y="1635837"/>
            <a:ext cx="3853957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20" name="Google Shape;366;p44"/>
          <p:cNvSpPr txBox="1"/>
          <p:nvPr>
            <p:ph type="body" sz="quarter" idx="23"/>
          </p:nvPr>
        </p:nvSpPr>
        <p:spPr>
          <a:xfrm>
            <a:off x="4711470" y="1320269"/>
            <a:ext cx="3853956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21" name="Google Shape;367;p44"/>
          <p:cNvSpPr txBox="1"/>
          <p:nvPr>
            <p:ph type="body" sz="quarter" idx="24"/>
          </p:nvPr>
        </p:nvSpPr>
        <p:spPr>
          <a:xfrm>
            <a:off x="4711470" y="1635837"/>
            <a:ext cx="3853956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22" name="Google Shape;368;p44"/>
          <p:cNvSpPr txBox="1"/>
          <p:nvPr>
            <p:ph type="body" sz="quarter" idx="25"/>
          </p:nvPr>
        </p:nvSpPr>
        <p:spPr>
          <a:xfrm>
            <a:off x="502540" y="3082885"/>
            <a:ext cx="3853957" cy="31557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23" name="Google Shape;369;p44"/>
          <p:cNvSpPr txBox="1"/>
          <p:nvPr>
            <p:ph type="body" sz="quarter" idx="26"/>
          </p:nvPr>
        </p:nvSpPr>
        <p:spPr>
          <a:xfrm>
            <a:off x="502540" y="3398454"/>
            <a:ext cx="3853957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24" name="Google Shape;370;p44"/>
          <p:cNvSpPr txBox="1"/>
          <p:nvPr>
            <p:ph type="body" sz="quarter" idx="27"/>
          </p:nvPr>
        </p:nvSpPr>
        <p:spPr>
          <a:xfrm>
            <a:off x="4711470" y="3082885"/>
            <a:ext cx="3853956" cy="31557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25" name="Google Shape;371;p44"/>
          <p:cNvSpPr txBox="1"/>
          <p:nvPr>
            <p:ph type="body" sz="quarter" idx="28"/>
          </p:nvPr>
        </p:nvSpPr>
        <p:spPr>
          <a:xfrm>
            <a:off x="4711470" y="3398454"/>
            <a:ext cx="3853956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26" name="Google Shape;372;p44"/>
          <p:cNvSpPr txBox="1"/>
          <p:nvPr>
            <p:ph type="body" sz="quarter" idx="29"/>
          </p:nvPr>
        </p:nvSpPr>
        <p:spPr>
          <a:xfrm>
            <a:off x="502541" y="599312"/>
            <a:ext cx="8569426" cy="32623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+Texte - parag Medium - sur-titre - 4 blocs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4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35" name="Google Shape;375;p45"/>
          <p:cNvSpPr txBox="1"/>
          <p:nvPr>
            <p:ph type="body" sz="quarter" idx="21"/>
          </p:nvPr>
        </p:nvSpPr>
        <p:spPr>
          <a:xfrm>
            <a:off x="502539" y="600956"/>
            <a:ext cx="3853957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36" name="Google Shape;376;p45"/>
          <p:cNvSpPr txBox="1"/>
          <p:nvPr>
            <p:ph type="body" sz="quarter" idx="22"/>
          </p:nvPr>
        </p:nvSpPr>
        <p:spPr>
          <a:xfrm>
            <a:off x="502540" y="881467"/>
            <a:ext cx="3853957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37" name="Google Shape;377;p45"/>
          <p:cNvSpPr txBox="1"/>
          <p:nvPr>
            <p:ph type="body" sz="quarter" idx="23"/>
          </p:nvPr>
        </p:nvSpPr>
        <p:spPr>
          <a:xfrm>
            <a:off x="502540" y="1197036"/>
            <a:ext cx="3853957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38" name="Google Shape;378;p45"/>
          <p:cNvSpPr txBox="1"/>
          <p:nvPr>
            <p:ph type="body" sz="quarter" idx="24"/>
          </p:nvPr>
        </p:nvSpPr>
        <p:spPr>
          <a:xfrm>
            <a:off x="4711470" y="600956"/>
            <a:ext cx="3853956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39" name="Google Shape;379;p45"/>
          <p:cNvSpPr txBox="1"/>
          <p:nvPr>
            <p:ph type="body" sz="quarter" idx="25"/>
          </p:nvPr>
        </p:nvSpPr>
        <p:spPr>
          <a:xfrm>
            <a:off x="4711470" y="881467"/>
            <a:ext cx="3853956" cy="3155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40" name="Google Shape;380;p45"/>
          <p:cNvSpPr txBox="1"/>
          <p:nvPr>
            <p:ph type="body" sz="quarter" idx="26"/>
          </p:nvPr>
        </p:nvSpPr>
        <p:spPr>
          <a:xfrm>
            <a:off x="4711470" y="1197036"/>
            <a:ext cx="3853956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41" name="Google Shape;381;p45"/>
          <p:cNvSpPr txBox="1"/>
          <p:nvPr>
            <p:ph type="body" sz="quarter" idx="27"/>
          </p:nvPr>
        </p:nvSpPr>
        <p:spPr>
          <a:xfrm>
            <a:off x="502539" y="2658355"/>
            <a:ext cx="3853957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42" name="Google Shape;382;p45"/>
          <p:cNvSpPr txBox="1"/>
          <p:nvPr>
            <p:ph type="body" sz="quarter" idx="28"/>
          </p:nvPr>
        </p:nvSpPr>
        <p:spPr>
          <a:xfrm>
            <a:off x="502540" y="2938868"/>
            <a:ext cx="3853957" cy="31557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43" name="Google Shape;383;p45"/>
          <p:cNvSpPr txBox="1"/>
          <p:nvPr>
            <p:ph type="body" sz="quarter" idx="29"/>
          </p:nvPr>
        </p:nvSpPr>
        <p:spPr>
          <a:xfrm>
            <a:off x="502540" y="3254435"/>
            <a:ext cx="3853957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44" name="Google Shape;384;p45"/>
          <p:cNvSpPr txBox="1"/>
          <p:nvPr>
            <p:ph type="body" sz="quarter" idx="30"/>
          </p:nvPr>
        </p:nvSpPr>
        <p:spPr>
          <a:xfrm>
            <a:off x="4711470" y="2658355"/>
            <a:ext cx="3853956" cy="20050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45" name="Google Shape;385;p45"/>
          <p:cNvSpPr txBox="1"/>
          <p:nvPr>
            <p:ph type="body" sz="quarter" idx="31"/>
          </p:nvPr>
        </p:nvSpPr>
        <p:spPr>
          <a:xfrm>
            <a:off x="4711470" y="2938868"/>
            <a:ext cx="3853956" cy="31557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46" name="Google Shape;386;p45"/>
          <p:cNvSpPr txBox="1"/>
          <p:nvPr>
            <p:ph type="body" sz="quarter" idx="32"/>
          </p:nvPr>
        </p:nvSpPr>
        <p:spPr>
          <a:xfrm>
            <a:off x="4711470" y="3254435"/>
            <a:ext cx="3853956" cy="1296001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54" name="Texte niveau 1…"/>
          <p:cNvSpPr txBox="1"/>
          <p:nvPr>
            <p:ph type="body" sz="quarter" idx="1"/>
          </p:nvPr>
        </p:nvSpPr>
        <p:spPr>
          <a:xfrm>
            <a:off x="503039" y="6248"/>
            <a:ext cx="8568929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rgbClr val="1041BE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rgbClr val="1041BE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rgbClr val="1041BE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rgbClr val="1041BE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55" name="Google Shape;389;p46"/>
          <p:cNvSpPr txBox="1"/>
          <p:nvPr>
            <p:ph type="body" idx="21"/>
          </p:nvPr>
        </p:nvSpPr>
        <p:spPr>
          <a:xfrm>
            <a:off x="502443" y="619433"/>
            <a:ext cx="8066487" cy="3933629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41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-Exergue-Dark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3" name="Texte niveau 1…"/>
          <p:cNvSpPr txBox="1"/>
          <p:nvPr>
            <p:ph type="body" sz="quarter" idx="1"/>
          </p:nvPr>
        </p:nvSpPr>
        <p:spPr>
          <a:xfrm>
            <a:off x="502443" y="0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2pPr>
            <a:lvl3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3pPr>
            <a:lvl4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4pPr>
            <a:lvl5pPr>
              <a:lnSpc>
                <a:spcPct val="90000"/>
              </a:lnSpc>
              <a:defRPr sz="900">
                <a:solidFill>
                  <a:schemeClr val="accent6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64" name="Google Shape;393;p47"/>
          <p:cNvSpPr txBox="1"/>
          <p:nvPr>
            <p:ph type="body" idx="21"/>
          </p:nvPr>
        </p:nvSpPr>
        <p:spPr>
          <a:xfrm>
            <a:off x="502443" y="604683"/>
            <a:ext cx="8066487" cy="394837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  <a:defRPr sz="4100">
                <a:solidFill>
                  <a:srgbClr val="FFFFFF"/>
                </a:solidFill>
              </a:defRPr>
            </a:pPr>
          </a:p>
        </p:txBody>
      </p:sp>
      <p:pic>
        <p:nvPicPr>
          <p:cNvPr id="665" name="fvae_logo_couleur_inverse@2x.pngGoogle Shape;394;p47" descr="fvae_logo_couleur_inverse@2x.pngGoogle Shape;394;p4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Image - 1 co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3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74" name="Google Shape;397;p48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75" name="Google Shape;398;p48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76" name="Google Shape;399;p48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sp>
        <p:nvSpPr>
          <p:cNvPr id="677" name="Google Shape;400;p48"/>
          <p:cNvSpPr/>
          <p:nvPr>
            <p:ph type="pic" idx="24"/>
          </p:nvPr>
        </p:nvSpPr>
        <p:spPr>
          <a:xfrm>
            <a:off x="3426040" y="865165"/>
            <a:ext cx="5717961" cy="38128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Image - 1 col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5" name="Google Shape;403;p49"/>
          <p:cNvSpPr/>
          <p:nvPr/>
        </p:nvSpPr>
        <p:spPr>
          <a:xfrm>
            <a:off x="6091518" y="1"/>
            <a:ext cx="3052483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6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87" name="Google Shape;405;p49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688" name="Google Shape;406;p49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689" name="Google Shape;407;p49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sp>
        <p:nvSpPr>
          <p:cNvPr id="690" name="Google Shape;408;p49"/>
          <p:cNvSpPr/>
          <p:nvPr>
            <p:ph type="pic" idx="24"/>
          </p:nvPr>
        </p:nvSpPr>
        <p:spPr>
          <a:xfrm>
            <a:off x="3426040" y="865165"/>
            <a:ext cx="5717961" cy="38128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Tablette - 1 col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98" name="Google Shape;411;p50"/>
          <p:cNvSpPr/>
          <p:nvPr/>
        </p:nvSpPr>
        <p:spPr>
          <a:xfrm>
            <a:off x="6091518" y="1"/>
            <a:ext cx="3052483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9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00" name="Google Shape;413;p50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701" name="Google Shape;414;p50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702" name="Google Shape;415;p50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703" name="Google Shape;416;p50" descr="Google Shape;416;p5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2851" y="607494"/>
            <a:ext cx="6462552" cy="3890547"/>
          </a:xfrm>
          <a:prstGeom prst="rect">
            <a:avLst/>
          </a:prstGeom>
          <a:ln w="12700">
            <a:miter lim="400000"/>
          </a:ln>
        </p:spPr>
      </p:pic>
      <p:sp>
        <p:nvSpPr>
          <p:cNvPr id="704" name="Google Shape;417;p50"/>
          <p:cNvSpPr/>
          <p:nvPr>
            <p:ph type="pic" sz="half" idx="24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Laptop - 1 col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2" name="Google Shape;420;p51"/>
          <p:cNvSpPr/>
          <p:nvPr/>
        </p:nvSpPr>
        <p:spPr>
          <a:xfrm>
            <a:off x="6091525" y="-1"/>
            <a:ext cx="3052501" cy="5149502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3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14" name="Google Shape;422;p51"/>
          <p:cNvSpPr txBox="1"/>
          <p:nvPr>
            <p:ph type="body" sz="quarter" idx="21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715" name="Google Shape;423;p51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716" name="Google Shape;424;p51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717" name="Google Shape;425;p51" descr="Google Shape;425;p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3732" y="607494"/>
            <a:ext cx="7492381" cy="4258776"/>
          </a:xfrm>
          <a:prstGeom prst="rect">
            <a:avLst/>
          </a:prstGeom>
          <a:ln w="12700">
            <a:miter lim="400000"/>
          </a:ln>
        </p:spPr>
      </p:pic>
      <p:sp>
        <p:nvSpPr>
          <p:cNvPr id="718" name="Google Shape;426;p51"/>
          <p:cNvSpPr/>
          <p:nvPr>
            <p:ph type="pic" sz="half" idx="24"/>
          </p:nvPr>
        </p:nvSpPr>
        <p:spPr>
          <a:xfrm>
            <a:off x="3703179" y="873138"/>
            <a:ext cx="5419165" cy="3077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9" name="Google Shape;427;p51"/>
          <p:cNvSpPr/>
          <p:nvPr/>
        </p:nvSpPr>
        <p:spPr>
          <a:xfrm>
            <a:off x="3703175" y="669974"/>
            <a:ext cx="1247101" cy="200401"/>
          </a:xfrm>
          <a:prstGeom prst="rect">
            <a:avLst/>
          </a:prstGeom>
          <a:solidFill>
            <a:srgbClr val="44484A"/>
          </a:solidFill>
          <a:ln>
            <a:solidFill>
              <a:srgbClr val="434749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Browser - 1 co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7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28" name="Google Shape;430;p52"/>
          <p:cNvSpPr txBox="1"/>
          <p:nvPr>
            <p:ph type="body" sz="quarter" idx="21"/>
          </p:nvPr>
        </p:nvSpPr>
        <p:spPr>
          <a:xfrm>
            <a:off x="502542" y="1145675"/>
            <a:ext cx="2523047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729" name="Google Shape;431;p52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730" name="Google Shape;432;p52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731" name="Google Shape;433;p52" descr="Google Shape;433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5732" y="865165"/>
            <a:ext cx="5750585" cy="3812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e + Parag Medium + Browser - 1 col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9" name="Google Shape;435;p53"/>
          <p:cNvSpPr/>
          <p:nvPr/>
        </p:nvSpPr>
        <p:spPr>
          <a:xfrm>
            <a:off x="6091518" y="1"/>
            <a:ext cx="3052483" cy="51435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0" name="Texte niveau 1…"/>
          <p:cNvSpPr txBox="1"/>
          <p:nvPr>
            <p:ph type="body" sz="quarter" idx="1"/>
          </p:nvPr>
        </p:nvSpPr>
        <p:spPr>
          <a:xfrm>
            <a:off x="502540" y="865165"/>
            <a:ext cx="2523048" cy="20050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>
              <a:lnSpc>
                <a:spcPct val="90000"/>
              </a:lnSpc>
              <a:defRPr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1" name="Google Shape;437;p53"/>
          <p:cNvSpPr txBox="1"/>
          <p:nvPr>
            <p:ph type="body" sz="quarter" idx="21"/>
          </p:nvPr>
        </p:nvSpPr>
        <p:spPr>
          <a:xfrm>
            <a:off x="502542" y="1145675"/>
            <a:ext cx="2523047" cy="30408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742" name="Google Shape;438;p53"/>
          <p:cNvSpPr txBox="1"/>
          <p:nvPr>
            <p:ph type="body" sz="quarter" idx="22"/>
          </p:nvPr>
        </p:nvSpPr>
        <p:spPr>
          <a:xfrm>
            <a:off x="502542" y="1461244"/>
            <a:ext cx="2523047" cy="3216723"/>
          </a:xfrm>
          <a:prstGeom prst="rect">
            <a:avLst/>
          </a:prstGeom>
        </p:spPr>
        <p:txBody>
          <a:bodyPr/>
          <a:lstStyle/>
          <a:p>
            <a:pPr>
              <a:defRPr sz="1400"/>
            </a:pPr>
          </a:p>
        </p:txBody>
      </p:sp>
      <p:sp>
        <p:nvSpPr>
          <p:cNvPr id="743" name="Google Shape;439;p53"/>
          <p:cNvSpPr txBox="1"/>
          <p:nvPr>
            <p:ph type="body" sz="quarter" idx="23"/>
          </p:nvPr>
        </p:nvSpPr>
        <p:spPr>
          <a:xfrm>
            <a:off x="503038" y="6248"/>
            <a:ext cx="8568930" cy="30408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lnSpc>
                <a:spcPct val="90000"/>
              </a:lnSpc>
              <a:defRPr sz="900">
                <a:solidFill>
                  <a:srgbClr val="1041BE"/>
                </a:solidFill>
              </a:defRPr>
            </a:pPr>
          </a:p>
        </p:txBody>
      </p:sp>
      <p:pic>
        <p:nvPicPr>
          <p:cNvPr id="744" name="Google Shape;440;p53" descr="Google Shape;440;p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5732" y="865165"/>
            <a:ext cx="5750585" cy="3812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Surtitre - page vide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52" name="Google Shape;442;p54"/>
          <p:cNvSpPr txBox="1"/>
          <p:nvPr/>
        </p:nvSpPr>
        <p:spPr>
          <a:xfrm>
            <a:off x="3357930" y="2225500"/>
            <a:ext cx="2428142" cy="69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 algn="ctr">
              <a:defRPr sz="4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Questions</a:t>
            </a:r>
          </a:p>
        </p:txBody>
      </p:sp>
      <p:sp>
        <p:nvSpPr>
          <p:cNvPr id="753" name="Google Shape;443;p54"/>
          <p:cNvSpPr/>
          <p:nvPr/>
        </p:nvSpPr>
        <p:spPr>
          <a:xfrm>
            <a:off x="0" y="4624387"/>
            <a:ext cx="1949947" cy="512865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56" name="Google Shape;444;p54"/>
          <p:cNvGrpSpPr/>
          <p:nvPr/>
        </p:nvGrpSpPr>
        <p:grpSpPr>
          <a:xfrm>
            <a:off x="4063050" y="941250"/>
            <a:ext cx="1017901" cy="1017900"/>
            <a:chOff x="0" y="0"/>
            <a:chExt cx="1017899" cy="1017899"/>
          </a:xfrm>
        </p:grpSpPr>
        <p:sp>
          <p:nvSpPr>
            <p:cNvPr id="754" name="Cercle"/>
            <p:cNvSpPr/>
            <p:nvPr/>
          </p:nvSpPr>
          <p:spPr>
            <a:xfrm>
              <a:off x="0" y="0"/>
              <a:ext cx="1017900" cy="1017900"/>
            </a:xfrm>
            <a:prstGeom prst="ellipse">
              <a:avLst/>
            </a:prstGeom>
            <a:solidFill>
              <a:srgbClr val="1041BE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755" name="?"/>
            <p:cNvSpPr txBox="1"/>
            <p:nvPr/>
          </p:nvSpPr>
          <p:spPr>
            <a:xfrm>
              <a:off x="153830" y="233375"/>
              <a:ext cx="710240" cy="551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?</a:t>
              </a:r>
            </a:p>
          </p:txBody>
        </p:sp>
      </p:grpSp>
      <p:pic>
        <p:nvPicPr>
          <p:cNvPr id="757" name="fvae_logo_couleur_inverse@2x.pngGoogle Shape;445;p54" descr="fvae_logo_couleur_inverse@2x.pngGoogle Shape;445;p5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Surtitre - page vide_1">
    <p:bg>
      <p:bgPr>
        <a:solidFill>
          <a:srgbClr val="182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65" name="Google Shape;447;p55"/>
          <p:cNvSpPr txBox="1"/>
          <p:nvPr/>
        </p:nvSpPr>
        <p:spPr>
          <a:xfrm>
            <a:off x="533178" y="1012126"/>
            <a:ext cx="2428002" cy="69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defRPr sz="4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Contact</a:t>
            </a:r>
          </a:p>
        </p:txBody>
      </p:sp>
      <p:sp>
        <p:nvSpPr>
          <p:cNvPr id="766" name="Google Shape;448;p55"/>
          <p:cNvSpPr/>
          <p:nvPr/>
        </p:nvSpPr>
        <p:spPr>
          <a:xfrm>
            <a:off x="0" y="4624387"/>
            <a:ext cx="1950000" cy="513001"/>
          </a:xfrm>
          <a:prstGeom prst="rect">
            <a:avLst/>
          </a:prstGeom>
          <a:solidFill>
            <a:srgbClr val="18275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767" name="fvae_logo_couleur_inverse@2x.pngGoogle Shape;449;p55" descr="fvae_logo_couleur_inverse@2x.pngGoogle Shape;449;p5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009" cy="273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fvae_logo_couleur_inverse@2x.pngGoogle Shape;450;p55" descr="fvae_logo_couleur_inverse@2x.pngGoogle Shape;450;p55"/>
          <p:cNvPicPr>
            <a:picLocks noChangeAspect="1"/>
          </p:cNvPicPr>
          <p:nvPr/>
        </p:nvPicPr>
        <p:blipFill>
          <a:blip r:embed="rId3">
            <a:alphaModFix amt="20000"/>
            <a:extLst/>
          </a:blip>
          <a:stretch>
            <a:fillRect/>
          </a:stretch>
        </p:blipFill>
        <p:spPr>
          <a:xfrm>
            <a:off x="4152400" y="-463324"/>
            <a:ext cx="11169726" cy="6070149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Google Shape;451;p55"/>
          <p:cNvSpPr/>
          <p:nvPr/>
        </p:nvSpPr>
        <p:spPr>
          <a:xfrm>
            <a:off x="0" y="310324"/>
            <a:ext cx="167700" cy="4367702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77" name="Google Shape;9;p1" descr="Google Shape;9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225" cy="274270"/>
          </a:xfrm>
          <a:prstGeom prst="rect">
            <a:avLst/>
          </a:prstGeom>
          <a:ln w="12700">
            <a:miter lim="400000"/>
          </a:ln>
        </p:spPr>
      </p:pic>
      <p:sp>
        <p:nvSpPr>
          <p:cNvPr id="778" name="Texte du titre"/>
          <p:cNvSpPr txBox="1"/>
          <p:nvPr>
            <p:ph type="title"/>
          </p:nvPr>
        </p:nvSpPr>
        <p:spPr>
          <a:xfrm>
            <a:off x="363390" y="707117"/>
            <a:ext cx="8403301" cy="5706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</a:lvl1pPr>
          </a:lstStyle>
          <a:p>
            <a:pPr/>
            <a:r>
              <a:t>Texte du titre</a:t>
            </a:r>
          </a:p>
        </p:txBody>
      </p:sp>
      <p:sp>
        <p:nvSpPr>
          <p:cNvPr id="779" name="Texte niveau 1…"/>
          <p:cNvSpPr txBox="1"/>
          <p:nvPr>
            <p:ph type="body" idx="1"/>
          </p:nvPr>
        </p:nvSpPr>
        <p:spPr>
          <a:xfrm>
            <a:off x="363390" y="1678915"/>
            <a:ext cx="8403301" cy="3125401"/>
          </a:xfrm>
          <a:prstGeom prst="rect">
            <a:avLst/>
          </a:prstGeom>
        </p:spPr>
        <p:txBody>
          <a:bodyPr/>
          <a:lstStyle>
            <a:lvl1pPr marL="457200" indent="-317500">
              <a:lnSpc>
                <a:spcPct val="90000"/>
              </a:lnSpc>
              <a:buClr>
                <a:srgbClr val="182759"/>
              </a:buClr>
              <a:buSzPts val="1800"/>
              <a:buFont typeface="Helvetica"/>
              <a:buChar char="•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indent="-317500">
              <a:lnSpc>
                <a:spcPct val="90000"/>
              </a:lnSpc>
              <a:buClr>
                <a:srgbClr val="182759"/>
              </a:buClr>
              <a:buSzPts val="1800"/>
              <a:buFont typeface="Helvetica"/>
              <a:buChar char="•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462314" indent="-408214">
              <a:lnSpc>
                <a:spcPct val="90000"/>
              </a:lnSpc>
              <a:buClr>
                <a:srgbClr val="182759"/>
              </a:buClr>
              <a:buSzPts val="1800"/>
              <a:buFont typeface="Helvetica"/>
              <a:buChar char="•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1987550" indent="-476250">
              <a:lnSpc>
                <a:spcPct val="90000"/>
              </a:lnSpc>
              <a:buClr>
                <a:srgbClr val="182759"/>
              </a:buClr>
              <a:buSzPts val="1800"/>
              <a:buFont typeface="Helvetica"/>
              <a:buChar char="•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2488045" indent="-519545">
              <a:lnSpc>
                <a:spcPct val="90000"/>
              </a:lnSpc>
              <a:buClr>
                <a:srgbClr val="182759"/>
              </a:buClr>
              <a:buSzPts val="1800"/>
              <a:buFont typeface="Helvetica"/>
              <a:buChar char="•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80" name="Google Shape;458;p56"/>
          <p:cNvSpPr txBox="1"/>
          <p:nvPr>
            <p:ph type="body" sz="quarter" idx="21"/>
          </p:nvPr>
        </p:nvSpPr>
        <p:spPr>
          <a:xfrm>
            <a:off x="360759" y="1277541"/>
            <a:ext cx="8420101" cy="4011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sz="1500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5.xml"/><Relationship Id="rId48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48.xml"/><Relationship Id="rId51" Type="http://schemas.openxmlformats.org/officeDocument/2006/relationships/slideLayout" Target="../slideLayouts/slideLayout49.xml"/><Relationship Id="rId52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1.xml"/><Relationship Id="rId54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3.xml"/><Relationship Id="rId56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diapositive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lnSpc>
                <a:spcPct val="150000"/>
              </a:lnSpc>
              <a:defRPr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3" name="Google Shape;9;p1" descr="Google Shape;9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050" y="4773605"/>
            <a:ext cx="504225" cy="27427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e niveau 1…"/>
          <p:cNvSpPr txBox="1"/>
          <p:nvPr>
            <p:ph type="body" idx="1"/>
          </p:nvPr>
        </p:nvSpPr>
        <p:spPr>
          <a:xfrm>
            <a:off x="502541" y="1206109"/>
            <a:ext cx="8066388" cy="3471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" name="Texte du titre"/>
          <p:cNvSpPr txBox="1"/>
          <p:nvPr>
            <p:ph type="title"/>
          </p:nvPr>
        </p:nvSpPr>
        <p:spPr>
          <a:xfrm>
            <a:off x="457200" y="205978"/>
            <a:ext cx="8229600" cy="1000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182759"/>
          </a:solidFill>
          <a:uFillTx/>
          <a:latin typeface="Roboto Medium"/>
          <a:ea typeface="Roboto Medium"/>
          <a:cs typeface="Roboto Medium"/>
          <a:sym typeface="Roboto Medium"/>
        </a:defRPr>
      </a:lvl9pPr>
    </p:titleStyle>
    <p:bodyStyle>
      <a:lvl1pPr marL="228600" marR="0" indent="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1pPr>
      <a:lvl2pPr marL="228600" marR="0" indent="45720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2pPr>
      <a:lvl3pPr marL="228600" marR="0" indent="91440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3pPr>
      <a:lvl4pPr marL="228600" marR="0" indent="137160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4pPr>
      <a:lvl5pPr marL="228600" marR="0" indent="1828800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5pPr>
      <a:lvl6pPr marL="2947307" marR="0" indent="-521607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Pts val="2300"/>
        <a:buFontTx/>
        <a:buChar char="•"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6pPr>
      <a:lvl7pPr marL="3404506" marR="0" indent="-521606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Pts val="2300"/>
        <a:buFontTx/>
        <a:buChar char="•"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7pPr>
      <a:lvl8pPr marL="3861706" marR="0" indent="-521606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Pts val="2300"/>
        <a:buFontTx/>
        <a:buChar char="•"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8pPr>
      <a:lvl9pPr marL="4318906" marR="0" indent="-521606" algn="l" defTabSz="914400" rtl="0" latinLnBrk="0">
        <a:lnSpc>
          <a:spcPct val="120000"/>
        </a:lnSpc>
        <a:spcBef>
          <a:spcPts val="800"/>
        </a:spcBef>
        <a:spcAft>
          <a:spcPts val="0"/>
        </a:spcAft>
        <a:buClrTx/>
        <a:buSzPts val="2300"/>
        <a:buFontTx/>
        <a:buChar char="•"/>
        <a:tabLst/>
        <a:defRPr b="0" baseline="0" cap="none" i="0" spc="0" strike="noStrike" sz="2300" u="none">
          <a:solidFill>
            <a:srgbClr val="182759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r" defTabSz="914400" rtl="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hyperlink" Target="https://www.figma.com/proto/FErHY4C4J3bSd71vze2Mj1/VAE-Collective---Exploration-S1-2025?page-id=61:7623&amp;node-id=79-6095&amp;p=f&amp;viewport=139,740,0.09&amp;t=FWjI0GmTXsZzk1lh-1&amp;scaling=contain&amp;content-scaling=fixed&amp;starting-point-node-id=61:7835" TargetMode="External"/><Relationship Id="rId5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hyperlink" Target="https://www.figma.com/proto/FErHY4C4J3bSd71vze2Mj1/VAE-Collective---Exploration-S1-2025?page-id=61:7623&amp;node-id=61-7835&amp;p=f&amp;viewport=139,740,0.09&amp;t=FWjI0GmTXsZzk1lh-1&amp;scaling=contain&amp;content-scaling=fixed&amp;starting-point-node-id=61:7835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HSp8_mCLJgILtdG6IBDQqK3VNrxMLBjr/view" TargetMode="External"/><Relationship Id="rId4" Type="http://schemas.openxmlformats.org/officeDocument/2006/relationships/image" Target="../media/image2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hyperlink" Target="https://vae.gouv.fr/savoir-plus/articles/espace-certificateurs/" TargetMode="External"/><Relationship Id="rId5" Type="http://schemas.openxmlformats.org/officeDocument/2006/relationships/hyperlink" Target="https://tally.so/r/n05V10" TargetMode="Externa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90" name="Google Shape;463;p57"/>
          <p:cNvSpPr txBox="1"/>
          <p:nvPr>
            <p:ph type="ctrTitle"/>
          </p:nvPr>
        </p:nvSpPr>
        <p:spPr>
          <a:xfrm>
            <a:off x="477146" y="2179745"/>
            <a:ext cx="7210502" cy="2399101"/>
          </a:xfrm>
          <a:prstGeom prst="rect">
            <a:avLst/>
          </a:prstGeom>
        </p:spPr>
        <p:txBody>
          <a:bodyPr/>
          <a:lstStyle/>
          <a:p>
            <a:pPr/>
            <a:r>
              <a:t>Initier son projet </a:t>
            </a:r>
            <a:br/>
            <a:r>
              <a:t>de VAE collective </a:t>
            </a:r>
          </a:p>
        </p:txBody>
      </p:sp>
      <p:sp>
        <p:nvSpPr>
          <p:cNvPr id="791" name="Google Shape;464;p57"/>
          <p:cNvSpPr txBox="1"/>
          <p:nvPr>
            <p:ph type="subTitle" sz="quarter" idx="1"/>
          </p:nvPr>
        </p:nvSpPr>
        <p:spPr>
          <a:xfrm>
            <a:off x="503190" y="1888825"/>
            <a:ext cx="7184402" cy="2739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</a:lvl1pPr>
          </a:lstStyle>
          <a:p>
            <a:pPr/>
            <a:r>
              <a:t>WEBINAIRE - VAE COLLECTIVE</a:t>
            </a:r>
          </a:p>
        </p:txBody>
      </p:sp>
      <p:sp>
        <p:nvSpPr>
          <p:cNvPr id="792" name="Google Shape;465;p5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buClr>
                <a:srgbClr val="7A869A"/>
              </a:buClr>
              <a:buFont typeface="Helvetica"/>
              <a:defRPr sz="600">
                <a:solidFill>
                  <a:srgbClr val="7A869A"/>
                </a:solidFill>
              </a:defRPr>
            </a:lvl1pPr>
          </a:lstStyle>
          <a:p>
            <a:pPr/>
            <a:r>
              <a:t>Présentation projet</a:t>
            </a:r>
          </a:p>
        </p:txBody>
      </p:sp>
      <p:grpSp>
        <p:nvGrpSpPr>
          <p:cNvPr id="795" name="Google Shape;466;p57"/>
          <p:cNvGrpSpPr/>
          <p:nvPr/>
        </p:nvGrpSpPr>
        <p:grpSpPr>
          <a:xfrm>
            <a:off x="-1693525" y="778725"/>
            <a:ext cx="987001" cy="3327900"/>
            <a:chOff x="0" y="0"/>
            <a:chExt cx="987000" cy="3327899"/>
          </a:xfrm>
        </p:grpSpPr>
        <p:sp>
          <p:nvSpPr>
            <p:cNvPr id="793" name="Rectangle"/>
            <p:cNvSpPr/>
            <p:nvPr/>
          </p:nvSpPr>
          <p:spPr>
            <a:xfrm>
              <a:off x="-1" y="0"/>
              <a:ext cx="987002" cy="3327900"/>
            </a:xfrm>
            <a:prstGeom prst="rect">
              <a:avLst/>
            </a:prstGeom>
            <a:solidFill>
              <a:srgbClr val="E8EBF5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794" name="Verif numeros de slides"/>
            <p:cNvSpPr txBox="1"/>
            <p:nvPr/>
          </p:nvSpPr>
          <p:spPr>
            <a:xfrm>
              <a:off x="4762" y="1248675"/>
              <a:ext cx="977476" cy="830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Verif numeros de slides</a:t>
              </a:r>
            </a:p>
          </p:txBody>
        </p:sp>
      </p:grpSp>
      <p:sp>
        <p:nvSpPr>
          <p:cNvPr id="796" name="Google Shape;467;p57"/>
          <p:cNvSpPr txBox="1"/>
          <p:nvPr/>
        </p:nvSpPr>
        <p:spPr>
          <a:xfrm>
            <a:off x="3585907" y="4847264"/>
            <a:ext cx="1972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50000"/>
              </a:lnSpc>
              <a:defRPr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Mai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01" name="Google Shape;472;p58"/>
          <p:cNvSpPr txBox="1"/>
          <p:nvPr>
            <p:ph type="body" sz="quarter" idx="1"/>
          </p:nvPr>
        </p:nvSpPr>
        <p:spPr>
          <a:xfrm>
            <a:off x="931075" y="518000"/>
            <a:ext cx="6749999" cy="540001"/>
          </a:xfrm>
          <a:prstGeom prst="rect">
            <a:avLst/>
          </a:prstGeom>
        </p:spPr>
        <p:txBody>
          <a:bodyPr/>
          <a:lstStyle>
            <a:lvl1pPr marL="0"/>
          </a:lstStyle>
          <a:p>
            <a:pPr/>
            <a:r>
              <a:t>La VAE collective, de quoi s’agit-il ?</a:t>
            </a:r>
          </a:p>
        </p:txBody>
      </p:sp>
      <p:sp>
        <p:nvSpPr>
          <p:cNvPr id="802" name="Google Shape;473;p58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sz="2400"/>
            </a:lvl1pPr>
          </a:lstStyle>
          <a:p>
            <a:pPr/>
            <a:r>
              <a:t>Les étapes-clés</a:t>
            </a:r>
          </a:p>
        </p:txBody>
      </p:sp>
      <p:sp>
        <p:nvSpPr>
          <p:cNvPr id="803" name="Google Shape;474;p58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sz="2400"/>
            </a:lvl1pPr>
          </a:lstStyle>
          <a:p>
            <a:pPr/>
            <a:r>
              <a:t>Le portail numérique France VAE</a:t>
            </a:r>
          </a:p>
        </p:txBody>
      </p:sp>
      <p:sp>
        <p:nvSpPr>
          <p:cNvPr id="804" name="Google Shape;475;p58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</a:lstStyle>
          <a:p>
            <a:pPr/>
            <a:r>
              <a:t>SOMMAIRE</a:t>
            </a:r>
          </a:p>
        </p:txBody>
      </p:sp>
      <p:sp>
        <p:nvSpPr>
          <p:cNvPr id="805" name="Google Shape;476;p58"/>
          <p:cNvSpPr txBox="1"/>
          <p:nvPr/>
        </p:nvSpPr>
        <p:spPr>
          <a:xfrm>
            <a:off x="931075" y="2221924"/>
            <a:ext cx="6749999" cy="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sz="2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Lancement de votre projet</a:t>
            </a:r>
          </a:p>
        </p:txBody>
      </p:sp>
      <p:sp>
        <p:nvSpPr>
          <p:cNvPr id="806" name="Google Shape;477;p58"/>
          <p:cNvSpPr txBox="1"/>
          <p:nvPr>
            <p:ph type="body" idx="25"/>
          </p:nvPr>
        </p:nvSpPr>
        <p:spPr>
          <a:xfrm>
            <a:off x="931075" y="3925849"/>
            <a:ext cx="6749999" cy="540001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90000"/>
              </a:lnSpc>
              <a:defRPr sz="2400"/>
            </a:pPr>
          </a:p>
        </p:txBody>
      </p:sp>
      <p:sp>
        <p:nvSpPr>
          <p:cNvPr id="807" name="Google Shape;478;p58"/>
          <p:cNvSpPr txBox="1"/>
          <p:nvPr>
            <p:ph type="body" idx="26"/>
          </p:nvPr>
        </p:nvSpPr>
        <p:spPr>
          <a:xfrm>
            <a:off x="931075" y="4493822"/>
            <a:ext cx="6749999" cy="540001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90000"/>
              </a:lnSpc>
              <a:defRPr sz="2400"/>
            </a:pPr>
          </a:p>
        </p:txBody>
      </p:sp>
      <p:sp>
        <p:nvSpPr>
          <p:cNvPr id="808" name="Google Shape;479;p58"/>
          <p:cNvSpPr txBox="1"/>
          <p:nvPr>
            <p:ph type="body" idx="27"/>
          </p:nvPr>
        </p:nvSpPr>
        <p:spPr>
          <a:xfrm>
            <a:off x="931075" y="5061799"/>
            <a:ext cx="6749999" cy="540001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90000"/>
              </a:lnSpc>
              <a:defRPr sz="2400"/>
            </a:pPr>
          </a:p>
        </p:txBody>
      </p:sp>
      <p:sp>
        <p:nvSpPr>
          <p:cNvPr id="809" name="Google Shape;480;p58"/>
          <p:cNvSpPr txBox="1"/>
          <p:nvPr>
            <p:ph type="body" idx="28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b="1">
                <a:solidFill>
                  <a:srgbClr val="1041BE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10" name="Google Shape;481;p58"/>
          <p:cNvSpPr txBox="1"/>
          <p:nvPr>
            <p:ph type="body" idx="29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b="1">
                <a:solidFill>
                  <a:srgbClr val="1041BE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11" name="Google Shape;482;p58"/>
          <p:cNvSpPr txBox="1"/>
          <p:nvPr>
            <p:ph type="body" idx="30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b="1">
                <a:solidFill>
                  <a:srgbClr val="1041BE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2" name="Google Shape;483;p58"/>
          <p:cNvSpPr txBox="1"/>
          <p:nvPr/>
        </p:nvSpPr>
        <p:spPr>
          <a:xfrm>
            <a:off x="503050" y="2221925"/>
            <a:ext cx="504300" cy="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b="1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3" name="Google Shape;484;p58"/>
          <p:cNvSpPr txBox="1"/>
          <p:nvPr>
            <p:ph type="body" idx="24"/>
          </p:nvPr>
        </p:nvSpPr>
        <p:spPr>
          <a:xfrm>
            <a:off x="931075" y="2789899"/>
            <a:ext cx="6749999" cy="540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defRPr sz="2400"/>
            </a:lvl1pPr>
          </a:lstStyle>
          <a:p>
            <a:pPr/>
            <a:r>
              <a:t>Co-construction de l’outil de pilotage</a:t>
            </a:r>
          </a:p>
        </p:txBody>
      </p:sp>
      <p:sp>
        <p:nvSpPr>
          <p:cNvPr id="814" name="Google Shape;485;p58"/>
          <p:cNvSpPr txBox="1"/>
          <p:nvPr>
            <p:ph type="body" idx="31"/>
          </p:nvPr>
        </p:nvSpPr>
        <p:spPr>
          <a:xfrm>
            <a:off x="503050" y="2789900"/>
            <a:ext cx="504300" cy="540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b="1">
                <a:solidFill>
                  <a:srgbClr val="1041BE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19" name="Google Shape;490;p59"/>
          <p:cNvSpPr txBox="1"/>
          <p:nvPr>
            <p:ph type="title"/>
          </p:nvPr>
        </p:nvSpPr>
        <p:spPr>
          <a:xfrm>
            <a:off x="2863400" y="2125276"/>
            <a:ext cx="5273400" cy="1091401"/>
          </a:xfrm>
          <a:prstGeom prst="rect">
            <a:avLst/>
          </a:prstGeom>
        </p:spPr>
        <p:txBody>
          <a:bodyPr/>
          <a:lstStyle/>
          <a:p>
            <a:pPr/>
            <a:r>
              <a:t>La VAE collective, </a:t>
            </a:r>
            <a:br/>
            <a:r>
              <a:t>de quoi s’agit-il ?</a:t>
            </a:r>
          </a:p>
        </p:txBody>
      </p:sp>
      <p:sp>
        <p:nvSpPr>
          <p:cNvPr id="820" name="Google Shape;491;p59"/>
          <p:cNvSpPr txBox="1"/>
          <p:nvPr>
            <p:ph type="body" sz="quarter" idx="1"/>
          </p:nvPr>
        </p:nvSpPr>
        <p:spPr>
          <a:xfrm>
            <a:off x="2880807" y="1834356"/>
            <a:ext cx="4804202" cy="2739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  <p:sp>
        <p:nvSpPr>
          <p:cNvPr id="821" name="Google Shape;492;p59"/>
          <p:cNvSpPr txBox="1"/>
          <p:nvPr/>
        </p:nvSpPr>
        <p:spPr>
          <a:xfrm>
            <a:off x="593299" y="1924024"/>
            <a:ext cx="1167702" cy="138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 algn="ctr">
              <a:defRPr sz="220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26" name="Google Shape;497;p60"/>
          <p:cNvSpPr txBox="1"/>
          <p:nvPr>
            <p:ph type="body" sz="half" idx="1"/>
          </p:nvPr>
        </p:nvSpPr>
        <p:spPr>
          <a:xfrm>
            <a:off x="502550" y="1206104"/>
            <a:ext cx="8066400" cy="1811099"/>
          </a:xfrm>
          <a:prstGeom prst="rect">
            <a:avLst/>
          </a:prstGeom>
        </p:spPr>
        <p:txBody>
          <a:bodyPr/>
          <a:lstStyle/>
          <a:p>
            <a:pPr marL="0"/>
            <a:r>
              <a:t>Bien que la VAE soit un droit individuel, </a:t>
            </a:r>
            <a:br/>
            <a:r>
              <a:t>un collectif (entreprises, associations, territoire,etc.)</a:t>
            </a:r>
            <a:br/>
            <a:r>
              <a:t>peut l’initier de manière collective, au sein de son organisation, à destination de plusieurs collaborateurs.</a:t>
            </a:r>
          </a:p>
        </p:txBody>
      </p:sp>
      <p:sp>
        <p:nvSpPr>
          <p:cNvPr id="827" name="Google Shape;498;p60"/>
          <p:cNvSpPr txBox="1"/>
          <p:nvPr>
            <p:ph type="body" idx="21"/>
          </p:nvPr>
        </p:nvSpPr>
        <p:spPr>
          <a:xfrm>
            <a:off x="503038" y="-1501"/>
            <a:ext cx="8568902" cy="304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sz="900">
                <a:solidFill>
                  <a:srgbClr val="1041BE"/>
                </a:solidFill>
              </a:defRPr>
            </a:lvl1pPr>
          </a:lstStyle>
          <a:p>
            <a:pPr/>
            <a:r>
              <a:t>LA VAE COLLECTIVE, DE QUOI S’AGIT-IL ?</a:t>
            </a:r>
          </a:p>
        </p:txBody>
      </p:sp>
      <p:sp>
        <p:nvSpPr>
          <p:cNvPr id="828" name="Google Shape;499;p60"/>
          <p:cNvSpPr txBox="1"/>
          <p:nvPr>
            <p:ph type="body" idx="22"/>
          </p:nvPr>
        </p:nvSpPr>
        <p:spPr>
          <a:xfrm>
            <a:off x="502540" y="334921"/>
            <a:ext cx="8569502" cy="3261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694944">
              <a:lnSpc>
                <a:spcPct val="100000"/>
              </a:lnSpc>
              <a:spcBef>
                <a:spcPts val="600"/>
              </a:spcBef>
              <a:defRPr b="1" sz="1748"/>
            </a:lvl1pPr>
          </a:lstStyle>
          <a:p>
            <a:pPr/>
            <a:r>
              <a:t>Faire reconnaître ensemble les parcours et talents d’un groupe</a:t>
            </a:r>
          </a:p>
        </p:txBody>
      </p:sp>
      <p:sp>
        <p:nvSpPr>
          <p:cNvPr id="829" name="Google Shape;500;p60"/>
          <p:cNvSpPr txBox="1"/>
          <p:nvPr/>
        </p:nvSpPr>
        <p:spPr>
          <a:xfrm>
            <a:off x="498875" y="3800774"/>
            <a:ext cx="3372601" cy="86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1500">
                <a:latin typeface="Roboto"/>
                <a:ea typeface="Roboto"/>
                <a:cs typeface="Roboto"/>
                <a:sym typeface="Roboto"/>
              </a:defRPr>
            </a:pPr>
            <a:r>
              <a:t>Cela ne peut pas être imposé au</a:t>
            </a:r>
            <a:r>
              <a:rPr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/>
              <a:t>collaborateur</a:t>
            </a:r>
            <a:r>
              <a:rPr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t>qui</a:t>
            </a:r>
            <a:r>
              <a:rPr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/>
              <a:t>reste libre</a:t>
            </a:r>
            <a:r>
              <a:rPr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t>de mobiliser ou non ce droit individuel. </a:t>
            </a:r>
          </a:p>
        </p:txBody>
      </p:sp>
      <p:sp>
        <p:nvSpPr>
          <p:cNvPr id="830" name="Google Shape;501;p60"/>
          <p:cNvSpPr txBox="1"/>
          <p:nvPr/>
        </p:nvSpPr>
        <p:spPr>
          <a:xfrm>
            <a:off x="4495800" y="3800774"/>
            <a:ext cx="3016500" cy="109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1500">
                <a:latin typeface="Roboto"/>
                <a:ea typeface="Roboto"/>
                <a:cs typeface="Roboto"/>
                <a:sym typeface="Roboto"/>
              </a:defRPr>
            </a:pPr>
            <a:r>
              <a:t>Démarche qui peut s’inscrire </a:t>
            </a:r>
            <a:br/>
            <a:r>
              <a:t>dans un </a:t>
            </a:r>
            <a:r>
              <a:rPr b="1"/>
              <a:t>plan de développement des compétences</a:t>
            </a:r>
            <a:r>
              <a:rPr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5" name="Google Shape;506;p61"/>
          <p:cNvSpPr txBox="1"/>
          <p:nvPr>
            <p:ph type="body" sz="quarter" idx="1"/>
          </p:nvPr>
        </p:nvSpPr>
        <p:spPr>
          <a:xfrm>
            <a:off x="502545" y="362524"/>
            <a:ext cx="4284902" cy="326101"/>
          </a:xfrm>
          <a:prstGeom prst="rect">
            <a:avLst/>
          </a:prstGeom>
        </p:spPr>
        <p:txBody>
          <a:bodyPr lIns="34275" tIns="34275" rIns="34275" bIns="34275" anchor="t"/>
          <a:lstStyle>
            <a:lvl1pPr marL="0" defTabSz="448055">
              <a:spcBef>
                <a:spcPts val="300"/>
              </a:spcBef>
              <a:defRPr b="1" sz="1127">
                <a:solidFill>
                  <a:srgbClr val="182759"/>
                </a:solidFill>
              </a:defRPr>
            </a:lvl1pPr>
          </a:lstStyle>
          <a:p>
            <a:pPr/>
            <a:r>
              <a:t>Un outil au service du maintien et de l’évolution dans l’emploi</a:t>
            </a:r>
          </a:p>
        </p:txBody>
      </p:sp>
      <p:sp>
        <p:nvSpPr>
          <p:cNvPr id="836" name="Google Shape;507;p61"/>
          <p:cNvSpPr/>
          <p:nvPr/>
        </p:nvSpPr>
        <p:spPr>
          <a:xfrm>
            <a:off x="2434849" y="1586299"/>
            <a:ext cx="3942002" cy="1193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pic>
        <p:nvPicPr>
          <p:cNvPr id="837" name="image vae collective.pngGoogle Shape;508;p61" descr="image vae collective.pngGoogle Shape;508;p61"/>
          <p:cNvPicPr>
            <a:picLocks noChangeAspect="1"/>
          </p:cNvPicPr>
          <p:nvPr>
            <p:ph type="body" idx="21"/>
          </p:nvPr>
        </p:nvPicPr>
        <p:blipFill>
          <a:blip r:embed="rId3">
            <a:extLst/>
          </a:blip>
          <a:srcRect l="28267" t="0" r="32214" b="0"/>
          <a:stretch>
            <a:fillRect/>
          </a:stretch>
        </p:blipFill>
        <p:spPr>
          <a:xfrm>
            <a:off x="6095124" y="0"/>
            <a:ext cx="3048873" cy="5143502"/>
          </a:xfrm>
          <a:prstGeom prst="rect">
            <a:avLst/>
          </a:prstGeom>
        </p:spPr>
      </p:pic>
      <p:sp>
        <p:nvSpPr>
          <p:cNvPr id="838" name="Google Shape;509;p61"/>
          <p:cNvSpPr txBox="1"/>
          <p:nvPr/>
        </p:nvSpPr>
        <p:spPr>
          <a:xfrm>
            <a:off x="537348" y="1260974"/>
            <a:ext cx="525700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Acte de reconnaissance fort</a:t>
            </a:r>
          </a:p>
        </p:txBody>
      </p:sp>
      <p:sp>
        <p:nvSpPr>
          <p:cNvPr id="839" name="Google Shape;510;p61"/>
          <p:cNvSpPr txBox="1"/>
          <p:nvPr/>
        </p:nvSpPr>
        <p:spPr>
          <a:xfrm>
            <a:off x="537338" y="1500349"/>
            <a:ext cx="5257002" cy="5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en dehors des leviers salariaux classiques</a:t>
            </a:r>
          </a:p>
        </p:txBody>
      </p:sp>
      <p:sp>
        <p:nvSpPr>
          <p:cNvPr id="840" name="Google Shape;511;p61"/>
          <p:cNvSpPr txBox="1"/>
          <p:nvPr/>
        </p:nvSpPr>
        <p:spPr>
          <a:xfrm>
            <a:off x="537348" y="1877724"/>
            <a:ext cx="525700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Alternative à la formation</a:t>
            </a:r>
          </a:p>
        </p:txBody>
      </p:sp>
      <p:sp>
        <p:nvSpPr>
          <p:cNvPr id="841" name="Google Shape;512;p61"/>
          <p:cNvSpPr txBox="1"/>
          <p:nvPr/>
        </p:nvSpPr>
        <p:spPr>
          <a:xfrm>
            <a:off x="537338" y="2137524"/>
            <a:ext cx="5257002" cy="5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dans votre stratégie de GEPP</a:t>
            </a:r>
          </a:p>
        </p:txBody>
      </p:sp>
      <p:sp>
        <p:nvSpPr>
          <p:cNvPr id="842" name="Google Shape;513;p61"/>
          <p:cNvSpPr txBox="1"/>
          <p:nvPr/>
        </p:nvSpPr>
        <p:spPr>
          <a:xfrm>
            <a:off x="537350" y="3716275"/>
            <a:ext cx="4360000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Réduction du temps et du coût</a:t>
            </a:r>
          </a:p>
        </p:txBody>
      </p:sp>
      <p:sp>
        <p:nvSpPr>
          <p:cNvPr id="843" name="Google Shape;514;p61"/>
          <p:cNvSpPr txBox="1"/>
          <p:nvPr/>
        </p:nvSpPr>
        <p:spPr>
          <a:xfrm>
            <a:off x="537349" y="3955774"/>
            <a:ext cx="3714402" cy="30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d’accès à la certification</a:t>
            </a:r>
          </a:p>
        </p:txBody>
      </p:sp>
      <p:sp>
        <p:nvSpPr>
          <p:cNvPr id="844" name="Google Shape;515;p61"/>
          <p:cNvSpPr txBox="1"/>
          <p:nvPr/>
        </p:nvSpPr>
        <p:spPr>
          <a:xfrm>
            <a:off x="537348" y="2500750"/>
            <a:ext cx="5257002" cy="309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Synergie entre candidats</a:t>
            </a:r>
          </a:p>
        </p:txBody>
      </p:sp>
      <p:sp>
        <p:nvSpPr>
          <p:cNvPr id="845" name="Google Shape;516;p61"/>
          <p:cNvSpPr txBox="1"/>
          <p:nvPr/>
        </p:nvSpPr>
        <p:spPr>
          <a:xfrm>
            <a:off x="537346" y="2774700"/>
            <a:ext cx="3501100" cy="58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impulsée par la dimension collective du projet</a:t>
            </a:r>
          </a:p>
        </p:txBody>
      </p:sp>
      <p:sp>
        <p:nvSpPr>
          <p:cNvPr id="846" name="Google Shape;517;p61"/>
          <p:cNvSpPr txBox="1"/>
          <p:nvPr/>
        </p:nvSpPr>
        <p:spPr>
          <a:xfrm>
            <a:off x="502549" y="3055788"/>
            <a:ext cx="3077702" cy="95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Posture réflexive renforcée </a:t>
            </a:r>
          </a:p>
          <a:p>
            <a:pPr>
              <a:lnSpc>
                <a:spcPct val="115000"/>
              </a:lnSpc>
              <a:defRPr sz="1200">
                <a:latin typeface="Roboto"/>
                <a:ea typeface="Roboto"/>
                <a:cs typeface="Roboto"/>
                <a:sym typeface="Roboto"/>
              </a:defRPr>
            </a:pPr>
            <a:r>
              <a:t>des collaborateurs post VAE</a:t>
            </a:r>
          </a:p>
        </p:txBody>
      </p:sp>
      <p:sp>
        <p:nvSpPr>
          <p:cNvPr id="847" name="Google Shape;518;p61"/>
          <p:cNvSpPr txBox="1"/>
          <p:nvPr/>
        </p:nvSpPr>
        <p:spPr>
          <a:xfrm>
            <a:off x="571613" y="-1501"/>
            <a:ext cx="8431752" cy="30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BÉNÉFIQUE POUR L’EMPLOYEUR COMME POUR LE COLLABORATEUR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8E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52" name="Google Shape;523;p62"/>
          <p:cNvSpPr txBox="1"/>
          <p:nvPr>
            <p:ph type="body" sz="quarter" idx="1"/>
          </p:nvPr>
        </p:nvSpPr>
        <p:spPr>
          <a:xfrm>
            <a:off x="3474299" y="2098600"/>
            <a:ext cx="2195401" cy="567900"/>
          </a:xfrm>
          <a:prstGeom prst="rect">
            <a:avLst/>
          </a:prstGeom>
        </p:spPr>
        <p:txBody>
          <a:bodyPr lIns="34275" tIns="34275" rIns="34275" bIns="34275" anchor="t"/>
          <a:lstStyle/>
          <a:p>
            <a:pPr marL="0" algn="ctr" defTabSz="886968">
              <a:spcBef>
                <a:spcPts val="700"/>
              </a:spcBef>
              <a:defRPr b="1" sz="1746">
                <a:solidFill>
                  <a:srgbClr val="182759"/>
                </a:solidFill>
              </a:defRPr>
            </a:pPr>
            <a:r>
              <a:t>Le cercle vertueux </a:t>
            </a:r>
            <a:br/>
            <a:r>
              <a:t>de la VAE collective</a:t>
            </a:r>
          </a:p>
        </p:txBody>
      </p:sp>
      <p:sp>
        <p:nvSpPr>
          <p:cNvPr id="853" name="Google Shape;524;p62"/>
          <p:cNvSpPr txBox="1"/>
          <p:nvPr>
            <p:ph type="body" idx="21"/>
          </p:nvPr>
        </p:nvSpPr>
        <p:spPr>
          <a:xfrm>
            <a:off x="-7148601" y="-2063026"/>
            <a:ext cx="6459301" cy="136269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>
              <a:lnSpc>
                <a:spcPct val="90000"/>
              </a:lnSpc>
              <a:defRPr sz="800"/>
            </a:pPr>
            <a:r>
              <a:t>1. Valorisation et Reconnaissance des Compétences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Permet de recenser, développer et actualiser les compétences internes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Renforce l'image de marque en valorisant l'expertise des équipes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Améliore la crédibilité de l'entreprise vis-à-vis de l'extérieur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Obtention d'une reconnaissance officielle (diplôme, titre ou certification)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Gain en confiance, fierté et légitimité professionnelle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Valorisation officielle des compétences acquises tout au long du parcours professionnel</a:t>
            </a:r>
          </a:p>
          <a:p>
            <a:pPr marL="0">
              <a:lnSpc>
                <a:spcPct val="90000"/>
              </a:lnSpc>
              <a:defRPr sz="800"/>
            </a:pPr>
            <a:r>
              <a:t>2. Fidélisation et Motivation des Collaborateurs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Création d'un cadre de travail où les salariés se projettent sur le long terme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Diminution du turnover et des coûts de recrutement associés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Instauration d'une dynamique positive d'équipe et de coopération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Sentiment d'appartenance renforcé à l'entreprise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Plus grand engagement dans leur mission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Motivation accrue par la reconnaissance de leur valeur</a:t>
            </a:r>
          </a:p>
          <a:p>
            <a:pPr marL="0">
              <a:lnSpc>
                <a:spcPct val="90000"/>
              </a:lnSpc>
              <a:defRPr sz="800"/>
            </a:pPr>
            <a:r>
              <a:t>3. Développement de l'Employabilité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Constitution d'un vivier de candidats pour la mobilité interne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Résolution des difficultés de recrutement externe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Adaptation de la main-d'œuvre aux évolutions du marché et aux nouveaux besoins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Sécurisation de leur parcours professionnel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Accès facilité à d'autres dispositifs de formation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Capacité d'adaptation face aux évolutions du marché du travail et à l'allongement de la vie professionnelle</a:t>
            </a:r>
          </a:p>
          <a:p>
            <a:pPr marL="0">
              <a:lnSpc>
                <a:spcPct val="90000"/>
              </a:lnSpc>
              <a:defRPr sz="800"/>
            </a:pPr>
            <a:r>
              <a:t>4. Optimisation de la Gestion des Ressources Humaines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Outil efficace de gestion prévisionnelle des emplois et des compétences (GPEC)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Cartographie complète des compétences disponibles dans l'organisation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Visibilité sur les compétences en sommeil qui peuvent être réactivées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Redécouverte de l'ensemble de leurs expertises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Prise de recul sur les évolutions de leur métier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Projection vers de nouvelles responsabilités futures</a:t>
            </a:r>
          </a:p>
          <a:p>
            <a:pPr marL="0">
              <a:lnSpc>
                <a:spcPct val="90000"/>
              </a:lnSpc>
              <a:defRPr sz="800"/>
            </a:pPr>
            <a:r>
              <a:t>5. Renforcement de la Cohésion et de l'Intelligence Collective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Création d'un "esprit de promotion" qui favorise le partage d'expériences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Développement d'une culture d'apprentissage continu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Émulation positive entre les collaborateurs qui limite les abandons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Partage d'expériences enrichissant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Soutien mutuel et entraide entre participants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Réduction du sentiment d'isolement qui peut exister dans une démarche individuelle</a:t>
            </a:r>
          </a:p>
          <a:p>
            <a:pPr marL="0">
              <a:lnSpc>
                <a:spcPct val="90000"/>
              </a:lnSpc>
              <a:defRPr sz="800"/>
            </a:pPr>
            <a:r>
              <a:t>6. Optimisation des Coûts et Ressources de Formation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Réduction de la durée et des coûts des formations traditionnelles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Possibilité de coupler la VAE avec d'autres dispositifs de formation (VAE hybride)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Financement possible par les OPCO pour les entreprises de moins de 50 salariés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Formation reconnue sans devoir s'absenter longuement de leur poste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Valorisation de l'expérience déjà acquise plutôt que de repartir de zéro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Accès à une certification sans suivre un cursus complet de formation</a:t>
            </a:r>
          </a:p>
          <a:p>
            <a:pPr marL="0">
              <a:lnSpc>
                <a:spcPct val="90000"/>
              </a:lnSpc>
              <a:defRPr sz="800"/>
            </a:pPr>
            <a:r>
              <a:t>7. Contribution au Dialogue Social</a:t>
            </a:r>
          </a:p>
          <a:p>
            <a:pPr marL="0">
              <a:lnSpc>
                <a:spcPct val="90000"/>
              </a:lnSpc>
              <a:defRPr sz="800"/>
            </a:pPr>
            <a:r>
              <a:t>Pour l'entreprise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Instrument au service du dialogue social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Démonstration de l'engagement de l'entreprise envers le développement professionnel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Amélioration des relations avec les partenaires sociaux</a:t>
            </a:r>
          </a:p>
          <a:p>
            <a:pPr marL="0">
              <a:lnSpc>
                <a:spcPct val="90000"/>
              </a:lnSpc>
              <a:defRPr sz="800"/>
            </a:pPr>
            <a:r>
              <a:t>Pour les salariés :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Reconnaissance de leur contribution à l'entreprise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Meilleure transparence sur les parcours d'évolution possibles</a:t>
            </a:r>
          </a:p>
          <a:p>
            <a:pPr marL="457200" indent="-279400">
              <a:lnSpc>
                <a:spcPct val="90000"/>
              </a:lnSpc>
              <a:buClr>
                <a:srgbClr val="182759"/>
              </a:buClr>
              <a:buSzPts val="800"/>
              <a:buFont typeface="Helvetica"/>
              <a:buChar char="●"/>
              <a:defRPr sz="800"/>
            </a:pPr>
            <a:r>
              <a:t>Inclusion dans la stratégie de développement de l'entreprise</a:t>
            </a:r>
          </a:p>
        </p:txBody>
      </p:sp>
      <p:grpSp>
        <p:nvGrpSpPr>
          <p:cNvPr id="858" name="Google Shape;525;p62"/>
          <p:cNvGrpSpPr/>
          <p:nvPr/>
        </p:nvGrpSpPr>
        <p:grpSpPr>
          <a:xfrm>
            <a:off x="2532677" y="303878"/>
            <a:ext cx="4102504" cy="4078915"/>
            <a:chOff x="0" y="0"/>
            <a:chExt cx="4102503" cy="4078913"/>
          </a:xfrm>
        </p:grpSpPr>
        <p:sp>
          <p:nvSpPr>
            <p:cNvPr id="854" name="Google Shape;526;p62"/>
            <p:cNvSpPr/>
            <p:nvPr/>
          </p:nvSpPr>
          <p:spPr>
            <a:xfrm rot="16200000">
              <a:off x="-1018760" y="1018759"/>
              <a:ext cx="4078636" cy="2041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81"/>
                  </a:moveTo>
                  <a:cubicBezTo>
                    <a:pt x="0" y="9662"/>
                    <a:pt x="4835" y="0"/>
                    <a:pt x="10800" y="0"/>
                  </a:cubicBezTo>
                  <a:cubicBezTo>
                    <a:pt x="16765" y="0"/>
                    <a:pt x="21600" y="9662"/>
                    <a:pt x="21600" y="21581"/>
                  </a:cubicBezTo>
                  <a:lnTo>
                    <a:pt x="17855" y="21600"/>
                  </a:lnTo>
                  <a:cubicBezTo>
                    <a:pt x="17855" y="13815"/>
                    <a:pt x="14696" y="7503"/>
                    <a:pt x="10800" y="7503"/>
                  </a:cubicBezTo>
                  <a:cubicBezTo>
                    <a:pt x="6904" y="7503"/>
                    <a:pt x="3745" y="13815"/>
                    <a:pt x="3745" y="21600"/>
                  </a:cubicBezTo>
                  <a:close/>
                </a:path>
              </a:pathLst>
            </a:custGeom>
            <a:solidFill>
              <a:srgbClr val="295FE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55" name="Google Shape;527;p62"/>
            <p:cNvSpPr/>
            <p:nvPr/>
          </p:nvSpPr>
          <p:spPr>
            <a:xfrm rot="5400000">
              <a:off x="1007329" y="983600"/>
              <a:ext cx="4078635" cy="2111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0859"/>
                  </a:moveTo>
                  <a:cubicBezTo>
                    <a:pt x="0" y="9339"/>
                    <a:pt x="4835" y="0"/>
                    <a:pt x="10800" y="0"/>
                  </a:cubicBezTo>
                  <a:cubicBezTo>
                    <a:pt x="16765" y="0"/>
                    <a:pt x="21600" y="9339"/>
                    <a:pt x="21600" y="20859"/>
                  </a:cubicBezTo>
                  <a:cubicBezTo>
                    <a:pt x="21600" y="21106"/>
                    <a:pt x="21598" y="21353"/>
                    <a:pt x="21593" y="21600"/>
                  </a:cubicBezTo>
                  <a:lnTo>
                    <a:pt x="17807" y="21584"/>
                  </a:lnTo>
                  <a:cubicBezTo>
                    <a:pt x="17945" y="14109"/>
                    <a:pt x="14919" y="7833"/>
                    <a:pt x="11048" y="7568"/>
                  </a:cubicBezTo>
                  <a:cubicBezTo>
                    <a:pt x="7178" y="7302"/>
                    <a:pt x="3929" y="13147"/>
                    <a:pt x="3791" y="20623"/>
                  </a:cubicBezTo>
                  <a:cubicBezTo>
                    <a:pt x="3788" y="20783"/>
                    <a:pt x="3787" y="20943"/>
                    <a:pt x="3787" y="21104"/>
                  </a:cubicBezTo>
                  <a:close/>
                </a:path>
              </a:pathLst>
            </a:cu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56" name="Google Shape;528;p62"/>
            <p:cNvSpPr/>
            <p:nvPr/>
          </p:nvSpPr>
          <p:spPr>
            <a:xfrm>
              <a:off x="1628759" y="3369961"/>
              <a:ext cx="708953" cy="708953"/>
            </a:xfrm>
            <a:prstGeom prst="ellipse">
              <a:avLst/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57" name="Google Shape;529;p62"/>
            <p:cNvSpPr/>
            <p:nvPr/>
          </p:nvSpPr>
          <p:spPr>
            <a:xfrm>
              <a:off x="1674435" y="0"/>
              <a:ext cx="708953" cy="708953"/>
            </a:xfrm>
            <a:prstGeom prst="ellipse">
              <a:avLst/>
            </a:prstGeom>
            <a:solidFill>
              <a:srgbClr val="295FE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</p:grpSp>
      <p:grpSp>
        <p:nvGrpSpPr>
          <p:cNvPr id="861" name="Google Shape;530;p62"/>
          <p:cNvGrpSpPr/>
          <p:nvPr/>
        </p:nvGrpSpPr>
        <p:grpSpPr>
          <a:xfrm>
            <a:off x="1188149" y="2505524"/>
            <a:ext cx="1815302" cy="972000"/>
            <a:chOff x="0" y="0"/>
            <a:chExt cx="1815300" cy="971999"/>
          </a:xfrm>
        </p:grpSpPr>
        <p:sp>
          <p:nvSpPr>
            <p:cNvPr id="859" name="Rectangle aux angles arrondis"/>
            <p:cNvSpPr/>
            <p:nvPr/>
          </p:nvSpPr>
          <p:spPr>
            <a:xfrm>
              <a:off x="0" y="0"/>
              <a:ext cx="1815301" cy="972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228600" dist="19050" dir="540000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800"/>
                </a:spcBef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60" name="Dialogue social…"/>
            <p:cNvSpPr txBox="1"/>
            <p:nvPr/>
          </p:nvSpPr>
          <p:spPr>
            <a:xfrm>
              <a:off x="47449" y="91044"/>
              <a:ext cx="1720402" cy="789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/>
            <a:p>
              <a:pPr>
                <a:defRPr b="1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Dialogue social</a:t>
              </a:r>
            </a:p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  <a:r>
                <a:t>Créer une dynamique</a:t>
              </a:r>
              <a:br/>
              <a:r>
                <a:t>collective positive</a:t>
              </a:r>
            </a:p>
          </p:txBody>
        </p:sp>
      </p:grpSp>
      <p:grpSp>
        <p:nvGrpSpPr>
          <p:cNvPr id="864" name="Google Shape;531;p62"/>
          <p:cNvGrpSpPr/>
          <p:nvPr/>
        </p:nvGrpSpPr>
        <p:grpSpPr>
          <a:xfrm>
            <a:off x="1617999" y="563615"/>
            <a:ext cx="1676701" cy="1142970"/>
            <a:chOff x="0" y="0"/>
            <a:chExt cx="1676699" cy="1142969"/>
          </a:xfrm>
        </p:grpSpPr>
        <p:sp>
          <p:nvSpPr>
            <p:cNvPr id="862" name="Rectangle aux angles arrondis"/>
            <p:cNvSpPr/>
            <p:nvPr/>
          </p:nvSpPr>
          <p:spPr>
            <a:xfrm>
              <a:off x="0" y="85484"/>
              <a:ext cx="1676700" cy="9720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228600" dist="19050" dir="540000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800"/>
                </a:spcBef>
                <a:defRPr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63" name="Reconnaissance…"/>
            <p:cNvSpPr txBox="1"/>
            <p:nvPr/>
          </p:nvSpPr>
          <p:spPr>
            <a:xfrm>
              <a:off x="47449" y="0"/>
              <a:ext cx="1581802" cy="1142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/>
            <a:p>
              <a:pPr>
                <a:defRPr b="1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Reconnaissance</a:t>
              </a:r>
            </a:p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  <a:r>
                <a:t>Valoriser l’expérience acquise par vos collaborateurs</a:t>
              </a:r>
            </a:p>
          </p:txBody>
        </p:sp>
      </p:grpSp>
      <p:grpSp>
        <p:nvGrpSpPr>
          <p:cNvPr id="867" name="Google Shape;532;p62"/>
          <p:cNvGrpSpPr/>
          <p:nvPr/>
        </p:nvGrpSpPr>
        <p:grpSpPr>
          <a:xfrm>
            <a:off x="5828500" y="649100"/>
            <a:ext cx="1815301" cy="972000"/>
            <a:chOff x="0" y="0"/>
            <a:chExt cx="1815300" cy="971999"/>
          </a:xfrm>
        </p:grpSpPr>
        <p:sp>
          <p:nvSpPr>
            <p:cNvPr id="865" name="Rectangle aux angles arrondis"/>
            <p:cNvSpPr/>
            <p:nvPr/>
          </p:nvSpPr>
          <p:spPr>
            <a:xfrm>
              <a:off x="0" y="0"/>
              <a:ext cx="1815301" cy="972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228600" dist="19050" dir="540000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800"/>
                </a:spcBef>
                <a:defRPr>
                  <a:solidFill>
                    <a:srgbClr val="1041BE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866" name="Fidélisation…"/>
            <p:cNvSpPr txBox="1"/>
            <p:nvPr/>
          </p:nvSpPr>
          <p:spPr>
            <a:xfrm>
              <a:off x="47449" y="91044"/>
              <a:ext cx="1720402" cy="789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/>
            <a:p>
              <a:pPr>
                <a:defRPr b="1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Fidélisation</a:t>
              </a:r>
            </a:p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  <a:r>
                <a:t>Renforcer l’engagement et réduire le turnover</a:t>
              </a:r>
            </a:p>
          </p:txBody>
        </p:sp>
      </p:grpSp>
      <p:grpSp>
        <p:nvGrpSpPr>
          <p:cNvPr id="870" name="Google Shape;533;p62"/>
          <p:cNvGrpSpPr/>
          <p:nvPr/>
        </p:nvGrpSpPr>
        <p:grpSpPr>
          <a:xfrm>
            <a:off x="6140649" y="2505524"/>
            <a:ext cx="2428202" cy="1095601"/>
            <a:chOff x="0" y="0"/>
            <a:chExt cx="2428200" cy="1095599"/>
          </a:xfrm>
        </p:grpSpPr>
        <p:sp>
          <p:nvSpPr>
            <p:cNvPr id="868" name="Rectangle aux angles arrondis"/>
            <p:cNvSpPr/>
            <p:nvPr/>
          </p:nvSpPr>
          <p:spPr>
            <a:xfrm>
              <a:off x="0" y="0"/>
              <a:ext cx="2428201" cy="1095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228600" dist="19050" dir="540000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69" name="Sécurisation des parcours professionnels…"/>
            <p:cNvSpPr txBox="1"/>
            <p:nvPr/>
          </p:nvSpPr>
          <p:spPr>
            <a:xfrm>
              <a:off x="53482" y="44894"/>
              <a:ext cx="2321236" cy="10058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/>
            <a:p>
              <a:pPr>
                <a:defRPr b="1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Sécurisation des parcours professionnels</a:t>
              </a:r>
            </a:p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  <a:r>
                <a:t>L’accès à la certification favorise le maintien de l’employabilité </a:t>
              </a:r>
            </a:p>
          </p:txBody>
        </p:sp>
      </p:grpSp>
      <p:grpSp>
        <p:nvGrpSpPr>
          <p:cNvPr id="873" name="Google Shape;534;p62"/>
          <p:cNvGrpSpPr/>
          <p:nvPr/>
        </p:nvGrpSpPr>
        <p:grpSpPr>
          <a:xfrm>
            <a:off x="3664399" y="3846521"/>
            <a:ext cx="1815302" cy="1142971"/>
            <a:chOff x="0" y="0"/>
            <a:chExt cx="1815300" cy="1142969"/>
          </a:xfrm>
        </p:grpSpPr>
        <p:sp>
          <p:nvSpPr>
            <p:cNvPr id="871" name="Rectangle aux angles arrondis"/>
            <p:cNvSpPr/>
            <p:nvPr/>
          </p:nvSpPr>
          <p:spPr>
            <a:xfrm>
              <a:off x="0" y="85484"/>
              <a:ext cx="1815301" cy="9720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228600" dist="19050" dir="5400000">
                <a:srgbClr val="000000">
                  <a:alpha val="7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872" name="Marque employeur…"/>
            <p:cNvSpPr txBox="1"/>
            <p:nvPr/>
          </p:nvSpPr>
          <p:spPr>
            <a:xfrm>
              <a:off x="47449" y="0"/>
              <a:ext cx="1720402" cy="1142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/>
            <a:p>
              <a:pPr>
                <a:defRPr b="1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Marque employeur</a:t>
              </a:r>
            </a:p>
            <a:p>
              <a:pPr>
                <a:lnSpc>
                  <a:spcPct val="90000"/>
                </a:lnSpc>
                <a:spcBef>
                  <a:spcPts val="800"/>
                </a:spcBef>
                <a:defRPr sz="1000">
                  <a:latin typeface="Roboto"/>
                  <a:ea typeface="Roboto"/>
                  <a:cs typeface="Roboto"/>
                  <a:sym typeface="Roboto"/>
                </a:defRPr>
              </a:pPr>
              <a:r>
                <a:t>Attirer et retenir les talents en instaurant une culture de la reconnaissance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78" name="Google Shape;539;p63"/>
          <p:cNvSpPr txBox="1"/>
          <p:nvPr>
            <p:ph type="title"/>
          </p:nvPr>
        </p:nvSpPr>
        <p:spPr>
          <a:xfrm>
            <a:off x="2863400" y="2125276"/>
            <a:ext cx="5273400" cy="1091401"/>
          </a:xfrm>
          <a:prstGeom prst="rect">
            <a:avLst/>
          </a:prstGeom>
        </p:spPr>
        <p:txBody>
          <a:bodyPr/>
          <a:lstStyle/>
          <a:p>
            <a:pPr/>
            <a:r>
              <a:t>Les étapes-clés </a:t>
            </a:r>
            <a:br/>
            <a:r>
              <a:t>d’une VAE collective</a:t>
            </a:r>
          </a:p>
        </p:txBody>
      </p:sp>
      <p:sp>
        <p:nvSpPr>
          <p:cNvPr id="879" name="Google Shape;540;p63"/>
          <p:cNvSpPr txBox="1"/>
          <p:nvPr>
            <p:ph type="body" sz="quarter" idx="1"/>
          </p:nvPr>
        </p:nvSpPr>
        <p:spPr>
          <a:xfrm>
            <a:off x="2880807" y="1834356"/>
            <a:ext cx="4804202" cy="2739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  <p:sp>
        <p:nvSpPr>
          <p:cNvPr id="880" name="Google Shape;541;p63"/>
          <p:cNvSpPr txBox="1"/>
          <p:nvPr/>
        </p:nvSpPr>
        <p:spPr>
          <a:xfrm>
            <a:off x="593299" y="1924024"/>
            <a:ext cx="1167702" cy="138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 algn="ctr">
              <a:defRPr sz="220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85" name="Google Shape;546;p64"/>
          <p:cNvSpPr txBox="1"/>
          <p:nvPr>
            <p:ph type="body" sz="quarter" idx="1"/>
          </p:nvPr>
        </p:nvSpPr>
        <p:spPr>
          <a:xfrm>
            <a:off x="502550" y="362524"/>
            <a:ext cx="8360100" cy="326101"/>
          </a:xfrm>
          <a:prstGeom prst="rect">
            <a:avLst/>
          </a:prstGeom>
        </p:spPr>
        <p:txBody>
          <a:bodyPr lIns="34275" tIns="34275" rIns="34275" bIns="34275" anchor="t"/>
          <a:lstStyle>
            <a:lvl1pPr marL="0" defTabSz="694944">
              <a:spcBef>
                <a:spcPts val="600"/>
              </a:spcBef>
              <a:defRPr b="1" sz="1748">
                <a:solidFill>
                  <a:srgbClr val="182759"/>
                </a:solidFill>
              </a:defRPr>
            </a:lvl1pPr>
          </a:lstStyle>
          <a:p>
            <a:pPr/>
            <a:r>
              <a:t>Bien se préparer avant de démarrer le projet</a:t>
            </a:r>
          </a:p>
        </p:txBody>
      </p:sp>
      <p:sp>
        <p:nvSpPr>
          <p:cNvPr id="886" name="Google Shape;547;p64"/>
          <p:cNvSpPr txBox="1"/>
          <p:nvPr/>
        </p:nvSpPr>
        <p:spPr>
          <a:xfrm>
            <a:off x="609374" y="1677449"/>
            <a:ext cx="3712902" cy="12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Cibler les typologies d’emploi en lien avec vos enjeux RH ou GEPP</a:t>
            </a:r>
          </a:p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Identifier les certifications pertinentes au regard des compétences internes et des perspectives de l’entreprise</a:t>
            </a:r>
          </a:p>
        </p:txBody>
      </p:sp>
      <p:sp>
        <p:nvSpPr>
          <p:cNvPr id="887" name="Google Shape;548;p64"/>
          <p:cNvSpPr txBox="1"/>
          <p:nvPr/>
        </p:nvSpPr>
        <p:spPr>
          <a:xfrm>
            <a:off x="575080" y="3297575"/>
            <a:ext cx="3114601" cy="30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b="1" sz="16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Sensibiliser et mobiliser</a:t>
            </a:r>
          </a:p>
        </p:txBody>
      </p:sp>
      <p:sp>
        <p:nvSpPr>
          <p:cNvPr id="888" name="Google Shape;549;p64"/>
          <p:cNvSpPr txBox="1"/>
          <p:nvPr/>
        </p:nvSpPr>
        <p:spPr>
          <a:xfrm>
            <a:off x="609375" y="3613149"/>
            <a:ext cx="3046001" cy="84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Informer les collaborateurs sur leurs droits et le parcours proposé</a:t>
            </a:r>
          </a:p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Impliquer les managers de proximité et les partenaires sociaux</a:t>
            </a:r>
          </a:p>
        </p:txBody>
      </p:sp>
      <p:sp>
        <p:nvSpPr>
          <p:cNvPr id="889" name="Google Shape;550;p64"/>
          <p:cNvSpPr txBox="1"/>
          <p:nvPr/>
        </p:nvSpPr>
        <p:spPr>
          <a:xfrm>
            <a:off x="4787529" y="1350975"/>
            <a:ext cx="3711300" cy="30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b="1" sz="16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Organiser la mise en oeuvre </a:t>
            </a:r>
          </a:p>
        </p:txBody>
      </p:sp>
      <p:sp>
        <p:nvSpPr>
          <p:cNvPr id="890" name="Google Shape;551;p64"/>
          <p:cNvSpPr txBox="1"/>
          <p:nvPr/>
        </p:nvSpPr>
        <p:spPr>
          <a:xfrm>
            <a:off x="4821824" y="1666086"/>
            <a:ext cx="3712901" cy="147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Prévoir les besoins logistiques (salles, plannings…)</a:t>
            </a:r>
          </a:p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Anticiper les aménagements d’emploi du temps (remplacements, plages libérées)</a:t>
            </a:r>
          </a:p>
        </p:txBody>
      </p:sp>
      <p:sp>
        <p:nvSpPr>
          <p:cNvPr id="891" name="Google Shape;552;p64"/>
          <p:cNvSpPr txBox="1"/>
          <p:nvPr/>
        </p:nvSpPr>
        <p:spPr>
          <a:xfrm>
            <a:off x="4787529" y="3297580"/>
            <a:ext cx="2980201" cy="45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defTabSz="704087">
              <a:lnSpc>
                <a:spcPct val="90000"/>
              </a:lnSpc>
              <a:spcBef>
                <a:spcPts val="600"/>
              </a:spcBef>
              <a:defRPr b="1" sz="1232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Sécuriser le financement </a:t>
            </a:r>
            <a:br/>
            <a:r>
              <a:t>et la reconnaissance</a:t>
            </a:r>
          </a:p>
        </p:txBody>
      </p:sp>
      <p:sp>
        <p:nvSpPr>
          <p:cNvPr id="892" name="Google Shape;553;p64"/>
          <p:cNvSpPr txBox="1"/>
          <p:nvPr/>
        </p:nvSpPr>
        <p:spPr>
          <a:xfrm>
            <a:off x="4821824" y="3827279"/>
            <a:ext cx="3463901" cy="9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Identifier les financements mobilisables (OPCO, entreprise, autres)</a:t>
            </a:r>
          </a:p>
          <a:p>
            <a:pPr marL="457200" indent="-304800">
              <a:lnSpc>
                <a:spcPct val="115000"/>
              </a:lnSpc>
              <a:buClr>
                <a:srgbClr val="182759"/>
              </a:buClr>
              <a:buSzPts val="1200"/>
              <a:buFont typeface="Helvetica"/>
              <a:buChar char="●"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Définir les modalités de reconnaissance des certifications obtenues</a:t>
            </a:r>
          </a:p>
        </p:txBody>
      </p:sp>
      <p:sp>
        <p:nvSpPr>
          <p:cNvPr id="893" name="Google Shape;554;p64"/>
          <p:cNvSpPr txBox="1"/>
          <p:nvPr/>
        </p:nvSpPr>
        <p:spPr>
          <a:xfrm>
            <a:off x="571613" y="6248"/>
            <a:ext cx="8431752" cy="30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LES ÉTAPES-CLÉS D’UNE VAE COLLECTIVE</a:t>
            </a:r>
          </a:p>
        </p:txBody>
      </p:sp>
      <p:sp>
        <p:nvSpPr>
          <p:cNvPr id="894" name="Google Shape;555;p64"/>
          <p:cNvSpPr txBox="1"/>
          <p:nvPr>
            <p:ph type="body" idx="21"/>
          </p:nvPr>
        </p:nvSpPr>
        <p:spPr>
          <a:xfrm>
            <a:off x="575077" y="1350962"/>
            <a:ext cx="3486301" cy="304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defRPr b="1" sz="1600">
                <a:solidFill>
                  <a:srgbClr val="1041BE"/>
                </a:solidFill>
              </a:defRPr>
            </a:lvl1pPr>
          </a:lstStyle>
          <a:p>
            <a:pPr/>
            <a:r>
              <a:t>Identifier les bons leviers internes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99" name="Google Shape;560;p65"/>
          <p:cNvSpPr txBox="1"/>
          <p:nvPr>
            <p:ph type="body" sz="quarter" idx="1"/>
          </p:nvPr>
        </p:nvSpPr>
        <p:spPr>
          <a:xfrm>
            <a:off x="502540" y="360586"/>
            <a:ext cx="8569502" cy="326102"/>
          </a:xfrm>
          <a:prstGeom prst="rect">
            <a:avLst/>
          </a:prstGeom>
        </p:spPr>
        <p:txBody>
          <a:bodyPr lIns="34275" tIns="34275" rIns="34275" bIns="34275" anchor="t"/>
          <a:lstStyle>
            <a:lvl1pPr marL="0" defTabSz="694944">
              <a:spcBef>
                <a:spcPts val="600"/>
              </a:spcBef>
              <a:defRPr b="1" sz="1748">
                <a:solidFill>
                  <a:srgbClr val="182759"/>
                </a:solidFill>
              </a:defRPr>
            </a:lvl1pPr>
          </a:lstStyle>
          <a:p>
            <a:pPr/>
            <a:r>
              <a:t>Un parcours simplifié et balisé via la plateforme France VAE</a:t>
            </a:r>
          </a:p>
        </p:txBody>
      </p:sp>
      <p:sp>
        <p:nvSpPr>
          <p:cNvPr id="900" name="Google Shape;561;p65"/>
          <p:cNvSpPr txBox="1"/>
          <p:nvPr/>
        </p:nvSpPr>
        <p:spPr>
          <a:xfrm>
            <a:off x="98700" y="2935300"/>
            <a:ext cx="1675899" cy="31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E79D6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Lancement projet </a:t>
            </a:r>
          </a:p>
        </p:txBody>
      </p:sp>
      <p:sp>
        <p:nvSpPr>
          <p:cNvPr id="901" name="Google Shape;562;p65"/>
          <p:cNvSpPr txBox="1"/>
          <p:nvPr/>
        </p:nvSpPr>
        <p:spPr>
          <a:xfrm>
            <a:off x="968474" y="1609874"/>
            <a:ext cx="1966001" cy="32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E79D6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Appel à candidature</a:t>
            </a:r>
          </a:p>
        </p:txBody>
      </p:sp>
      <p:sp>
        <p:nvSpPr>
          <p:cNvPr id="902" name="Google Shape;563;p65"/>
          <p:cNvSpPr txBox="1"/>
          <p:nvPr/>
        </p:nvSpPr>
        <p:spPr>
          <a:xfrm>
            <a:off x="6297225" y="1587250"/>
            <a:ext cx="25291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Suivi de l’accompagnement </a:t>
            </a:r>
          </a:p>
        </p:txBody>
      </p:sp>
      <p:sp>
        <p:nvSpPr>
          <p:cNvPr id="903" name="Google Shape;564;p65"/>
          <p:cNvSpPr txBox="1"/>
          <p:nvPr/>
        </p:nvSpPr>
        <p:spPr>
          <a:xfrm>
            <a:off x="4690775" y="2852224"/>
            <a:ext cx="1853201" cy="32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740663">
              <a:lnSpc>
                <a:spcPct val="90000"/>
              </a:lnSpc>
              <a:spcBef>
                <a:spcPts val="600"/>
              </a:spcBef>
              <a:defRPr sz="1134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Dépôt dossiers &amp; calendrier </a:t>
            </a:r>
          </a:p>
        </p:txBody>
      </p:sp>
      <p:sp>
        <p:nvSpPr>
          <p:cNvPr id="904" name="Google Shape;565;p65"/>
          <p:cNvSpPr txBox="1"/>
          <p:nvPr/>
        </p:nvSpPr>
        <p:spPr>
          <a:xfrm>
            <a:off x="7873774" y="2808675"/>
            <a:ext cx="1998101" cy="29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E79D6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Jury  </a:t>
            </a:r>
          </a:p>
        </p:txBody>
      </p:sp>
      <p:pic>
        <p:nvPicPr>
          <p:cNvPr id="905" name="losange bleu roi fvae@2x.pngGoogle Shape;566;p65" descr="losange bleu roi fvae@2x.pngGoogle Shape;566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5455" y="2311150"/>
            <a:ext cx="432201" cy="4837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6" name="losange bleu roi fvae@2x.pngGoogle Shape;567;p65" descr="losange bleu roi fvae@2x.pngGoogle Shape;567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81344" y="2311150"/>
            <a:ext cx="432201" cy="4837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7" name="losange bleu roi fvae@2x.pngGoogle Shape;568;p65" descr="losange bleu roi fvae@2x.pngGoogle Shape;568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35835" y="2311150"/>
            <a:ext cx="432201" cy="4837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" name="losange bleu roi fvae@2x.pngGoogle Shape;569;p65" descr="losange bleu roi fvae@2x.pngGoogle Shape;569;p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33125" y="2311150"/>
            <a:ext cx="432201" cy="483724"/>
          </a:xfrm>
          <a:prstGeom prst="rect">
            <a:avLst/>
          </a:prstGeom>
          <a:ln w="12700">
            <a:miter lim="400000"/>
          </a:ln>
        </p:spPr>
      </p:pic>
      <p:sp>
        <p:nvSpPr>
          <p:cNvPr id="909" name="Google Shape;570;p65"/>
          <p:cNvSpPr txBox="1"/>
          <p:nvPr/>
        </p:nvSpPr>
        <p:spPr>
          <a:xfrm>
            <a:off x="98700" y="3164675"/>
            <a:ext cx="1903900" cy="63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800"/>
              </a:spcBef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Ciblage des typologies d’emploi et certifications…</a:t>
            </a:r>
          </a:p>
        </p:txBody>
      </p:sp>
      <p:sp>
        <p:nvSpPr>
          <p:cNvPr id="910" name="Google Shape;571;p65"/>
          <p:cNvSpPr txBox="1"/>
          <p:nvPr/>
        </p:nvSpPr>
        <p:spPr>
          <a:xfrm>
            <a:off x="934174" y="1817174"/>
            <a:ext cx="1744500" cy="4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800"/>
              </a:spcBef>
              <a:buClr>
                <a:srgbClr val="295FEC"/>
              </a:buClr>
              <a:buFont typeface="Helvetica"/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Sur la base du volontariat</a:t>
            </a:r>
          </a:p>
        </p:txBody>
      </p:sp>
      <p:sp>
        <p:nvSpPr>
          <p:cNvPr id="911" name="Google Shape;572;p65"/>
          <p:cNvSpPr txBox="1"/>
          <p:nvPr>
            <p:ph type="body" idx="24"/>
          </p:nvPr>
        </p:nvSpPr>
        <p:spPr>
          <a:xfrm>
            <a:off x="4644258" y="3275908"/>
            <a:ext cx="1921800" cy="326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649223">
              <a:lnSpc>
                <a:spcPct val="115000"/>
              </a:lnSpc>
              <a:spcBef>
                <a:spcPts val="500"/>
              </a:spcBef>
              <a:buClr>
                <a:srgbClr val="295FEC"/>
              </a:buClr>
              <a:buFont typeface="Helvetica"/>
              <a:defRPr sz="710"/>
            </a:lvl1pPr>
          </a:lstStyle>
          <a:p>
            <a:pPr/>
            <a:r>
              <a:t>Accès aux dates et infos clefs (avis recevabilité, dates jury..)</a:t>
            </a:r>
          </a:p>
        </p:txBody>
      </p:sp>
      <p:sp>
        <p:nvSpPr>
          <p:cNvPr id="912" name="Google Shape;573;p65"/>
          <p:cNvSpPr txBox="1"/>
          <p:nvPr/>
        </p:nvSpPr>
        <p:spPr>
          <a:xfrm>
            <a:off x="7858199" y="3018173"/>
            <a:ext cx="1421501" cy="63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800"/>
              </a:spcBef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Accès aux résultats </a:t>
            </a:r>
          </a:p>
        </p:txBody>
      </p:sp>
      <p:pic>
        <p:nvPicPr>
          <p:cNvPr id="913" name="losange bleu roi fvae@2x.pngGoogle Shape;574;p65" descr="losange bleu roi fvae@2x.pngGoogle Shape;574;p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7874" y="2311150"/>
            <a:ext cx="432202" cy="483724"/>
          </a:xfrm>
          <a:prstGeom prst="rect">
            <a:avLst/>
          </a:prstGeom>
          <a:ln w="12700">
            <a:miter lim="400000"/>
          </a:ln>
        </p:spPr>
      </p:pic>
      <p:sp>
        <p:nvSpPr>
          <p:cNvPr id="914" name="Google Shape;575;p65"/>
          <p:cNvSpPr/>
          <p:nvPr/>
        </p:nvSpPr>
        <p:spPr>
          <a:xfrm>
            <a:off x="5196883" y="2426073"/>
            <a:ext cx="211016" cy="263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0" y="0"/>
                </a:moveTo>
                <a:lnTo>
                  <a:pt x="2700" y="0"/>
                </a:lnTo>
                <a:cubicBezTo>
                  <a:pt x="1215" y="0"/>
                  <a:pt x="14" y="972"/>
                  <a:pt x="14" y="2160"/>
                </a:cubicBezTo>
                <a:lnTo>
                  <a:pt x="0" y="19440"/>
                </a:lnTo>
                <a:cubicBezTo>
                  <a:pt x="0" y="20628"/>
                  <a:pt x="1201" y="21600"/>
                  <a:pt x="2686" y="21600"/>
                </a:cubicBezTo>
                <a:lnTo>
                  <a:pt x="18900" y="21600"/>
                </a:lnTo>
                <a:cubicBezTo>
                  <a:pt x="20385" y="21600"/>
                  <a:pt x="21600" y="20628"/>
                  <a:pt x="21600" y="19440"/>
                </a:cubicBezTo>
                <a:lnTo>
                  <a:pt x="21600" y="6480"/>
                </a:lnTo>
                <a:lnTo>
                  <a:pt x="13500" y="0"/>
                </a:lnTo>
                <a:close/>
                <a:moveTo>
                  <a:pt x="2700" y="19440"/>
                </a:moveTo>
                <a:lnTo>
                  <a:pt x="2700" y="2160"/>
                </a:lnTo>
                <a:lnTo>
                  <a:pt x="12150" y="2160"/>
                </a:lnTo>
                <a:lnTo>
                  <a:pt x="12150" y="7560"/>
                </a:lnTo>
                <a:lnTo>
                  <a:pt x="18900" y="7560"/>
                </a:lnTo>
                <a:lnTo>
                  <a:pt x="18900" y="19440"/>
                </a:lnTo>
                <a:lnTo>
                  <a:pt x="2700" y="194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15" name="Google Shape;576;p65"/>
          <p:cNvSpPr/>
          <p:nvPr/>
        </p:nvSpPr>
        <p:spPr>
          <a:xfrm>
            <a:off x="8009089" y="4089287"/>
            <a:ext cx="290147" cy="290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6873"/>
                </a:moveTo>
                <a:cubicBezTo>
                  <a:pt x="8630" y="6873"/>
                  <a:pt x="6873" y="8630"/>
                  <a:pt x="6873" y="10800"/>
                </a:cubicBezTo>
                <a:cubicBezTo>
                  <a:pt x="6873" y="12970"/>
                  <a:pt x="8630" y="14727"/>
                  <a:pt x="10800" y="14727"/>
                </a:cubicBezTo>
                <a:cubicBezTo>
                  <a:pt x="12970" y="14727"/>
                  <a:pt x="14727" y="12970"/>
                  <a:pt x="14727" y="10800"/>
                </a:cubicBezTo>
                <a:cubicBezTo>
                  <a:pt x="14727" y="8630"/>
                  <a:pt x="12970" y="6873"/>
                  <a:pt x="10800" y="6873"/>
                </a:cubicBezTo>
                <a:close/>
                <a:moveTo>
                  <a:pt x="19577" y="9818"/>
                </a:moveTo>
                <a:cubicBezTo>
                  <a:pt x="19126" y="5724"/>
                  <a:pt x="15876" y="2474"/>
                  <a:pt x="11782" y="2023"/>
                </a:cubicBezTo>
                <a:lnTo>
                  <a:pt x="11782" y="0"/>
                </a:lnTo>
                <a:lnTo>
                  <a:pt x="9818" y="0"/>
                </a:lnTo>
                <a:lnTo>
                  <a:pt x="9818" y="2023"/>
                </a:lnTo>
                <a:cubicBezTo>
                  <a:pt x="5724" y="2474"/>
                  <a:pt x="2474" y="5724"/>
                  <a:pt x="2023" y="9818"/>
                </a:cubicBezTo>
                <a:lnTo>
                  <a:pt x="0" y="9818"/>
                </a:lnTo>
                <a:lnTo>
                  <a:pt x="0" y="11782"/>
                </a:lnTo>
                <a:lnTo>
                  <a:pt x="2023" y="11782"/>
                </a:lnTo>
                <a:cubicBezTo>
                  <a:pt x="2474" y="15876"/>
                  <a:pt x="5724" y="19126"/>
                  <a:pt x="9818" y="19577"/>
                </a:cubicBezTo>
                <a:lnTo>
                  <a:pt x="9818" y="21600"/>
                </a:lnTo>
                <a:lnTo>
                  <a:pt x="11782" y="21600"/>
                </a:lnTo>
                <a:lnTo>
                  <a:pt x="11782" y="19577"/>
                </a:lnTo>
                <a:cubicBezTo>
                  <a:pt x="15876" y="19126"/>
                  <a:pt x="19126" y="15876"/>
                  <a:pt x="19577" y="11782"/>
                </a:cubicBezTo>
                <a:lnTo>
                  <a:pt x="21600" y="11782"/>
                </a:lnTo>
                <a:lnTo>
                  <a:pt x="21600" y="9818"/>
                </a:lnTo>
                <a:lnTo>
                  <a:pt x="19577" y="9818"/>
                </a:lnTo>
                <a:close/>
                <a:moveTo>
                  <a:pt x="10800" y="17673"/>
                </a:moveTo>
                <a:cubicBezTo>
                  <a:pt x="7000" y="17673"/>
                  <a:pt x="3927" y="14600"/>
                  <a:pt x="3927" y="10800"/>
                </a:cubicBezTo>
                <a:cubicBezTo>
                  <a:pt x="3927" y="7000"/>
                  <a:pt x="7000" y="3927"/>
                  <a:pt x="10800" y="3927"/>
                </a:cubicBezTo>
                <a:cubicBezTo>
                  <a:pt x="14600" y="3927"/>
                  <a:pt x="17673" y="7000"/>
                  <a:pt x="17673" y="10800"/>
                </a:cubicBezTo>
                <a:cubicBezTo>
                  <a:pt x="17673" y="14600"/>
                  <a:pt x="14600" y="17673"/>
                  <a:pt x="10800" y="176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16" name="Google Shape;577;p65"/>
          <p:cNvSpPr/>
          <p:nvPr/>
        </p:nvSpPr>
        <p:spPr>
          <a:xfrm>
            <a:off x="213631" y="2426073"/>
            <a:ext cx="250582" cy="263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5120"/>
                </a:moveTo>
                <a:lnTo>
                  <a:pt x="21600" y="12960"/>
                </a:lnTo>
                <a:lnTo>
                  <a:pt x="12505" y="7560"/>
                </a:lnTo>
                <a:lnTo>
                  <a:pt x="12505" y="1620"/>
                </a:lnTo>
                <a:cubicBezTo>
                  <a:pt x="12505" y="724"/>
                  <a:pt x="11744" y="0"/>
                  <a:pt x="10800" y="0"/>
                </a:cubicBezTo>
                <a:cubicBezTo>
                  <a:pt x="9856" y="0"/>
                  <a:pt x="9095" y="724"/>
                  <a:pt x="9095" y="1620"/>
                </a:cubicBezTo>
                <a:lnTo>
                  <a:pt x="9095" y="7560"/>
                </a:lnTo>
                <a:lnTo>
                  <a:pt x="0" y="12960"/>
                </a:lnTo>
                <a:lnTo>
                  <a:pt x="0" y="15120"/>
                </a:lnTo>
                <a:lnTo>
                  <a:pt x="9095" y="12420"/>
                </a:lnTo>
                <a:lnTo>
                  <a:pt x="9095" y="18360"/>
                </a:lnTo>
                <a:lnTo>
                  <a:pt x="6821" y="19980"/>
                </a:lnTo>
                <a:lnTo>
                  <a:pt x="6821" y="21600"/>
                </a:lnTo>
                <a:lnTo>
                  <a:pt x="10800" y="20520"/>
                </a:lnTo>
                <a:lnTo>
                  <a:pt x="14779" y="21600"/>
                </a:lnTo>
                <a:lnTo>
                  <a:pt x="14779" y="19980"/>
                </a:lnTo>
                <a:lnTo>
                  <a:pt x="12505" y="18360"/>
                </a:lnTo>
                <a:lnTo>
                  <a:pt x="12505" y="12420"/>
                </a:lnTo>
                <a:lnTo>
                  <a:pt x="21600" y="1512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17" name="Google Shape;578;p65"/>
          <p:cNvSpPr/>
          <p:nvPr/>
        </p:nvSpPr>
        <p:spPr>
          <a:xfrm>
            <a:off x="3758938" y="2426092"/>
            <a:ext cx="211016" cy="2110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700"/>
                </a:moveTo>
                <a:cubicBezTo>
                  <a:pt x="12285" y="2700"/>
                  <a:pt x="13500" y="3915"/>
                  <a:pt x="13500" y="5400"/>
                </a:cubicBezTo>
                <a:cubicBezTo>
                  <a:pt x="13500" y="6885"/>
                  <a:pt x="12285" y="8100"/>
                  <a:pt x="10800" y="8100"/>
                </a:cubicBezTo>
                <a:cubicBezTo>
                  <a:pt x="9315" y="8100"/>
                  <a:pt x="8100" y="6885"/>
                  <a:pt x="8100" y="5400"/>
                </a:cubicBezTo>
                <a:cubicBezTo>
                  <a:pt x="8100" y="3915"/>
                  <a:pt x="9315" y="2700"/>
                  <a:pt x="10800" y="2700"/>
                </a:cubicBezTo>
                <a:moveTo>
                  <a:pt x="10800" y="16200"/>
                </a:moveTo>
                <a:cubicBezTo>
                  <a:pt x="14445" y="16200"/>
                  <a:pt x="18630" y="17942"/>
                  <a:pt x="18900" y="18900"/>
                </a:cubicBezTo>
                <a:lnTo>
                  <a:pt x="2700" y="18900"/>
                </a:lnTo>
                <a:cubicBezTo>
                  <a:pt x="3011" y="17928"/>
                  <a:pt x="7168" y="16200"/>
                  <a:pt x="10800" y="16200"/>
                </a:cubicBezTo>
                <a:moveTo>
                  <a:pt x="10800" y="0"/>
                </a:moveTo>
                <a:cubicBezTo>
                  <a:pt x="7817" y="0"/>
                  <a:pt x="5400" y="2416"/>
                  <a:pt x="5400" y="5400"/>
                </a:cubicBezTo>
                <a:cubicBezTo>
                  <a:pt x="5400" y="8383"/>
                  <a:pt x="7817" y="10800"/>
                  <a:pt x="10800" y="10800"/>
                </a:cubicBezTo>
                <a:cubicBezTo>
                  <a:pt x="13783" y="10800"/>
                  <a:pt x="16200" y="8383"/>
                  <a:pt x="16200" y="5400"/>
                </a:cubicBezTo>
                <a:cubicBezTo>
                  <a:pt x="16200" y="2416"/>
                  <a:pt x="13783" y="0"/>
                  <a:pt x="10800" y="0"/>
                </a:cubicBezTo>
                <a:close/>
                <a:moveTo>
                  <a:pt x="10800" y="13500"/>
                </a:moveTo>
                <a:cubicBezTo>
                  <a:pt x="7195" y="13500"/>
                  <a:pt x="0" y="15309"/>
                  <a:pt x="0" y="1890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18900"/>
                </a:lnTo>
                <a:cubicBezTo>
                  <a:pt x="21600" y="15309"/>
                  <a:pt x="14405" y="13500"/>
                  <a:pt x="10800" y="135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18" name="Google Shape;579;p65"/>
          <p:cNvSpPr/>
          <p:nvPr/>
        </p:nvSpPr>
        <p:spPr>
          <a:xfrm>
            <a:off x="6824999" y="2465638"/>
            <a:ext cx="263770" cy="184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560" y="13500"/>
                </a:moveTo>
                <a:cubicBezTo>
                  <a:pt x="5033" y="13500"/>
                  <a:pt x="0" y="15305"/>
                  <a:pt x="0" y="18900"/>
                </a:cubicBezTo>
                <a:lnTo>
                  <a:pt x="0" y="21600"/>
                </a:lnTo>
                <a:lnTo>
                  <a:pt x="15120" y="21600"/>
                </a:lnTo>
                <a:lnTo>
                  <a:pt x="15120" y="18900"/>
                </a:lnTo>
                <a:cubicBezTo>
                  <a:pt x="15120" y="15305"/>
                  <a:pt x="10087" y="13500"/>
                  <a:pt x="7560" y="13500"/>
                </a:cubicBezTo>
                <a:close/>
                <a:moveTo>
                  <a:pt x="2527" y="18514"/>
                </a:moveTo>
                <a:cubicBezTo>
                  <a:pt x="3434" y="17619"/>
                  <a:pt x="5627" y="16586"/>
                  <a:pt x="7560" y="16586"/>
                </a:cubicBezTo>
                <a:cubicBezTo>
                  <a:pt x="9493" y="16586"/>
                  <a:pt x="11686" y="17619"/>
                  <a:pt x="12593" y="18514"/>
                </a:cubicBezTo>
                <a:lnTo>
                  <a:pt x="2527" y="18514"/>
                </a:lnTo>
                <a:close/>
                <a:moveTo>
                  <a:pt x="7560" y="10800"/>
                </a:moveTo>
                <a:cubicBezTo>
                  <a:pt x="9644" y="10800"/>
                  <a:pt x="11340" y="8378"/>
                  <a:pt x="11340" y="5400"/>
                </a:cubicBezTo>
                <a:cubicBezTo>
                  <a:pt x="11340" y="2422"/>
                  <a:pt x="9644" y="0"/>
                  <a:pt x="7560" y="0"/>
                </a:cubicBezTo>
                <a:cubicBezTo>
                  <a:pt x="5476" y="0"/>
                  <a:pt x="3780" y="2422"/>
                  <a:pt x="3780" y="5400"/>
                </a:cubicBezTo>
                <a:cubicBezTo>
                  <a:pt x="3780" y="8378"/>
                  <a:pt x="5476" y="10800"/>
                  <a:pt x="7560" y="10800"/>
                </a:cubicBezTo>
                <a:close/>
                <a:moveTo>
                  <a:pt x="7560" y="3086"/>
                </a:moveTo>
                <a:cubicBezTo>
                  <a:pt x="8456" y="3086"/>
                  <a:pt x="9180" y="4119"/>
                  <a:pt x="9180" y="5400"/>
                </a:cubicBezTo>
                <a:cubicBezTo>
                  <a:pt x="9180" y="6681"/>
                  <a:pt x="8456" y="7714"/>
                  <a:pt x="7560" y="7714"/>
                </a:cubicBezTo>
                <a:cubicBezTo>
                  <a:pt x="6664" y="7714"/>
                  <a:pt x="5940" y="6681"/>
                  <a:pt x="5940" y="5400"/>
                </a:cubicBezTo>
                <a:cubicBezTo>
                  <a:pt x="5940" y="4119"/>
                  <a:pt x="6664" y="3086"/>
                  <a:pt x="7560" y="3086"/>
                </a:cubicBezTo>
                <a:close/>
                <a:moveTo>
                  <a:pt x="15163" y="13593"/>
                </a:moveTo>
                <a:cubicBezTo>
                  <a:pt x="16416" y="14889"/>
                  <a:pt x="17280" y="16617"/>
                  <a:pt x="17280" y="18900"/>
                </a:cubicBezTo>
                <a:lnTo>
                  <a:pt x="17280" y="21600"/>
                </a:lnTo>
                <a:lnTo>
                  <a:pt x="21600" y="21600"/>
                </a:lnTo>
                <a:lnTo>
                  <a:pt x="21600" y="18900"/>
                </a:lnTo>
                <a:cubicBezTo>
                  <a:pt x="21600" y="15783"/>
                  <a:pt x="17820" y="14009"/>
                  <a:pt x="15163" y="13593"/>
                </a:cubicBezTo>
                <a:close/>
                <a:moveTo>
                  <a:pt x="14040" y="10800"/>
                </a:moveTo>
                <a:cubicBezTo>
                  <a:pt x="16124" y="10800"/>
                  <a:pt x="17820" y="8378"/>
                  <a:pt x="17820" y="5400"/>
                </a:cubicBezTo>
                <a:cubicBezTo>
                  <a:pt x="17820" y="2422"/>
                  <a:pt x="16124" y="0"/>
                  <a:pt x="14040" y="0"/>
                </a:cubicBezTo>
                <a:cubicBezTo>
                  <a:pt x="13457" y="0"/>
                  <a:pt x="12917" y="201"/>
                  <a:pt x="12420" y="540"/>
                </a:cubicBezTo>
                <a:cubicBezTo>
                  <a:pt x="13100" y="1913"/>
                  <a:pt x="13500" y="3595"/>
                  <a:pt x="13500" y="5400"/>
                </a:cubicBezTo>
                <a:cubicBezTo>
                  <a:pt x="13500" y="7205"/>
                  <a:pt x="13100" y="8887"/>
                  <a:pt x="12420" y="10260"/>
                </a:cubicBezTo>
                <a:cubicBezTo>
                  <a:pt x="12917" y="10599"/>
                  <a:pt x="13457" y="10800"/>
                  <a:pt x="14040" y="108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19" name="Google Shape;580;p65"/>
          <p:cNvSpPr txBox="1"/>
          <p:nvPr/>
        </p:nvSpPr>
        <p:spPr>
          <a:xfrm>
            <a:off x="6277624" y="1825467"/>
            <a:ext cx="1744500" cy="4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800"/>
              </a:spcBef>
              <a:buClr>
                <a:srgbClr val="295FEC"/>
              </a:buClr>
              <a:buFont typeface="Helvetica"/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Suivi de l’avancement des parcours</a:t>
            </a:r>
          </a:p>
        </p:txBody>
      </p:sp>
      <p:pic>
        <p:nvPicPr>
          <p:cNvPr id="920" name="losange bleu roi fvae@2x.pngGoogle Shape;581;p65" descr="losange bleu roi fvae@2x.pngGoogle Shape;581;p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15164" y="2311150"/>
            <a:ext cx="432201" cy="483724"/>
          </a:xfrm>
          <a:prstGeom prst="rect">
            <a:avLst/>
          </a:prstGeom>
          <a:ln w="12700">
            <a:miter lim="400000"/>
          </a:ln>
        </p:spPr>
      </p:pic>
      <p:sp>
        <p:nvSpPr>
          <p:cNvPr id="921" name="Google Shape;582;p65"/>
          <p:cNvSpPr/>
          <p:nvPr/>
        </p:nvSpPr>
        <p:spPr>
          <a:xfrm>
            <a:off x="1404326" y="2451413"/>
            <a:ext cx="263770" cy="2420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660" y="0"/>
                </a:moveTo>
                <a:cubicBezTo>
                  <a:pt x="13781" y="0"/>
                  <a:pt x="11977" y="953"/>
                  <a:pt x="10800" y="2460"/>
                </a:cubicBezTo>
                <a:cubicBezTo>
                  <a:pt x="9623" y="953"/>
                  <a:pt x="7819" y="0"/>
                  <a:pt x="5940" y="0"/>
                </a:cubicBezTo>
                <a:cubicBezTo>
                  <a:pt x="2614" y="0"/>
                  <a:pt x="0" y="2849"/>
                  <a:pt x="0" y="6474"/>
                </a:cubicBezTo>
                <a:cubicBezTo>
                  <a:pt x="0" y="10924"/>
                  <a:pt x="3672" y="14549"/>
                  <a:pt x="9234" y="20058"/>
                </a:cubicBezTo>
                <a:lnTo>
                  <a:pt x="10800" y="21600"/>
                </a:lnTo>
                <a:lnTo>
                  <a:pt x="12366" y="20046"/>
                </a:lnTo>
                <a:cubicBezTo>
                  <a:pt x="17928" y="14549"/>
                  <a:pt x="21600" y="10924"/>
                  <a:pt x="21600" y="6474"/>
                </a:cubicBezTo>
                <a:cubicBezTo>
                  <a:pt x="21600" y="2849"/>
                  <a:pt x="18986" y="0"/>
                  <a:pt x="15660" y="0"/>
                </a:cubicBezTo>
                <a:close/>
                <a:moveTo>
                  <a:pt x="10908" y="18304"/>
                </a:moveTo>
                <a:lnTo>
                  <a:pt x="10800" y="18422"/>
                </a:lnTo>
                <a:lnTo>
                  <a:pt x="10692" y="18304"/>
                </a:lnTo>
                <a:cubicBezTo>
                  <a:pt x="5551" y="13231"/>
                  <a:pt x="2160" y="9876"/>
                  <a:pt x="2160" y="6474"/>
                </a:cubicBezTo>
                <a:cubicBezTo>
                  <a:pt x="2160" y="4120"/>
                  <a:pt x="3780" y="2354"/>
                  <a:pt x="5940" y="2354"/>
                </a:cubicBezTo>
                <a:cubicBezTo>
                  <a:pt x="7603" y="2354"/>
                  <a:pt x="9223" y="3520"/>
                  <a:pt x="9796" y="5132"/>
                </a:cubicBezTo>
                <a:lnTo>
                  <a:pt x="11815" y="5132"/>
                </a:lnTo>
                <a:cubicBezTo>
                  <a:pt x="12377" y="3520"/>
                  <a:pt x="13997" y="2354"/>
                  <a:pt x="15660" y="2354"/>
                </a:cubicBezTo>
                <a:cubicBezTo>
                  <a:pt x="17820" y="2354"/>
                  <a:pt x="19440" y="4120"/>
                  <a:pt x="19440" y="6474"/>
                </a:cubicBezTo>
                <a:cubicBezTo>
                  <a:pt x="19440" y="9876"/>
                  <a:pt x="16049" y="13231"/>
                  <a:pt x="10908" y="1830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22" name="Google Shape;583;p65"/>
          <p:cNvSpPr txBox="1"/>
          <p:nvPr/>
        </p:nvSpPr>
        <p:spPr>
          <a:xfrm>
            <a:off x="3497099" y="1616392"/>
            <a:ext cx="1966001" cy="32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Inscription candidats </a:t>
            </a:r>
          </a:p>
        </p:txBody>
      </p:sp>
      <p:sp>
        <p:nvSpPr>
          <p:cNvPr id="923" name="Google Shape;584;p65"/>
          <p:cNvSpPr txBox="1"/>
          <p:nvPr/>
        </p:nvSpPr>
        <p:spPr>
          <a:xfrm>
            <a:off x="3462799" y="1823691"/>
            <a:ext cx="2244601" cy="4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800"/>
              </a:spcBef>
              <a:buClr>
                <a:srgbClr val="295FEC"/>
              </a:buClr>
              <a:buFont typeface="Helvetica"/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Paramétrage et envoi d’un lien d’inscription </a:t>
            </a:r>
          </a:p>
        </p:txBody>
      </p:sp>
      <p:grpSp>
        <p:nvGrpSpPr>
          <p:cNvPr id="926" name="Google Shape;585;p65"/>
          <p:cNvGrpSpPr/>
          <p:nvPr/>
        </p:nvGrpSpPr>
        <p:grpSpPr>
          <a:xfrm>
            <a:off x="534949" y="4194974"/>
            <a:ext cx="8100302" cy="483601"/>
            <a:chOff x="0" y="0"/>
            <a:chExt cx="8100300" cy="483599"/>
          </a:xfrm>
        </p:grpSpPr>
        <p:sp>
          <p:nvSpPr>
            <p:cNvPr id="924" name="Figure"/>
            <p:cNvSpPr/>
            <p:nvPr/>
          </p:nvSpPr>
          <p:spPr>
            <a:xfrm>
              <a:off x="-1" y="0"/>
              <a:ext cx="8100302" cy="483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0955" y="0"/>
                  </a:lnTo>
                  <a:lnTo>
                    <a:pt x="21600" y="10800"/>
                  </a:lnTo>
                  <a:lnTo>
                    <a:pt x="20955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8275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925" name="Tableau de bord de suivi de toutes les étapes à disposition du porteur de projet"/>
            <p:cNvSpPr txBox="1"/>
            <p:nvPr/>
          </p:nvSpPr>
          <p:spPr>
            <a:xfrm>
              <a:off x="0" y="48775"/>
              <a:ext cx="7979400" cy="386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b="1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Tableau de bord de suivi de toutes les étapes à disposition du porteur de projet</a:t>
              </a:r>
            </a:p>
          </p:txBody>
        </p:sp>
      </p:grpSp>
      <p:pic>
        <p:nvPicPr>
          <p:cNvPr id="927" name="losange bleu roi fvae@2x.pngGoogle Shape;586;p65" descr="losange bleu roi fvae@2x.pngGoogle Shape;586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47839" y="2325763"/>
            <a:ext cx="432201" cy="483724"/>
          </a:xfrm>
          <a:prstGeom prst="rect">
            <a:avLst/>
          </a:prstGeom>
          <a:ln w="12700">
            <a:miter lim="400000"/>
          </a:ln>
        </p:spPr>
      </p:pic>
      <p:sp>
        <p:nvSpPr>
          <p:cNvPr id="928" name="Google Shape;587;p65"/>
          <p:cNvSpPr txBox="1"/>
          <p:nvPr/>
        </p:nvSpPr>
        <p:spPr>
          <a:xfrm>
            <a:off x="2238874" y="2929075"/>
            <a:ext cx="1966001" cy="32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Sélection du prestataire </a:t>
            </a:r>
          </a:p>
        </p:txBody>
      </p:sp>
      <p:sp>
        <p:nvSpPr>
          <p:cNvPr id="929" name="Google Shape;588;p65"/>
          <p:cNvSpPr txBox="1"/>
          <p:nvPr>
            <p:ph type="body" idx="23"/>
          </p:nvPr>
        </p:nvSpPr>
        <p:spPr>
          <a:xfrm>
            <a:off x="2214719" y="3147679"/>
            <a:ext cx="1921801" cy="4287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115000"/>
              </a:lnSpc>
              <a:buClr>
                <a:srgbClr val="295FEC"/>
              </a:buClr>
              <a:buFont typeface="Helvetica"/>
              <a:defRPr sz="1000"/>
            </a:lvl1pPr>
          </a:lstStyle>
          <a:p>
            <a:pPr/>
            <a:r>
              <a:t>Depuis la liste des AAP référencés chez FVAE</a:t>
            </a:r>
          </a:p>
        </p:txBody>
      </p:sp>
      <p:sp>
        <p:nvSpPr>
          <p:cNvPr id="930" name="Google Shape;589;p65"/>
          <p:cNvSpPr txBox="1"/>
          <p:nvPr/>
        </p:nvSpPr>
        <p:spPr>
          <a:xfrm>
            <a:off x="571613" y="6248"/>
            <a:ext cx="8431752" cy="30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LES ÉTAPES-CLÉS D’UNE VAE COLLECTIVE</a:t>
            </a:r>
          </a:p>
        </p:txBody>
      </p:sp>
      <p:sp>
        <p:nvSpPr>
          <p:cNvPr id="931" name="Google Shape;590;p65"/>
          <p:cNvSpPr/>
          <p:nvPr/>
        </p:nvSpPr>
        <p:spPr>
          <a:xfrm>
            <a:off x="2545661" y="2424835"/>
            <a:ext cx="254802" cy="254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72" y="3166"/>
                </a:moveTo>
                <a:lnTo>
                  <a:pt x="18436" y="6331"/>
                </a:lnTo>
                <a:lnTo>
                  <a:pt x="15272" y="9497"/>
                </a:lnTo>
                <a:lnTo>
                  <a:pt x="12108" y="6331"/>
                </a:lnTo>
                <a:lnTo>
                  <a:pt x="15272" y="3166"/>
                </a:lnTo>
                <a:moveTo>
                  <a:pt x="6708" y="3703"/>
                </a:moveTo>
                <a:lnTo>
                  <a:pt x="6708" y="8177"/>
                </a:lnTo>
                <a:lnTo>
                  <a:pt x="2236" y="8177"/>
                </a:lnTo>
                <a:lnTo>
                  <a:pt x="2236" y="3703"/>
                </a:lnTo>
                <a:lnTo>
                  <a:pt x="6708" y="3703"/>
                </a:lnTo>
                <a:moveTo>
                  <a:pt x="17888" y="14888"/>
                </a:moveTo>
                <a:lnTo>
                  <a:pt x="17888" y="19363"/>
                </a:lnTo>
                <a:lnTo>
                  <a:pt x="13416" y="19363"/>
                </a:lnTo>
                <a:lnTo>
                  <a:pt x="13416" y="14888"/>
                </a:lnTo>
                <a:lnTo>
                  <a:pt x="17888" y="14888"/>
                </a:lnTo>
                <a:moveTo>
                  <a:pt x="6708" y="14888"/>
                </a:moveTo>
                <a:lnTo>
                  <a:pt x="6708" y="19363"/>
                </a:lnTo>
                <a:lnTo>
                  <a:pt x="2236" y="19363"/>
                </a:lnTo>
                <a:lnTo>
                  <a:pt x="2236" y="14888"/>
                </a:lnTo>
                <a:lnTo>
                  <a:pt x="6708" y="14888"/>
                </a:lnTo>
                <a:moveTo>
                  <a:pt x="15272" y="0"/>
                </a:moveTo>
                <a:lnTo>
                  <a:pt x="8944" y="6320"/>
                </a:lnTo>
                <a:lnTo>
                  <a:pt x="15272" y="12651"/>
                </a:lnTo>
                <a:lnTo>
                  <a:pt x="21600" y="6320"/>
                </a:lnTo>
                <a:lnTo>
                  <a:pt x="15272" y="0"/>
                </a:lnTo>
                <a:close/>
                <a:moveTo>
                  <a:pt x="8944" y="1465"/>
                </a:moveTo>
                <a:lnTo>
                  <a:pt x="0" y="1465"/>
                </a:lnTo>
                <a:lnTo>
                  <a:pt x="0" y="10414"/>
                </a:lnTo>
                <a:lnTo>
                  <a:pt x="8944" y="10414"/>
                </a:lnTo>
                <a:lnTo>
                  <a:pt x="8944" y="1465"/>
                </a:lnTo>
                <a:close/>
                <a:moveTo>
                  <a:pt x="20124" y="12651"/>
                </a:moveTo>
                <a:lnTo>
                  <a:pt x="11180" y="12651"/>
                </a:lnTo>
                <a:lnTo>
                  <a:pt x="11180" y="21600"/>
                </a:lnTo>
                <a:lnTo>
                  <a:pt x="20124" y="21600"/>
                </a:lnTo>
                <a:lnTo>
                  <a:pt x="20124" y="12651"/>
                </a:lnTo>
                <a:close/>
                <a:moveTo>
                  <a:pt x="8944" y="12651"/>
                </a:moveTo>
                <a:lnTo>
                  <a:pt x="0" y="12651"/>
                </a:lnTo>
                <a:lnTo>
                  <a:pt x="0" y="21600"/>
                </a:lnTo>
                <a:lnTo>
                  <a:pt x="8944" y="21600"/>
                </a:lnTo>
                <a:lnTo>
                  <a:pt x="8944" y="126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32" name="Google Shape;591;p65"/>
          <p:cNvSpPr/>
          <p:nvPr/>
        </p:nvSpPr>
        <p:spPr>
          <a:xfrm>
            <a:off x="796522" y="4296647"/>
            <a:ext cx="290147" cy="290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6873"/>
                </a:moveTo>
                <a:cubicBezTo>
                  <a:pt x="8630" y="6873"/>
                  <a:pt x="6873" y="8630"/>
                  <a:pt x="6873" y="10800"/>
                </a:cubicBezTo>
                <a:cubicBezTo>
                  <a:pt x="6873" y="12970"/>
                  <a:pt x="8630" y="14727"/>
                  <a:pt x="10800" y="14727"/>
                </a:cubicBezTo>
                <a:cubicBezTo>
                  <a:pt x="12970" y="14727"/>
                  <a:pt x="14727" y="12970"/>
                  <a:pt x="14727" y="10800"/>
                </a:cubicBezTo>
                <a:cubicBezTo>
                  <a:pt x="14727" y="8630"/>
                  <a:pt x="12970" y="6873"/>
                  <a:pt x="10800" y="6873"/>
                </a:cubicBezTo>
                <a:close/>
                <a:moveTo>
                  <a:pt x="19577" y="9818"/>
                </a:moveTo>
                <a:cubicBezTo>
                  <a:pt x="19126" y="5724"/>
                  <a:pt x="15876" y="2474"/>
                  <a:pt x="11782" y="2023"/>
                </a:cubicBezTo>
                <a:lnTo>
                  <a:pt x="11782" y="0"/>
                </a:lnTo>
                <a:lnTo>
                  <a:pt x="9818" y="0"/>
                </a:lnTo>
                <a:lnTo>
                  <a:pt x="9818" y="2023"/>
                </a:lnTo>
                <a:cubicBezTo>
                  <a:pt x="5724" y="2474"/>
                  <a:pt x="2474" y="5724"/>
                  <a:pt x="2023" y="9818"/>
                </a:cubicBezTo>
                <a:lnTo>
                  <a:pt x="0" y="9818"/>
                </a:lnTo>
                <a:lnTo>
                  <a:pt x="0" y="11782"/>
                </a:lnTo>
                <a:lnTo>
                  <a:pt x="2023" y="11782"/>
                </a:lnTo>
                <a:cubicBezTo>
                  <a:pt x="2474" y="15876"/>
                  <a:pt x="5724" y="19126"/>
                  <a:pt x="9818" y="19577"/>
                </a:cubicBezTo>
                <a:lnTo>
                  <a:pt x="9818" y="21600"/>
                </a:lnTo>
                <a:lnTo>
                  <a:pt x="11782" y="21600"/>
                </a:lnTo>
                <a:lnTo>
                  <a:pt x="11782" y="19577"/>
                </a:lnTo>
                <a:cubicBezTo>
                  <a:pt x="15876" y="19126"/>
                  <a:pt x="19126" y="15876"/>
                  <a:pt x="19577" y="11782"/>
                </a:cubicBezTo>
                <a:lnTo>
                  <a:pt x="21600" y="11782"/>
                </a:lnTo>
                <a:lnTo>
                  <a:pt x="21600" y="9818"/>
                </a:lnTo>
                <a:lnTo>
                  <a:pt x="19577" y="9818"/>
                </a:lnTo>
                <a:close/>
                <a:moveTo>
                  <a:pt x="10800" y="17673"/>
                </a:moveTo>
                <a:cubicBezTo>
                  <a:pt x="7000" y="17673"/>
                  <a:pt x="3927" y="14600"/>
                  <a:pt x="3927" y="10800"/>
                </a:cubicBezTo>
                <a:cubicBezTo>
                  <a:pt x="3927" y="7000"/>
                  <a:pt x="7000" y="3927"/>
                  <a:pt x="10800" y="3927"/>
                </a:cubicBezTo>
                <a:cubicBezTo>
                  <a:pt x="14600" y="3927"/>
                  <a:pt x="17673" y="7000"/>
                  <a:pt x="17673" y="10800"/>
                </a:cubicBezTo>
                <a:cubicBezTo>
                  <a:pt x="17673" y="14600"/>
                  <a:pt x="14600" y="17673"/>
                  <a:pt x="10800" y="176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33" name="Google Shape;592;p65"/>
          <p:cNvSpPr/>
          <p:nvPr/>
        </p:nvSpPr>
        <p:spPr>
          <a:xfrm>
            <a:off x="8036161" y="2424842"/>
            <a:ext cx="211017" cy="263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900" y="0"/>
                </a:moveTo>
                <a:lnTo>
                  <a:pt x="2700" y="0"/>
                </a:lnTo>
                <a:cubicBezTo>
                  <a:pt x="1215" y="0"/>
                  <a:pt x="0" y="972"/>
                  <a:pt x="0" y="2160"/>
                </a:cubicBezTo>
                <a:lnTo>
                  <a:pt x="0" y="19440"/>
                </a:lnTo>
                <a:cubicBezTo>
                  <a:pt x="0" y="20628"/>
                  <a:pt x="1215" y="21600"/>
                  <a:pt x="2700" y="21600"/>
                </a:cubicBezTo>
                <a:lnTo>
                  <a:pt x="18900" y="21600"/>
                </a:lnTo>
                <a:cubicBezTo>
                  <a:pt x="20385" y="21600"/>
                  <a:pt x="21600" y="20628"/>
                  <a:pt x="21600" y="19440"/>
                </a:cubicBezTo>
                <a:lnTo>
                  <a:pt x="21600" y="2160"/>
                </a:lnTo>
                <a:cubicBezTo>
                  <a:pt x="21600" y="972"/>
                  <a:pt x="20385" y="0"/>
                  <a:pt x="18900" y="0"/>
                </a:cubicBezTo>
                <a:close/>
                <a:moveTo>
                  <a:pt x="6750" y="2160"/>
                </a:moveTo>
                <a:lnTo>
                  <a:pt x="9450" y="2160"/>
                </a:lnTo>
                <a:lnTo>
                  <a:pt x="9450" y="7560"/>
                </a:lnTo>
                <a:lnTo>
                  <a:pt x="8100" y="6750"/>
                </a:lnTo>
                <a:lnTo>
                  <a:pt x="6750" y="7560"/>
                </a:lnTo>
                <a:lnTo>
                  <a:pt x="6750" y="2160"/>
                </a:lnTo>
                <a:close/>
                <a:moveTo>
                  <a:pt x="18900" y="19440"/>
                </a:moveTo>
                <a:lnTo>
                  <a:pt x="2700" y="19440"/>
                </a:lnTo>
                <a:lnTo>
                  <a:pt x="2700" y="2160"/>
                </a:lnTo>
                <a:lnTo>
                  <a:pt x="4050" y="2160"/>
                </a:lnTo>
                <a:lnTo>
                  <a:pt x="4050" y="11880"/>
                </a:lnTo>
                <a:lnTo>
                  <a:pt x="8100" y="9450"/>
                </a:lnTo>
                <a:lnTo>
                  <a:pt x="12150" y="11880"/>
                </a:lnTo>
                <a:lnTo>
                  <a:pt x="12150" y="2160"/>
                </a:lnTo>
                <a:lnTo>
                  <a:pt x="18900" y="2160"/>
                </a:lnTo>
                <a:lnTo>
                  <a:pt x="18900" y="194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pic>
        <p:nvPicPr>
          <p:cNvPr id="934" name="losange bleu roi fvae@2x.pngGoogle Shape;593;p65" descr="losange bleu roi fvae@2x.pngGoogle Shape;593;p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5979" y="891089"/>
            <a:ext cx="152401" cy="170569"/>
          </a:xfrm>
          <a:prstGeom prst="rect">
            <a:avLst/>
          </a:prstGeom>
          <a:ln w="12700">
            <a:miter lim="400000"/>
          </a:ln>
        </p:spPr>
      </p:pic>
      <p:sp>
        <p:nvSpPr>
          <p:cNvPr id="935" name="Google Shape;594;p65"/>
          <p:cNvSpPr txBox="1"/>
          <p:nvPr/>
        </p:nvSpPr>
        <p:spPr>
          <a:xfrm>
            <a:off x="852688" y="857724"/>
            <a:ext cx="1853201" cy="22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115000"/>
              </a:lnSpc>
              <a:spcBef>
                <a:spcPts val="800"/>
              </a:spcBef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Au sein de votre organisation</a:t>
            </a:r>
          </a:p>
        </p:txBody>
      </p:sp>
      <p:pic>
        <p:nvPicPr>
          <p:cNvPr id="936" name="losange bleu roi fvae@2x.pngGoogle Shape;595;p65" descr="losange bleu roi fvae@2x.pngGoogle Shape;595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0105" y="891089"/>
            <a:ext cx="152401" cy="170569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Google Shape;596;p65"/>
          <p:cNvSpPr txBox="1"/>
          <p:nvPr/>
        </p:nvSpPr>
        <p:spPr>
          <a:xfrm>
            <a:off x="2926813" y="857724"/>
            <a:ext cx="1853200" cy="22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115000"/>
              </a:lnSpc>
              <a:spcBef>
                <a:spcPts val="800"/>
              </a:spcBef>
              <a:defRPr sz="1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Dans le service France VAE</a:t>
            </a:r>
          </a:p>
        </p:txBody>
      </p:sp>
      <p:sp>
        <p:nvSpPr>
          <p:cNvPr id="938" name="Google Shape;597;p65"/>
          <p:cNvSpPr/>
          <p:nvPr/>
        </p:nvSpPr>
        <p:spPr>
          <a:xfrm>
            <a:off x="561449" y="814449"/>
            <a:ext cx="4082702" cy="316501"/>
          </a:xfrm>
          <a:prstGeom prst="roundRect">
            <a:avLst>
              <a:gd name="adj" fmla="val 16667"/>
            </a:avLst>
          </a:prstGeom>
          <a:ln>
            <a:solidFill>
              <a:srgbClr val="E8EBF5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43" name="Google Shape;602;p66"/>
          <p:cNvSpPr txBox="1"/>
          <p:nvPr>
            <p:ph type="title"/>
          </p:nvPr>
        </p:nvSpPr>
        <p:spPr>
          <a:xfrm>
            <a:off x="2863400" y="2125276"/>
            <a:ext cx="5273400" cy="1091401"/>
          </a:xfrm>
          <a:prstGeom prst="rect">
            <a:avLst/>
          </a:prstGeom>
        </p:spPr>
        <p:txBody>
          <a:bodyPr/>
          <a:lstStyle/>
          <a:p>
            <a:pPr/>
            <a:r>
              <a:t>Le service public</a:t>
            </a:r>
            <a:br/>
            <a:r>
              <a:t>France VAE</a:t>
            </a:r>
          </a:p>
        </p:txBody>
      </p:sp>
      <p:sp>
        <p:nvSpPr>
          <p:cNvPr id="944" name="Google Shape;603;p66"/>
          <p:cNvSpPr txBox="1"/>
          <p:nvPr>
            <p:ph type="body" sz="quarter" idx="1"/>
          </p:nvPr>
        </p:nvSpPr>
        <p:spPr>
          <a:xfrm>
            <a:off x="2880807" y="1834356"/>
            <a:ext cx="4804202" cy="273901"/>
          </a:xfrm>
          <a:prstGeom prst="rect">
            <a:avLst/>
          </a:prstGeom>
        </p:spPr>
        <p:txBody>
          <a:bodyPr/>
          <a:lstStyle>
            <a:lvl1pPr marL="0" indent="0"/>
          </a:lstStyle>
          <a:p>
            <a:pPr/>
            <a:r>
              <a:t>Une offre adaptée à votre projet collectif</a:t>
            </a:r>
          </a:p>
        </p:txBody>
      </p:sp>
      <p:sp>
        <p:nvSpPr>
          <p:cNvPr id="945" name="Google Shape;604;p66"/>
          <p:cNvSpPr txBox="1"/>
          <p:nvPr/>
        </p:nvSpPr>
        <p:spPr>
          <a:xfrm>
            <a:off x="593299" y="1924024"/>
            <a:ext cx="1167702" cy="138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 algn="ctr">
              <a:defRPr sz="220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50" name="Google Shape;609;p67"/>
          <p:cNvSpPr/>
          <p:nvPr/>
        </p:nvSpPr>
        <p:spPr>
          <a:xfrm>
            <a:off x="3041999" y="1171274"/>
            <a:ext cx="3060001" cy="3060002"/>
          </a:xfrm>
          <a:prstGeom prst="ellipse">
            <a:avLst/>
          </a:prstGeom>
          <a:solidFill>
            <a:srgbClr val="E8EBF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951" name="Google Shape;610;p67"/>
          <p:cNvSpPr/>
          <p:nvPr/>
        </p:nvSpPr>
        <p:spPr>
          <a:xfrm>
            <a:off x="2892300" y="1021575"/>
            <a:ext cx="3359400" cy="3359401"/>
          </a:xfrm>
          <a:prstGeom prst="ellipse">
            <a:avLst/>
          </a:prstGeom>
          <a:ln w="38100">
            <a:solidFill>
              <a:schemeClr val="accent6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952" name="Google Shape;611;p67"/>
          <p:cNvSpPr txBox="1"/>
          <p:nvPr>
            <p:ph type="body" sz="quarter" idx="1"/>
          </p:nvPr>
        </p:nvSpPr>
        <p:spPr>
          <a:xfrm>
            <a:off x="502540" y="352997"/>
            <a:ext cx="8569502" cy="326101"/>
          </a:xfrm>
          <a:prstGeom prst="rect">
            <a:avLst/>
          </a:prstGeom>
        </p:spPr>
        <p:txBody>
          <a:bodyPr/>
          <a:lstStyle>
            <a:lvl1pPr marL="0" defTabSz="694944">
              <a:lnSpc>
                <a:spcPct val="100000"/>
              </a:lnSpc>
              <a:spcBef>
                <a:spcPts val="600"/>
              </a:spcBef>
              <a:defRPr b="1" sz="1748"/>
            </a:lvl1pPr>
          </a:lstStyle>
          <a:p>
            <a:pPr/>
            <a:r>
              <a:t>France VAE, 3 piliers qui simplifient vos projets collectifs </a:t>
            </a:r>
          </a:p>
        </p:txBody>
      </p:sp>
      <p:sp>
        <p:nvSpPr>
          <p:cNvPr id="953" name="Google Shape;612;p67"/>
          <p:cNvSpPr txBox="1"/>
          <p:nvPr/>
        </p:nvSpPr>
        <p:spPr>
          <a:xfrm>
            <a:off x="452150" y="2327599"/>
            <a:ext cx="2091400" cy="26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r" defTabSz="685800">
              <a:lnSpc>
                <a:spcPct val="72000"/>
              </a:lnSpc>
              <a:spcBef>
                <a:spcPts val="600"/>
              </a:spcBef>
              <a:defRPr sz="135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Accompagnement</a:t>
            </a:r>
          </a:p>
        </p:txBody>
      </p:sp>
      <p:sp>
        <p:nvSpPr>
          <p:cNvPr id="954" name="Google Shape;613;p67"/>
          <p:cNvSpPr txBox="1"/>
          <p:nvPr/>
        </p:nvSpPr>
        <p:spPr>
          <a:xfrm>
            <a:off x="343549" y="2559274"/>
            <a:ext cx="2200002" cy="112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r">
              <a:lnSpc>
                <a:spcPct val="115000"/>
              </a:lnSpc>
              <a:spcBef>
                <a:spcPts val="800"/>
              </a:spcBef>
              <a:defRPr sz="1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Mise à disposition une liste d’AAP référencés pour accompagner vos salariés.</a:t>
            </a:r>
          </a:p>
        </p:txBody>
      </p:sp>
      <p:sp>
        <p:nvSpPr>
          <p:cNvPr id="955" name="Google Shape;614;p67"/>
          <p:cNvSpPr txBox="1"/>
          <p:nvPr/>
        </p:nvSpPr>
        <p:spPr>
          <a:xfrm>
            <a:off x="6129414" y="1162875"/>
            <a:ext cx="2091400" cy="26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685800">
              <a:lnSpc>
                <a:spcPct val="72000"/>
              </a:lnSpc>
              <a:spcBef>
                <a:spcPts val="600"/>
              </a:spcBef>
              <a:defRPr sz="135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Espace dédié </a:t>
            </a:r>
          </a:p>
        </p:txBody>
      </p:sp>
      <p:sp>
        <p:nvSpPr>
          <p:cNvPr id="956" name="Google Shape;615;p67"/>
          <p:cNvSpPr txBox="1"/>
          <p:nvPr/>
        </p:nvSpPr>
        <p:spPr>
          <a:xfrm>
            <a:off x="6129424" y="1394549"/>
            <a:ext cx="2571701" cy="8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defRPr sz="1200">
                <a:latin typeface="Roboto"/>
                <a:ea typeface="Roboto"/>
                <a:cs typeface="Roboto"/>
                <a:sym typeface="Roboto"/>
              </a:defRPr>
            </a:pPr>
            <a:r>
              <a:t>Accès à un outil de pilotage</a:t>
            </a:r>
            <a:br/>
            <a:r>
              <a:t>de vos projets et suivi des cohortes</a:t>
            </a:r>
          </a:p>
        </p:txBody>
      </p:sp>
      <p:sp>
        <p:nvSpPr>
          <p:cNvPr id="957" name="Google Shape;616;p67"/>
          <p:cNvSpPr txBox="1"/>
          <p:nvPr/>
        </p:nvSpPr>
        <p:spPr>
          <a:xfrm>
            <a:off x="6163429" y="3549925"/>
            <a:ext cx="2091400" cy="26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685800">
              <a:lnSpc>
                <a:spcPct val="72000"/>
              </a:lnSpc>
              <a:spcBef>
                <a:spcPts val="600"/>
              </a:spcBef>
              <a:defRPr sz="135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Fluidité</a:t>
            </a:r>
          </a:p>
        </p:txBody>
      </p:sp>
      <p:sp>
        <p:nvSpPr>
          <p:cNvPr id="958" name="Google Shape;617;p67"/>
          <p:cNvSpPr txBox="1"/>
          <p:nvPr/>
        </p:nvSpPr>
        <p:spPr>
          <a:xfrm>
            <a:off x="6163425" y="3781600"/>
            <a:ext cx="2602901" cy="8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defTabSz="877823">
              <a:lnSpc>
                <a:spcPct val="115000"/>
              </a:lnSpc>
              <a:spcBef>
                <a:spcPts val="700"/>
              </a:spcBef>
              <a:defRPr sz="1152">
                <a:latin typeface="Roboto"/>
                <a:ea typeface="Roboto"/>
                <a:cs typeface="Roboto"/>
                <a:sym typeface="Roboto"/>
              </a:defRPr>
            </a:pPr>
            <a:r>
              <a:t>Des échanges centralisés </a:t>
            </a:r>
            <a:br/>
            <a:r>
              <a:t>et simplifiés au sein d’une plateforme unique (AAP, certificateurs, candidats).</a:t>
            </a:r>
          </a:p>
        </p:txBody>
      </p:sp>
      <p:pic>
        <p:nvPicPr>
          <p:cNvPr id="959" name="losange bleu roi fvae@2x.pngGoogle Shape;618;p67" descr="losange bleu roi fvae@2x.pngGoogle Shape;618;p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49199" y="2342838"/>
            <a:ext cx="504001" cy="564480"/>
          </a:xfrm>
          <a:prstGeom prst="rect">
            <a:avLst/>
          </a:prstGeom>
          <a:ln w="12700">
            <a:miter lim="400000"/>
          </a:ln>
        </p:spPr>
      </p:pic>
      <p:sp>
        <p:nvSpPr>
          <p:cNvPr id="960" name="Google Shape;619;p67"/>
          <p:cNvSpPr/>
          <p:nvPr/>
        </p:nvSpPr>
        <p:spPr>
          <a:xfrm>
            <a:off x="2774261" y="2498139"/>
            <a:ext cx="254802" cy="254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72" y="3166"/>
                </a:moveTo>
                <a:lnTo>
                  <a:pt x="18436" y="6331"/>
                </a:lnTo>
                <a:lnTo>
                  <a:pt x="15272" y="9497"/>
                </a:lnTo>
                <a:lnTo>
                  <a:pt x="12108" y="6331"/>
                </a:lnTo>
                <a:lnTo>
                  <a:pt x="15272" y="3166"/>
                </a:lnTo>
                <a:moveTo>
                  <a:pt x="6708" y="3703"/>
                </a:moveTo>
                <a:lnTo>
                  <a:pt x="6708" y="8177"/>
                </a:lnTo>
                <a:lnTo>
                  <a:pt x="2236" y="8177"/>
                </a:lnTo>
                <a:lnTo>
                  <a:pt x="2236" y="3703"/>
                </a:lnTo>
                <a:lnTo>
                  <a:pt x="6708" y="3703"/>
                </a:lnTo>
                <a:moveTo>
                  <a:pt x="17888" y="14888"/>
                </a:moveTo>
                <a:lnTo>
                  <a:pt x="17888" y="19363"/>
                </a:lnTo>
                <a:lnTo>
                  <a:pt x="13416" y="19363"/>
                </a:lnTo>
                <a:lnTo>
                  <a:pt x="13416" y="14888"/>
                </a:lnTo>
                <a:lnTo>
                  <a:pt x="17888" y="14888"/>
                </a:lnTo>
                <a:moveTo>
                  <a:pt x="6708" y="14888"/>
                </a:moveTo>
                <a:lnTo>
                  <a:pt x="6708" y="19363"/>
                </a:lnTo>
                <a:lnTo>
                  <a:pt x="2236" y="19363"/>
                </a:lnTo>
                <a:lnTo>
                  <a:pt x="2236" y="14888"/>
                </a:lnTo>
                <a:lnTo>
                  <a:pt x="6708" y="14888"/>
                </a:lnTo>
                <a:moveTo>
                  <a:pt x="15272" y="0"/>
                </a:moveTo>
                <a:lnTo>
                  <a:pt x="8944" y="6320"/>
                </a:lnTo>
                <a:lnTo>
                  <a:pt x="15272" y="12651"/>
                </a:lnTo>
                <a:lnTo>
                  <a:pt x="21600" y="6320"/>
                </a:lnTo>
                <a:lnTo>
                  <a:pt x="15272" y="0"/>
                </a:lnTo>
                <a:close/>
                <a:moveTo>
                  <a:pt x="8944" y="1465"/>
                </a:moveTo>
                <a:lnTo>
                  <a:pt x="0" y="1465"/>
                </a:lnTo>
                <a:lnTo>
                  <a:pt x="0" y="10414"/>
                </a:lnTo>
                <a:lnTo>
                  <a:pt x="8944" y="10414"/>
                </a:lnTo>
                <a:lnTo>
                  <a:pt x="8944" y="1465"/>
                </a:lnTo>
                <a:close/>
                <a:moveTo>
                  <a:pt x="20124" y="12651"/>
                </a:moveTo>
                <a:lnTo>
                  <a:pt x="11180" y="12651"/>
                </a:lnTo>
                <a:lnTo>
                  <a:pt x="11180" y="21600"/>
                </a:lnTo>
                <a:lnTo>
                  <a:pt x="20124" y="21600"/>
                </a:lnTo>
                <a:lnTo>
                  <a:pt x="20124" y="12651"/>
                </a:lnTo>
                <a:close/>
                <a:moveTo>
                  <a:pt x="8944" y="12651"/>
                </a:moveTo>
                <a:lnTo>
                  <a:pt x="0" y="12651"/>
                </a:lnTo>
                <a:lnTo>
                  <a:pt x="0" y="21600"/>
                </a:lnTo>
                <a:lnTo>
                  <a:pt x="8944" y="21600"/>
                </a:lnTo>
                <a:lnTo>
                  <a:pt x="8944" y="126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pic>
        <p:nvPicPr>
          <p:cNvPr id="961" name="losange bleu roi fvae@2x.pngGoogle Shape;620;p67" descr="losange bleu roi fvae@2x.pngGoogle Shape;620;p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72724" y="1171188"/>
            <a:ext cx="504001" cy="564480"/>
          </a:xfrm>
          <a:prstGeom prst="rect">
            <a:avLst/>
          </a:prstGeom>
          <a:ln w="12700">
            <a:miter lim="400000"/>
          </a:ln>
        </p:spPr>
      </p:pic>
      <p:sp>
        <p:nvSpPr>
          <p:cNvPr id="962" name="Google Shape;621;p67"/>
          <p:cNvSpPr/>
          <p:nvPr/>
        </p:nvSpPr>
        <p:spPr>
          <a:xfrm>
            <a:off x="5584597" y="1313300"/>
            <a:ext cx="290147" cy="290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6873"/>
                </a:moveTo>
                <a:cubicBezTo>
                  <a:pt x="8630" y="6873"/>
                  <a:pt x="6873" y="8630"/>
                  <a:pt x="6873" y="10800"/>
                </a:cubicBezTo>
                <a:cubicBezTo>
                  <a:pt x="6873" y="12970"/>
                  <a:pt x="8630" y="14727"/>
                  <a:pt x="10800" y="14727"/>
                </a:cubicBezTo>
                <a:cubicBezTo>
                  <a:pt x="12970" y="14727"/>
                  <a:pt x="14727" y="12970"/>
                  <a:pt x="14727" y="10800"/>
                </a:cubicBezTo>
                <a:cubicBezTo>
                  <a:pt x="14727" y="8630"/>
                  <a:pt x="12970" y="6873"/>
                  <a:pt x="10800" y="6873"/>
                </a:cubicBezTo>
                <a:close/>
                <a:moveTo>
                  <a:pt x="19577" y="9818"/>
                </a:moveTo>
                <a:cubicBezTo>
                  <a:pt x="19126" y="5724"/>
                  <a:pt x="15876" y="2474"/>
                  <a:pt x="11782" y="2023"/>
                </a:cubicBezTo>
                <a:lnTo>
                  <a:pt x="11782" y="0"/>
                </a:lnTo>
                <a:lnTo>
                  <a:pt x="9818" y="0"/>
                </a:lnTo>
                <a:lnTo>
                  <a:pt x="9818" y="2023"/>
                </a:lnTo>
                <a:cubicBezTo>
                  <a:pt x="5724" y="2474"/>
                  <a:pt x="2474" y="5724"/>
                  <a:pt x="2023" y="9818"/>
                </a:cubicBezTo>
                <a:lnTo>
                  <a:pt x="0" y="9818"/>
                </a:lnTo>
                <a:lnTo>
                  <a:pt x="0" y="11782"/>
                </a:lnTo>
                <a:lnTo>
                  <a:pt x="2023" y="11782"/>
                </a:lnTo>
                <a:cubicBezTo>
                  <a:pt x="2474" y="15876"/>
                  <a:pt x="5724" y="19126"/>
                  <a:pt x="9818" y="19577"/>
                </a:cubicBezTo>
                <a:lnTo>
                  <a:pt x="9818" y="21600"/>
                </a:lnTo>
                <a:lnTo>
                  <a:pt x="11782" y="21600"/>
                </a:lnTo>
                <a:lnTo>
                  <a:pt x="11782" y="19577"/>
                </a:lnTo>
                <a:cubicBezTo>
                  <a:pt x="15876" y="19126"/>
                  <a:pt x="19126" y="15876"/>
                  <a:pt x="19577" y="11782"/>
                </a:cubicBezTo>
                <a:lnTo>
                  <a:pt x="21600" y="11782"/>
                </a:lnTo>
                <a:lnTo>
                  <a:pt x="21600" y="9818"/>
                </a:lnTo>
                <a:lnTo>
                  <a:pt x="19577" y="9818"/>
                </a:lnTo>
                <a:close/>
                <a:moveTo>
                  <a:pt x="10800" y="17673"/>
                </a:moveTo>
                <a:cubicBezTo>
                  <a:pt x="7000" y="17673"/>
                  <a:pt x="3927" y="14600"/>
                  <a:pt x="3927" y="10800"/>
                </a:cubicBezTo>
                <a:cubicBezTo>
                  <a:pt x="3927" y="7000"/>
                  <a:pt x="7000" y="3927"/>
                  <a:pt x="10800" y="3927"/>
                </a:cubicBezTo>
                <a:cubicBezTo>
                  <a:pt x="14600" y="3927"/>
                  <a:pt x="17673" y="7000"/>
                  <a:pt x="17673" y="10800"/>
                </a:cubicBezTo>
                <a:cubicBezTo>
                  <a:pt x="17673" y="14600"/>
                  <a:pt x="14600" y="17673"/>
                  <a:pt x="10800" y="176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pic>
        <p:nvPicPr>
          <p:cNvPr id="963" name="losange bleu roi fvae@2x.pngGoogle Shape;622;p67" descr="losange bleu roi fvae@2x.pngGoogle Shape;622;p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72724" y="3575849"/>
            <a:ext cx="504001" cy="564481"/>
          </a:xfrm>
          <a:prstGeom prst="rect">
            <a:avLst/>
          </a:prstGeom>
          <a:ln w="12700">
            <a:miter lim="400000"/>
          </a:ln>
        </p:spPr>
      </p:pic>
      <p:sp>
        <p:nvSpPr>
          <p:cNvPr id="964" name="Google Shape;623;p67"/>
          <p:cNvSpPr/>
          <p:nvPr/>
        </p:nvSpPr>
        <p:spPr>
          <a:xfrm>
            <a:off x="5597786" y="3770716"/>
            <a:ext cx="263770" cy="184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560" y="13500"/>
                </a:moveTo>
                <a:cubicBezTo>
                  <a:pt x="5033" y="13500"/>
                  <a:pt x="0" y="15305"/>
                  <a:pt x="0" y="18900"/>
                </a:cubicBezTo>
                <a:lnTo>
                  <a:pt x="0" y="21600"/>
                </a:lnTo>
                <a:lnTo>
                  <a:pt x="15120" y="21600"/>
                </a:lnTo>
                <a:lnTo>
                  <a:pt x="15120" y="18900"/>
                </a:lnTo>
                <a:cubicBezTo>
                  <a:pt x="15120" y="15305"/>
                  <a:pt x="10087" y="13500"/>
                  <a:pt x="7560" y="13500"/>
                </a:cubicBezTo>
                <a:close/>
                <a:moveTo>
                  <a:pt x="2527" y="18514"/>
                </a:moveTo>
                <a:cubicBezTo>
                  <a:pt x="3434" y="17619"/>
                  <a:pt x="5627" y="16586"/>
                  <a:pt x="7560" y="16586"/>
                </a:cubicBezTo>
                <a:cubicBezTo>
                  <a:pt x="9493" y="16586"/>
                  <a:pt x="11686" y="17619"/>
                  <a:pt x="12593" y="18514"/>
                </a:cubicBezTo>
                <a:lnTo>
                  <a:pt x="2527" y="18514"/>
                </a:lnTo>
                <a:close/>
                <a:moveTo>
                  <a:pt x="7560" y="10800"/>
                </a:moveTo>
                <a:cubicBezTo>
                  <a:pt x="9644" y="10800"/>
                  <a:pt x="11340" y="8378"/>
                  <a:pt x="11340" y="5400"/>
                </a:cubicBezTo>
                <a:cubicBezTo>
                  <a:pt x="11340" y="2422"/>
                  <a:pt x="9644" y="0"/>
                  <a:pt x="7560" y="0"/>
                </a:cubicBezTo>
                <a:cubicBezTo>
                  <a:pt x="5476" y="0"/>
                  <a:pt x="3780" y="2422"/>
                  <a:pt x="3780" y="5400"/>
                </a:cubicBezTo>
                <a:cubicBezTo>
                  <a:pt x="3780" y="8378"/>
                  <a:pt x="5476" y="10800"/>
                  <a:pt x="7560" y="10800"/>
                </a:cubicBezTo>
                <a:close/>
                <a:moveTo>
                  <a:pt x="7560" y="3086"/>
                </a:moveTo>
                <a:cubicBezTo>
                  <a:pt x="8456" y="3086"/>
                  <a:pt x="9180" y="4119"/>
                  <a:pt x="9180" y="5400"/>
                </a:cubicBezTo>
                <a:cubicBezTo>
                  <a:pt x="9180" y="6681"/>
                  <a:pt x="8456" y="7714"/>
                  <a:pt x="7560" y="7714"/>
                </a:cubicBezTo>
                <a:cubicBezTo>
                  <a:pt x="6664" y="7714"/>
                  <a:pt x="5940" y="6681"/>
                  <a:pt x="5940" y="5400"/>
                </a:cubicBezTo>
                <a:cubicBezTo>
                  <a:pt x="5940" y="4119"/>
                  <a:pt x="6664" y="3086"/>
                  <a:pt x="7560" y="3086"/>
                </a:cubicBezTo>
                <a:close/>
                <a:moveTo>
                  <a:pt x="15163" y="13593"/>
                </a:moveTo>
                <a:cubicBezTo>
                  <a:pt x="16416" y="14889"/>
                  <a:pt x="17280" y="16617"/>
                  <a:pt x="17280" y="18900"/>
                </a:cubicBezTo>
                <a:lnTo>
                  <a:pt x="17280" y="21600"/>
                </a:lnTo>
                <a:lnTo>
                  <a:pt x="21600" y="21600"/>
                </a:lnTo>
                <a:lnTo>
                  <a:pt x="21600" y="18900"/>
                </a:lnTo>
                <a:cubicBezTo>
                  <a:pt x="21600" y="15783"/>
                  <a:pt x="17820" y="14009"/>
                  <a:pt x="15163" y="13593"/>
                </a:cubicBezTo>
                <a:close/>
                <a:moveTo>
                  <a:pt x="14040" y="10800"/>
                </a:moveTo>
                <a:cubicBezTo>
                  <a:pt x="16124" y="10800"/>
                  <a:pt x="17820" y="8378"/>
                  <a:pt x="17820" y="5400"/>
                </a:cubicBezTo>
                <a:cubicBezTo>
                  <a:pt x="17820" y="2422"/>
                  <a:pt x="16124" y="0"/>
                  <a:pt x="14040" y="0"/>
                </a:cubicBezTo>
                <a:cubicBezTo>
                  <a:pt x="13457" y="0"/>
                  <a:pt x="12917" y="201"/>
                  <a:pt x="12420" y="540"/>
                </a:cubicBezTo>
                <a:cubicBezTo>
                  <a:pt x="13100" y="1913"/>
                  <a:pt x="13500" y="3595"/>
                  <a:pt x="13500" y="5400"/>
                </a:cubicBezTo>
                <a:cubicBezTo>
                  <a:pt x="13500" y="7205"/>
                  <a:pt x="13100" y="8887"/>
                  <a:pt x="12420" y="10260"/>
                </a:cubicBezTo>
                <a:cubicBezTo>
                  <a:pt x="12917" y="10599"/>
                  <a:pt x="13457" y="10800"/>
                  <a:pt x="14040" y="108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65" name="Google Shape;624;p67"/>
          <p:cNvSpPr txBox="1"/>
          <p:nvPr/>
        </p:nvSpPr>
        <p:spPr>
          <a:xfrm>
            <a:off x="3526300" y="2417324"/>
            <a:ext cx="2091401" cy="56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algn="ctr" defTabSz="886968">
              <a:lnSpc>
                <a:spcPct val="90000"/>
              </a:lnSpc>
              <a:spcBef>
                <a:spcPts val="900"/>
              </a:spcBef>
              <a:defRPr sz="1746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France</a:t>
            </a:r>
            <a:br/>
            <a:r>
              <a:t>VAE</a:t>
            </a:r>
          </a:p>
        </p:txBody>
      </p:sp>
      <p:sp>
        <p:nvSpPr>
          <p:cNvPr id="966" name="Google Shape;625;p67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1" name="Google Shape;631;p68"/>
          <p:cNvSpPr txBox="1"/>
          <p:nvPr>
            <p:ph type="body" sz="quarter" idx="1"/>
          </p:nvPr>
        </p:nvSpPr>
        <p:spPr>
          <a:xfrm>
            <a:off x="5749849" y="2440500"/>
            <a:ext cx="2160001" cy="9312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buSzTx/>
              <a:buNone/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L’AAP </a:t>
            </a:r>
            <a:r>
              <a:rPr b="1"/>
              <a:t>co-construit avec le candidat un parcours</a:t>
            </a:r>
            <a:r>
              <a:t> visant à maximiser ses chances de réussite et l’accompagne dans la mobilisation du financement de son parcours </a:t>
            </a:r>
          </a:p>
        </p:txBody>
      </p:sp>
      <p:sp>
        <p:nvSpPr>
          <p:cNvPr id="972" name="Google Shape;632;p68"/>
          <p:cNvSpPr txBox="1"/>
          <p:nvPr>
            <p:ph type="title"/>
          </p:nvPr>
        </p:nvSpPr>
        <p:spPr>
          <a:xfrm>
            <a:off x="503050" y="884699"/>
            <a:ext cx="8270400" cy="4281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2060"/>
                </a:solidFill>
              </a:defRPr>
            </a:lvl1pPr>
          </a:lstStyle>
          <a:p>
            <a:pPr/>
            <a:r>
              <a:t>Mise à disposition d’une liste d’AAP référencés </a:t>
            </a:r>
          </a:p>
        </p:txBody>
      </p:sp>
      <p:sp>
        <p:nvSpPr>
          <p:cNvPr id="973" name="Google Shape;633;p68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  <p:pic>
        <p:nvPicPr>
          <p:cNvPr id="974" name="losange bleu roi fvae@2x.pngGoogle Shape;634;p68" descr="losange bleu roi fvae@2x.pngGoogle Shape;634;p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5075" y="376907"/>
            <a:ext cx="290153" cy="324945"/>
          </a:xfrm>
          <a:prstGeom prst="rect">
            <a:avLst/>
          </a:prstGeom>
          <a:ln w="12700">
            <a:miter lim="400000"/>
          </a:ln>
        </p:spPr>
      </p:pic>
      <p:sp>
        <p:nvSpPr>
          <p:cNvPr id="975" name="Google Shape;635;p68"/>
          <p:cNvSpPr txBox="1"/>
          <p:nvPr/>
        </p:nvSpPr>
        <p:spPr>
          <a:xfrm>
            <a:off x="969532" y="362824"/>
            <a:ext cx="3451300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Accompagnement</a:t>
            </a:r>
          </a:p>
        </p:txBody>
      </p:sp>
      <p:sp>
        <p:nvSpPr>
          <p:cNvPr id="976" name="Google Shape;636;p68"/>
          <p:cNvSpPr/>
          <p:nvPr/>
        </p:nvSpPr>
        <p:spPr>
          <a:xfrm>
            <a:off x="641449" y="460678"/>
            <a:ext cx="157977" cy="157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72" y="3166"/>
                </a:moveTo>
                <a:lnTo>
                  <a:pt x="18436" y="6331"/>
                </a:lnTo>
                <a:lnTo>
                  <a:pt x="15272" y="9497"/>
                </a:lnTo>
                <a:lnTo>
                  <a:pt x="12108" y="6331"/>
                </a:lnTo>
                <a:lnTo>
                  <a:pt x="15272" y="3166"/>
                </a:lnTo>
                <a:moveTo>
                  <a:pt x="6708" y="3703"/>
                </a:moveTo>
                <a:lnTo>
                  <a:pt x="6708" y="8177"/>
                </a:lnTo>
                <a:lnTo>
                  <a:pt x="2236" y="8177"/>
                </a:lnTo>
                <a:lnTo>
                  <a:pt x="2236" y="3703"/>
                </a:lnTo>
                <a:lnTo>
                  <a:pt x="6708" y="3703"/>
                </a:lnTo>
                <a:moveTo>
                  <a:pt x="17888" y="14888"/>
                </a:moveTo>
                <a:lnTo>
                  <a:pt x="17888" y="19363"/>
                </a:lnTo>
                <a:lnTo>
                  <a:pt x="13416" y="19363"/>
                </a:lnTo>
                <a:lnTo>
                  <a:pt x="13416" y="14888"/>
                </a:lnTo>
                <a:lnTo>
                  <a:pt x="17888" y="14888"/>
                </a:lnTo>
                <a:moveTo>
                  <a:pt x="6708" y="14888"/>
                </a:moveTo>
                <a:lnTo>
                  <a:pt x="6708" y="19363"/>
                </a:lnTo>
                <a:lnTo>
                  <a:pt x="2236" y="19363"/>
                </a:lnTo>
                <a:lnTo>
                  <a:pt x="2236" y="14888"/>
                </a:lnTo>
                <a:lnTo>
                  <a:pt x="6708" y="14888"/>
                </a:lnTo>
                <a:moveTo>
                  <a:pt x="15272" y="0"/>
                </a:moveTo>
                <a:lnTo>
                  <a:pt x="8944" y="6320"/>
                </a:lnTo>
                <a:lnTo>
                  <a:pt x="15272" y="12651"/>
                </a:lnTo>
                <a:lnTo>
                  <a:pt x="21600" y="6320"/>
                </a:lnTo>
                <a:lnTo>
                  <a:pt x="15272" y="0"/>
                </a:lnTo>
                <a:close/>
                <a:moveTo>
                  <a:pt x="8944" y="1465"/>
                </a:moveTo>
                <a:lnTo>
                  <a:pt x="0" y="1465"/>
                </a:lnTo>
                <a:lnTo>
                  <a:pt x="0" y="10414"/>
                </a:lnTo>
                <a:lnTo>
                  <a:pt x="8944" y="10414"/>
                </a:lnTo>
                <a:lnTo>
                  <a:pt x="8944" y="1465"/>
                </a:lnTo>
                <a:close/>
                <a:moveTo>
                  <a:pt x="20124" y="12651"/>
                </a:moveTo>
                <a:lnTo>
                  <a:pt x="11180" y="12651"/>
                </a:lnTo>
                <a:lnTo>
                  <a:pt x="11180" y="21600"/>
                </a:lnTo>
                <a:lnTo>
                  <a:pt x="20124" y="21600"/>
                </a:lnTo>
                <a:lnTo>
                  <a:pt x="20124" y="12651"/>
                </a:lnTo>
                <a:close/>
                <a:moveTo>
                  <a:pt x="8944" y="12651"/>
                </a:moveTo>
                <a:lnTo>
                  <a:pt x="0" y="12651"/>
                </a:lnTo>
                <a:lnTo>
                  <a:pt x="0" y="21600"/>
                </a:lnTo>
                <a:lnTo>
                  <a:pt x="8944" y="21600"/>
                </a:lnTo>
                <a:lnTo>
                  <a:pt x="8944" y="126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77" name="Google Shape;637;p68"/>
          <p:cNvSpPr txBox="1"/>
          <p:nvPr/>
        </p:nvSpPr>
        <p:spPr>
          <a:xfrm>
            <a:off x="3161849" y="1545424"/>
            <a:ext cx="5372802" cy="56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defTabSz="886968">
              <a:lnSpc>
                <a:spcPct val="90000"/>
              </a:lnSpc>
              <a:spcBef>
                <a:spcPts val="700"/>
              </a:spcBef>
              <a:defRPr sz="1746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Un accompagnement tout au long</a:t>
            </a:r>
            <a:br/>
            <a:r>
              <a:t>du parcours de VAE</a:t>
            </a:r>
          </a:p>
        </p:txBody>
      </p:sp>
      <p:sp>
        <p:nvSpPr>
          <p:cNvPr id="978" name="Google Shape;638;p68"/>
          <p:cNvSpPr txBox="1"/>
          <p:nvPr/>
        </p:nvSpPr>
        <p:spPr>
          <a:xfrm>
            <a:off x="3161850" y="2440500"/>
            <a:ext cx="2091400" cy="4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L’AAP </a:t>
            </a:r>
            <a:r>
              <a:rPr b="1"/>
              <a:t>conforte ou réoriente le candidat </a:t>
            </a:r>
            <a:r>
              <a:t>dès le premier RDV</a:t>
            </a:r>
          </a:p>
        </p:txBody>
      </p:sp>
      <p:pic>
        <p:nvPicPr>
          <p:cNvPr id="979" name="Google Shape;639;p68" descr="Google Shape;639;p6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5075" y="1545424"/>
            <a:ext cx="2164051" cy="2164052"/>
          </a:xfrm>
          <a:prstGeom prst="rect">
            <a:avLst/>
          </a:prstGeom>
          <a:ln w="12700">
            <a:miter lim="400000"/>
          </a:ln>
        </p:spPr>
      </p:pic>
      <p:sp>
        <p:nvSpPr>
          <p:cNvPr id="980" name="Google Shape;640;p68"/>
          <p:cNvSpPr txBox="1"/>
          <p:nvPr/>
        </p:nvSpPr>
        <p:spPr>
          <a:xfrm>
            <a:off x="3161850" y="3497724"/>
            <a:ext cx="2091400" cy="103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L’AAP </a:t>
            </a:r>
            <a:r>
              <a:rPr b="1"/>
              <a:t>réalise un diagnostic de faisabilité et prononce un avis</a:t>
            </a:r>
            <a:r>
              <a:t>, le certificateur restant souverain de sa décision.</a:t>
            </a:r>
          </a:p>
        </p:txBody>
      </p:sp>
      <p:sp>
        <p:nvSpPr>
          <p:cNvPr id="981" name="Google Shape;641;p68"/>
          <p:cNvSpPr txBox="1"/>
          <p:nvPr/>
        </p:nvSpPr>
        <p:spPr>
          <a:xfrm>
            <a:off x="5784149" y="3497724"/>
            <a:ext cx="2091401" cy="121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L’AAP </a:t>
            </a:r>
            <a:r>
              <a:rPr b="1"/>
              <a:t>réalise un accompagnement méthodologique </a:t>
            </a:r>
            <a:r>
              <a:t>à la rédaction du dossier de validation et préparation au jury, et si besoin, un entretien post-jury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86" name="Google Shape;647;p69"/>
          <p:cNvSpPr txBox="1"/>
          <p:nvPr>
            <p:ph type="body" sz="quarter" idx="1"/>
          </p:nvPr>
        </p:nvSpPr>
        <p:spPr>
          <a:xfrm>
            <a:off x="5749849" y="1985649"/>
            <a:ext cx="2160001" cy="4002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buSzTx/>
              <a:buNone/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L’ensemble des AAP sur France VAE est certifié </a:t>
            </a:r>
            <a:r>
              <a:rPr b="1"/>
              <a:t>Qualiopi VAE.</a:t>
            </a:r>
          </a:p>
        </p:txBody>
      </p:sp>
      <p:sp>
        <p:nvSpPr>
          <p:cNvPr id="987" name="Google Shape;648;p69"/>
          <p:cNvSpPr txBox="1"/>
          <p:nvPr/>
        </p:nvSpPr>
        <p:spPr>
          <a:xfrm>
            <a:off x="3161850" y="1985649"/>
            <a:ext cx="2091400" cy="166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defTabSz="896111">
              <a:lnSpc>
                <a:spcPct val="115000"/>
              </a:lnSpc>
              <a:defRPr sz="980">
                <a:latin typeface="Roboto"/>
                <a:ea typeface="Roboto"/>
                <a:cs typeface="Roboto"/>
                <a:sym typeface="Roboto"/>
              </a:defRPr>
            </a:pPr>
            <a:r>
              <a:t>L’AAP se référence sur la base des critères suivants : </a:t>
            </a:r>
          </a:p>
          <a:p>
            <a:pPr marL="336042" indent="-224027" defTabSz="896111">
              <a:lnSpc>
                <a:spcPct val="115000"/>
              </a:lnSpc>
              <a:spcBef>
                <a:spcPts val="700"/>
              </a:spcBef>
              <a:buClr>
                <a:srgbClr val="182759"/>
              </a:buClr>
              <a:buSzPts val="900"/>
              <a:buFont typeface="Helvetica"/>
              <a:buChar char="●"/>
              <a:defRPr sz="980">
                <a:latin typeface="Roboto"/>
                <a:ea typeface="Roboto"/>
                <a:cs typeface="Roboto"/>
                <a:sym typeface="Roboto"/>
              </a:defRPr>
            </a:pPr>
            <a:r>
              <a:t>par </a:t>
            </a:r>
            <a:r>
              <a:rPr b="1"/>
              <a:t>niveau de certification</a:t>
            </a:r>
            <a:r>
              <a:t> et sous domaines </a:t>
            </a:r>
            <a:r>
              <a:rPr b="1"/>
              <a:t>Formacode</a:t>
            </a:r>
            <a:r>
              <a:t>,</a:t>
            </a:r>
          </a:p>
          <a:p>
            <a:pPr marL="336042" indent="-224027" defTabSz="896111">
              <a:lnSpc>
                <a:spcPct val="115000"/>
              </a:lnSpc>
              <a:spcBef>
                <a:spcPts val="700"/>
              </a:spcBef>
              <a:buClr>
                <a:srgbClr val="182759"/>
              </a:buClr>
              <a:buSzPts val="900"/>
              <a:buFont typeface="Helvetica"/>
              <a:buChar char="●"/>
              <a:defRPr sz="980">
                <a:latin typeface="Roboto"/>
                <a:ea typeface="Roboto"/>
                <a:cs typeface="Roboto"/>
                <a:sym typeface="Roboto"/>
              </a:defRPr>
            </a:pPr>
            <a:r>
              <a:t>par </a:t>
            </a:r>
            <a:r>
              <a:rPr b="1"/>
              <a:t>modalités d’accompagnement</a:t>
            </a:r>
            <a:r>
              <a:t> (distanciel, présentiel) et de </a:t>
            </a:r>
            <a:r>
              <a:rPr b="1"/>
              <a:t>financement</a:t>
            </a:r>
            <a:r>
              <a:t> </a:t>
            </a:r>
          </a:p>
        </p:txBody>
      </p:sp>
      <p:sp>
        <p:nvSpPr>
          <p:cNvPr id="988" name="Google Shape;649;p69"/>
          <p:cNvSpPr txBox="1"/>
          <p:nvPr>
            <p:ph type="title"/>
          </p:nvPr>
        </p:nvSpPr>
        <p:spPr>
          <a:xfrm>
            <a:off x="503050" y="884699"/>
            <a:ext cx="8270400" cy="4281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2060"/>
                </a:solidFill>
              </a:defRPr>
            </a:lvl1pPr>
          </a:lstStyle>
          <a:p>
            <a:pPr/>
            <a:r>
              <a:t>Mise à disposition d’une liste d’AAP référencés </a:t>
            </a:r>
          </a:p>
        </p:txBody>
      </p:sp>
      <p:sp>
        <p:nvSpPr>
          <p:cNvPr id="989" name="Google Shape;650;p69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  <p:pic>
        <p:nvPicPr>
          <p:cNvPr id="990" name="losange bleu roi fvae@2x.pngGoogle Shape;651;p69" descr="losange bleu roi fvae@2x.pngGoogle Shape;651;p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5075" y="376907"/>
            <a:ext cx="290153" cy="324945"/>
          </a:xfrm>
          <a:prstGeom prst="rect">
            <a:avLst/>
          </a:prstGeom>
          <a:ln w="12700">
            <a:miter lim="400000"/>
          </a:ln>
        </p:spPr>
      </p:pic>
      <p:sp>
        <p:nvSpPr>
          <p:cNvPr id="991" name="Google Shape;652;p69"/>
          <p:cNvSpPr txBox="1"/>
          <p:nvPr/>
        </p:nvSpPr>
        <p:spPr>
          <a:xfrm>
            <a:off x="969532" y="362824"/>
            <a:ext cx="3451300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Accompagnement</a:t>
            </a:r>
          </a:p>
        </p:txBody>
      </p:sp>
      <p:sp>
        <p:nvSpPr>
          <p:cNvPr id="992" name="Google Shape;653;p69"/>
          <p:cNvSpPr/>
          <p:nvPr/>
        </p:nvSpPr>
        <p:spPr>
          <a:xfrm>
            <a:off x="641449" y="460678"/>
            <a:ext cx="157977" cy="157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72" y="3166"/>
                </a:moveTo>
                <a:lnTo>
                  <a:pt x="18436" y="6331"/>
                </a:lnTo>
                <a:lnTo>
                  <a:pt x="15272" y="9497"/>
                </a:lnTo>
                <a:lnTo>
                  <a:pt x="12108" y="6331"/>
                </a:lnTo>
                <a:lnTo>
                  <a:pt x="15272" y="3166"/>
                </a:lnTo>
                <a:moveTo>
                  <a:pt x="6708" y="3703"/>
                </a:moveTo>
                <a:lnTo>
                  <a:pt x="6708" y="8177"/>
                </a:lnTo>
                <a:lnTo>
                  <a:pt x="2236" y="8177"/>
                </a:lnTo>
                <a:lnTo>
                  <a:pt x="2236" y="3703"/>
                </a:lnTo>
                <a:lnTo>
                  <a:pt x="6708" y="3703"/>
                </a:lnTo>
                <a:moveTo>
                  <a:pt x="17888" y="14888"/>
                </a:moveTo>
                <a:lnTo>
                  <a:pt x="17888" y="19363"/>
                </a:lnTo>
                <a:lnTo>
                  <a:pt x="13416" y="19363"/>
                </a:lnTo>
                <a:lnTo>
                  <a:pt x="13416" y="14888"/>
                </a:lnTo>
                <a:lnTo>
                  <a:pt x="17888" y="14888"/>
                </a:lnTo>
                <a:moveTo>
                  <a:pt x="6708" y="14888"/>
                </a:moveTo>
                <a:lnTo>
                  <a:pt x="6708" y="19363"/>
                </a:lnTo>
                <a:lnTo>
                  <a:pt x="2236" y="19363"/>
                </a:lnTo>
                <a:lnTo>
                  <a:pt x="2236" y="14888"/>
                </a:lnTo>
                <a:lnTo>
                  <a:pt x="6708" y="14888"/>
                </a:lnTo>
                <a:moveTo>
                  <a:pt x="15272" y="0"/>
                </a:moveTo>
                <a:lnTo>
                  <a:pt x="8944" y="6320"/>
                </a:lnTo>
                <a:lnTo>
                  <a:pt x="15272" y="12651"/>
                </a:lnTo>
                <a:lnTo>
                  <a:pt x="21600" y="6320"/>
                </a:lnTo>
                <a:lnTo>
                  <a:pt x="15272" y="0"/>
                </a:lnTo>
                <a:close/>
                <a:moveTo>
                  <a:pt x="8944" y="1465"/>
                </a:moveTo>
                <a:lnTo>
                  <a:pt x="0" y="1465"/>
                </a:lnTo>
                <a:lnTo>
                  <a:pt x="0" y="10414"/>
                </a:lnTo>
                <a:lnTo>
                  <a:pt x="8944" y="10414"/>
                </a:lnTo>
                <a:lnTo>
                  <a:pt x="8944" y="1465"/>
                </a:lnTo>
                <a:close/>
                <a:moveTo>
                  <a:pt x="20124" y="12651"/>
                </a:moveTo>
                <a:lnTo>
                  <a:pt x="11180" y="12651"/>
                </a:lnTo>
                <a:lnTo>
                  <a:pt x="11180" y="21600"/>
                </a:lnTo>
                <a:lnTo>
                  <a:pt x="20124" y="21600"/>
                </a:lnTo>
                <a:lnTo>
                  <a:pt x="20124" y="12651"/>
                </a:lnTo>
                <a:close/>
                <a:moveTo>
                  <a:pt x="8944" y="12651"/>
                </a:moveTo>
                <a:lnTo>
                  <a:pt x="0" y="12651"/>
                </a:lnTo>
                <a:lnTo>
                  <a:pt x="0" y="21600"/>
                </a:lnTo>
                <a:lnTo>
                  <a:pt x="8944" y="21600"/>
                </a:lnTo>
                <a:lnTo>
                  <a:pt x="8944" y="126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993" name="Google Shape;654;p69"/>
          <p:cNvSpPr txBox="1"/>
          <p:nvPr/>
        </p:nvSpPr>
        <p:spPr>
          <a:xfrm>
            <a:off x="3161849" y="1545424"/>
            <a:ext cx="5372802" cy="31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86968">
              <a:lnSpc>
                <a:spcPct val="90000"/>
              </a:lnSpc>
              <a:spcBef>
                <a:spcPts val="700"/>
              </a:spcBef>
              <a:defRPr sz="1746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Un référencement de qualité</a:t>
            </a:r>
          </a:p>
        </p:txBody>
      </p:sp>
      <p:sp>
        <p:nvSpPr>
          <p:cNvPr id="994" name="Google Shape;655;p69"/>
          <p:cNvSpPr txBox="1"/>
          <p:nvPr/>
        </p:nvSpPr>
        <p:spPr>
          <a:xfrm>
            <a:off x="5784149" y="3079050"/>
            <a:ext cx="2091401" cy="159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defRPr sz="1000">
                <a:latin typeface="Roboto"/>
                <a:ea typeface="Roboto"/>
                <a:cs typeface="Roboto"/>
                <a:sym typeface="Roboto"/>
              </a:defRPr>
            </a:pPr>
            <a:r>
              <a:t>Ce référencement autorise la </a:t>
            </a:r>
            <a:r>
              <a:rPr b="1"/>
              <a:t>mobilisation des financements </a:t>
            </a:r>
            <a:r>
              <a:rPr i="1"/>
              <a:t>(décret en cours de rédaction et de publication).</a:t>
            </a:r>
          </a:p>
        </p:txBody>
      </p:sp>
      <p:pic>
        <p:nvPicPr>
          <p:cNvPr id="995" name="Google Shape;656;p69" descr="Google Shape;656;p6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5075" y="1545424"/>
            <a:ext cx="2160000" cy="2160001"/>
          </a:xfrm>
          <a:prstGeom prst="rect">
            <a:avLst/>
          </a:prstGeom>
          <a:ln w="12700">
            <a:miter lim="400000"/>
          </a:ln>
        </p:spPr>
      </p:pic>
      <p:sp>
        <p:nvSpPr>
          <p:cNvPr id="996" name="Google Shape;657;p69"/>
          <p:cNvSpPr txBox="1"/>
          <p:nvPr/>
        </p:nvSpPr>
        <p:spPr>
          <a:xfrm>
            <a:off x="5784149" y="2547763"/>
            <a:ext cx="2091401" cy="4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defRPr b="1" sz="1000">
                <a:latin typeface="Roboto"/>
                <a:ea typeface="Roboto"/>
                <a:cs typeface="Roboto"/>
                <a:sym typeface="Roboto"/>
              </a:defRPr>
            </a:pPr>
            <a:r>
              <a:t>Des contrôles et audits réguliers </a:t>
            </a:r>
            <a:r>
              <a:rPr b="0"/>
              <a:t>menés par l’équipe France VAE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05" name="Google Shape;663;p70"/>
          <p:cNvGrpSpPr/>
          <p:nvPr/>
        </p:nvGrpSpPr>
        <p:grpSpPr>
          <a:xfrm>
            <a:off x="6073461" y="2494383"/>
            <a:ext cx="2776147" cy="1717945"/>
            <a:chOff x="0" y="0"/>
            <a:chExt cx="2776146" cy="1717943"/>
          </a:xfrm>
        </p:grpSpPr>
        <p:grpSp>
          <p:nvGrpSpPr>
            <p:cNvPr id="1003" name="Google Shape;664;p70"/>
            <p:cNvGrpSpPr/>
            <p:nvPr/>
          </p:nvGrpSpPr>
          <p:grpSpPr>
            <a:xfrm>
              <a:off x="0" y="0"/>
              <a:ext cx="2776147" cy="1717944"/>
              <a:chOff x="0" y="0"/>
              <a:chExt cx="2776146" cy="1717943"/>
            </a:xfrm>
          </p:grpSpPr>
          <p:pic>
            <p:nvPicPr>
              <p:cNvPr id="1001" name="Google Shape;665;p70" descr="Google Shape;665;p70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2776147" cy="17179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02" name="Google Shape;666;p70"/>
              <p:cNvSpPr/>
              <p:nvPr/>
            </p:nvSpPr>
            <p:spPr>
              <a:xfrm>
                <a:off x="1241435" y="1569692"/>
                <a:ext cx="290615" cy="49341"/>
              </a:xfrm>
              <a:prstGeom prst="rect">
                <a:avLst/>
              </a:prstGeom>
              <a:solidFill>
                <a:srgbClr val="0E0E0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100">
                    <a:solidFill>
                      <a:srgbClr val="000000"/>
                    </a:solidFill>
                  </a:defRPr>
                </a:pPr>
              </a:p>
            </p:txBody>
          </p:sp>
        </p:grpSp>
        <p:pic>
          <p:nvPicPr>
            <p:cNvPr id="1004" name="Google Shape;667;p70" descr="Google Shape;667;p7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11801" b="0"/>
            <a:stretch>
              <a:fillRect/>
            </a:stretch>
          </p:blipFill>
          <p:spPr>
            <a:xfrm>
              <a:off x="323124" y="206853"/>
              <a:ext cx="2124658" cy="13542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008" name="Google Shape;668;p70"/>
          <p:cNvGrpSpPr/>
          <p:nvPr/>
        </p:nvGrpSpPr>
        <p:grpSpPr>
          <a:xfrm>
            <a:off x="6614179" y="2211826"/>
            <a:ext cx="1704601" cy="302251"/>
            <a:chOff x="0" y="0"/>
            <a:chExt cx="1704600" cy="302250"/>
          </a:xfrm>
        </p:grpSpPr>
        <p:sp>
          <p:nvSpPr>
            <p:cNvPr id="1006" name="Rectangle aux angles arrondis"/>
            <p:cNvSpPr/>
            <p:nvPr/>
          </p:nvSpPr>
          <p:spPr>
            <a:xfrm>
              <a:off x="0" y="52425"/>
              <a:ext cx="1704601" cy="197401"/>
            </a:xfrm>
            <a:prstGeom prst="roundRect">
              <a:avLst>
                <a:gd name="adj" fmla="val 16667"/>
              </a:avLst>
            </a:prstGeom>
            <a:solidFill>
              <a:srgbClr val="F7DC6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07" name="Espace AAP"/>
            <p:cNvSpPr txBox="1"/>
            <p:nvPr/>
          </p:nvSpPr>
          <p:spPr>
            <a:xfrm>
              <a:off x="9636" y="0"/>
              <a:ext cx="1685328" cy="302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100"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Espace AAP</a:t>
              </a:r>
            </a:p>
          </p:txBody>
        </p:sp>
      </p:grpSp>
      <p:grpSp>
        <p:nvGrpSpPr>
          <p:cNvPr id="1011" name="Google Shape;669;p70"/>
          <p:cNvGrpSpPr/>
          <p:nvPr/>
        </p:nvGrpSpPr>
        <p:grpSpPr>
          <a:xfrm>
            <a:off x="282653" y="2494383"/>
            <a:ext cx="2776148" cy="1717945"/>
            <a:chOff x="0" y="0"/>
            <a:chExt cx="2776146" cy="1717943"/>
          </a:xfrm>
        </p:grpSpPr>
        <p:pic>
          <p:nvPicPr>
            <p:cNvPr id="1009" name="Google Shape;670;p70" descr="Google Shape;670;p7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147" cy="17179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0" name="Google Shape;671;p70"/>
            <p:cNvSpPr/>
            <p:nvPr/>
          </p:nvSpPr>
          <p:spPr>
            <a:xfrm>
              <a:off x="1241435" y="1569692"/>
              <a:ext cx="290615" cy="49341"/>
            </a:xfrm>
            <a:prstGeom prst="rect">
              <a:avLst/>
            </a:prstGeom>
            <a:solidFill>
              <a:srgbClr val="0E0E0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00"/>
                  </a:solidFill>
                </a:defRPr>
              </a:pPr>
            </a:p>
          </p:txBody>
        </p:sp>
      </p:grpSp>
      <p:pic>
        <p:nvPicPr>
          <p:cNvPr id="1012" name="Google Shape;672;p70" descr="Google Shape;672;p70"/>
          <p:cNvPicPr>
            <a:picLocks noChangeAspect="1"/>
          </p:cNvPicPr>
          <p:nvPr/>
        </p:nvPicPr>
        <p:blipFill>
          <a:blip r:embed="rId5">
            <a:extLst/>
          </a:blip>
          <a:srcRect l="24926" t="7321" r="14778" b="21736"/>
          <a:stretch>
            <a:fillRect/>
          </a:stretch>
        </p:blipFill>
        <p:spPr>
          <a:xfrm>
            <a:off x="610804" y="2683386"/>
            <a:ext cx="2124657" cy="135429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5" name="Google Shape;673;p70"/>
          <p:cNvGrpSpPr/>
          <p:nvPr/>
        </p:nvGrpSpPr>
        <p:grpSpPr>
          <a:xfrm>
            <a:off x="813772" y="2251050"/>
            <a:ext cx="1704601" cy="302251"/>
            <a:chOff x="0" y="0"/>
            <a:chExt cx="1704600" cy="302250"/>
          </a:xfrm>
        </p:grpSpPr>
        <p:sp>
          <p:nvSpPr>
            <p:cNvPr id="1013" name="Rectangle aux angles arrondis"/>
            <p:cNvSpPr/>
            <p:nvPr/>
          </p:nvSpPr>
          <p:spPr>
            <a:xfrm>
              <a:off x="0" y="52424"/>
              <a:ext cx="1704601" cy="197402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14" name="Espace Certificateur"/>
            <p:cNvSpPr txBox="1"/>
            <p:nvPr/>
          </p:nvSpPr>
          <p:spPr>
            <a:xfrm>
              <a:off x="14398" y="0"/>
              <a:ext cx="1675804" cy="302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Espace Certificateur</a:t>
              </a:r>
            </a:p>
          </p:txBody>
        </p:sp>
      </p:grpSp>
      <p:sp>
        <p:nvSpPr>
          <p:cNvPr id="1016" name="Google Shape;674;p70"/>
          <p:cNvSpPr/>
          <p:nvPr/>
        </p:nvSpPr>
        <p:spPr>
          <a:xfrm>
            <a:off x="3135750" y="2114249"/>
            <a:ext cx="2834101" cy="2228102"/>
          </a:xfrm>
          <a:prstGeom prst="rect">
            <a:avLst/>
          </a:prstGeom>
          <a:solidFill>
            <a:srgbClr val="FFFFFF"/>
          </a:solidFill>
          <a:ln>
            <a:solidFill>
              <a:srgbClr val="434749"/>
            </a:solidFill>
            <a:prstDash val="dash"/>
          </a:ln>
        </p:spPr>
        <p:txBody>
          <a:bodyPr lIns="0" tIns="0" rIns="0" bIns="0" anchor="ctr"/>
          <a:lstStyle/>
          <a:p>
            <a:pPr algn="ctr">
              <a:def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grpSp>
        <p:nvGrpSpPr>
          <p:cNvPr id="1021" name="Google Shape;675;p70"/>
          <p:cNvGrpSpPr/>
          <p:nvPr/>
        </p:nvGrpSpPr>
        <p:grpSpPr>
          <a:xfrm>
            <a:off x="3135752" y="2494383"/>
            <a:ext cx="2776148" cy="1717945"/>
            <a:chOff x="0" y="0"/>
            <a:chExt cx="2776146" cy="1717943"/>
          </a:xfrm>
        </p:grpSpPr>
        <p:grpSp>
          <p:nvGrpSpPr>
            <p:cNvPr id="1019" name="Google Shape;676;p70"/>
            <p:cNvGrpSpPr/>
            <p:nvPr/>
          </p:nvGrpSpPr>
          <p:grpSpPr>
            <a:xfrm>
              <a:off x="0" y="0"/>
              <a:ext cx="2776147" cy="1717944"/>
              <a:chOff x="0" y="0"/>
              <a:chExt cx="2776146" cy="1717943"/>
            </a:xfrm>
          </p:grpSpPr>
          <p:pic>
            <p:nvPicPr>
              <p:cNvPr id="1017" name="Google Shape;677;p70" descr="Google Shape;677;p70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2776147" cy="17179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18" name="Google Shape;678;p70"/>
              <p:cNvSpPr/>
              <p:nvPr/>
            </p:nvSpPr>
            <p:spPr>
              <a:xfrm>
                <a:off x="1241435" y="1569692"/>
                <a:ext cx="290615" cy="49341"/>
              </a:xfrm>
              <a:prstGeom prst="rect">
                <a:avLst/>
              </a:prstGeom>
              <a:solidFill>
                <a:srgbClr val="0E0E0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100">
                    <a:solidFill>
                      <a:srgbClr val="000000"/>
                    </a:solidFill>
                  </a:defRPr>
                </a:pPr>
              </a:p>
            </p:txBody>
          </p:sp>
        </p:grpSp>
        <p:pic>
          <p:nvPicPr>
            <p:cNvPr id="1020" name="Google Shape;679;p70" descr="Google Shape;679;p70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4834" b="0"/>
            <a:stretch>
              <a:fillRect/>
            </a:stretch>
          </p:blipFill>
          <p:spPr>
            <a:xfrm>
              <a:off x="316410" y="205690"/>
              <a:ext cx="2124657" cy="13542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024" name="Google Shape;680;p70"/>
          <p:cNvGrpSpPr/>
          <p:nvPr/>
        </p:nvGrpSpPr>
        <p:grpSpPr>
          <a:xfrm>
            <a:off x="3705319" y="2238928"/>
            <a:ext cx="1704601" cy="302251"/>
            <a:chOff x="0" y="0"/>
            <a:chExt cx="1704600" cy="302250"/>
          </a:xfrm>
        </p:grpSpPr>
        <p:sp>
          <p:nvSpPr>
            <p:cNvPr id="1022" name="Rectangle aux angles arrondis"/>
            <p:cNvSpPr/>
            <p:nvPr/>
          </p:nvSpPr>
          <p:spPr>
            <a:xfrm>
              <a:off x="0" y="52425"/>
              <a:ext cx="1704601" cy="197401"/>
            </a:xfrm>
            <a:prstGeom prst="roundRect">
              <a:avLst>
                <a:gd name="adj" fmla="val 16667"/>
              </a:avLst>
            </a:prstGeom>
            <a:solidFill>
              <a:srgbClr val="FFA1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23" name="Espace Candidat"/>
            <p:cNvSpPr txBox="1"/>
            <p:nvPr/>
          </p:nvSpPr>
          <p:spPr>
            <a:xfrm>
              <a:off x="9636" y="0"/>
              <a:ext cx="1685328" cy="302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100"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Espace Candidat</a:t>
              </a:r>
            </a:p>
          </p:txBody>
        </p:sp>
      </p:grpSp>
      <p:sp>
        <p:nvSpPr>
          <p:cNvPr id="1025" name="Google Shape;681;p70"/>
          <p:cNvSpPr txBox="1"/>
          <p:nvPr/>
        </p:nvSpPr>
        <p:spPr>
          <a:xfrm>
            <a:off x="5066195" y="3874807"/>
            <a:ext cx="1474601" cy="216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spAutoFit/>
          </a:bodyPr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pPr/>
            <a:r>
              <a:t>14</a:t>
            </a:r>
          </a:p>
        </p:txBody>
      </p:sp>
      <p:pic>
        <p:nvPicPr>
          <p:cNvPr id="1026" name="Google Shape;682;p70" descr="Google Shape;682;p70"/>
          <p:cNvPicPr>
            <a:picLocks noChangeAspect="1"/>
          </p:cNvPicPr>
          <p:nvPr/>
        </p:nvPicPr>
        <p:blipFill>
          <a:blip r:embed="rId7">
            <a:extLst/>
          </a:blip>
          <a:srcRect l="0" t="19047" r="0" b="22540"/>
          <a:stretch>
            <a:fillRect/>
          </a:stretch>
        </p:blipFill>
        <p:spPr>
          <a:xfrm>
            <a:off x="3466250" y="2999225"/>
            <a:ext cx="2104352" cy="1086526"/>
          </a:xfrm>
          <a:prstGeom prst="rect">
            <a:avLst/>
          </a:prstGeom>
          <a:ln w="12700">
            <a:miter lim="400000"/>
          </a:ln>
        </p:spPr>
      </p:pic>
      <p:sp>
        <p:nvSpPr>
          <p:cNvPr id="1027" name="Google Shape;684;p70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  <p:sp>
        <p:nvSpPr>
          <p:cNvPr id="1028" name="Google Shape;685;p70"/>
          <p:cNvSpPr txBox="1"/>
          <p:nvPr/>
        </p:nvSpPr>
        <p:spPr>
          <a:xfrm>
            <a:off x="967328" y="365024"/>
            <a:ext cx="2842901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Fluidité</a:t>
            </a:r>
          </a:p>
        </p:txBody>
      </p:sp>
      <p:pic>
        <p:nvPicPr>
          <p:cNvPr id="1029" name="losange bleu roi fvae@2x.pngGoogle Shape;686;p70" descr="losange bleu roi fvae@2x.pngGoogle Shape;686;p7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5075" y="374650"/>
            <a:ext cx="290149" cy="324958"/>
          </a:xfrm>
          <a:prstGeom prst="rect">
            <a:avLst/>
          </a:prstGeom>
          <a:ln w="12700">
            <a:miter lim="400000"/>
          </a:ln>
        </p:spPr>
      </p:pic>
      <p:sp>
        <p:nvSpPr>
          <p:cNvPr id="1030" name="Google Shape;687;p70"/>
          <p:cNvSpPr/>
          <p:nvPr/>
        </p:nvSpPr>
        <p:spPr>
          <a:xfrm>
            <a:off x="647089" y="486849"/>
            <a:ext cx="152107" cy="1064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560" y="13500"/>
                </a:moveTo>
                <a:cubicBezTo>
                  <a:pt x="5033" y="13500"/>
                  <a:pt x="0" y="15305"/>
                  <a:pt x="0" y="18900"/>
                </a:cubicBezTo>
                <a:lnTo>
                  <a:pt x="0" y="21600"/>
                </a:lnTo>
                <a:lnTo>
                  <a:pt x="15120" y="21600"/>
                </a:lnTo>
                <a:lnTo>
                  <a:pt x="15120" y="18900"/>
                </a:lnTo>
                <a:cubicBezTo>
                  <a:pt x="15120" y="15305"/>
                  <a:pt x="10087" y="13500"/>
                  <a:pt x="7560" y="13500"/>
                </a:cubicBezTo>
                <a:close/>
                <a:moveTo>
                  <a:pt x="2527" y="18514"/>
                </a:moveTo>
                <a:cubicBezTo>
                  <a:pt x="3434" y="17619"/>
                  <a:pt x="5627" y="16586"/>
                  <a:pt x="7560" y="16586"/>
                </a:cubicBezTo>
                <a:cubicBezTo>
                  <a:pt x="9493" y="16586"/>
                  <a:pt x="11686" y="17619"/>
                  <a:pt x="12593" y="18514"/>
                </a:cubicBezTo>
                <a:lnTo>
                  <a:pt x="2527" y="18514"/>
                </a:lnTo>
                <a:close/>
                <a:moveTo>
                  <a:pt x="7560" y="10800"/>
                </a:moveTo>
                <a:cubicBezTo>
                  <a:pt x="9644" y="10800"/>
                  <a:pt x="11340" y="8378"/>
                  <a:pt x="11340" y="5400"/>
                </a:cubicBezTo>
                <a:cubicBezTo>
                  <a:pt x="11340" y="2422"/>
                  <a:pt x="9644" y="0"/>
                  <a:pt x="7560" y="0"/>
                </a:cubicBezTo>
                <a:cubicBezTo>
                  <a:pt x="5476" y="0"/>
                  <a:pt x="3780" y="2422"/>
                  <a:pt x="3780" y="5400"/>
                </a:cubicBezTo>
                <a:cubicBezTo>
                  <a:pt x="3780" y="8378"/>
                  <a:pt x="5476" y="10800"/>
                  <a:pt x="7560" y="10800"/>
                </a:cubicBezTo>
                <a:close/>
                <a:moveTo>
                  <a:pt x="7560" y="3086"/>
                </a:moveTo>
                <a:cubicBezTo>
                  <a:pt x="8456" y="3086"/>
                  <a:pt x="9180" y="4119"/>
                  <a:pt x="9180" y="5400"/>
                </a:cubicBezTo>
                <a:cubicBezTo>
                  <a:pt x="9180" y="6681"/>
                  <a:pt x="8456" y="7714"/>
                  <a:pt x="7560" y="7714"/>
                </a:cubicBezTo>
                <a:cubicBezTo>
                  <a:pt x="6664" y="7714"/>
                  <a:pt x="5940" y="6681"/>
                  <a:pt x="5940" y="5400"/>
                </a:cubicBezTo>
                <a:cubicBezTo>
                  <a:pt x="5940" y="4119"/>
                  <a:pt x="6664" y="3086"/>
                  <a:pt x="7560" y="3086"/>
                </a:cubicBezTo>
                <a:close/>
                <a:moveTo>
                  <a:pt x="15163" y="13593"/>
                </a:moveTo>
                <a:cubicBezTo>
                  <a:pt x="16416" y="14889"/>
                  <a:pt x="17280" y="16617"/>
                  <a:pt x="17280" y="18900"/>
                </a:cubicBezTo>
                <a:lnTo>
                  <a:pt x="17280" y="21600"/>
                </a:lnTo>
                <a:lnTo>
                  <a:pt x="21600" y="21600"/>
                </a:lnTo>
                <a:lnTo>
                  <a:pt x="21600" y="18900"/>
                </a:lnTo>
                <a:cubicBezTo>
                  <a:pt x="21600" y="15783"/>
                  <a:pt x="17820" y="14009"/>
                  <a:pt x="15163" y="13593"/>
                </a:cubicBezTo>
                <a:close/>
                <a:moveTo>
                  <a:pt x="14040" y="10800"/>
                </a:moveTo>
                <a:cubicBezTo>
                  <a:pt x="16124" y="10800"/>
                  <a:pt x="17820" y="8378"/>
                  <a:pt x="17820" y="5400"/>
                </a:cubicBezTo>
                <a:cubicBezTo>
                  <a:pt x="17820" y="2422"/>
                  <a:pt x="16124" y="0"/>
                  <a:pt x="14040" y="0"/>
                </a:cubicBezTo>
                <a:cubicBezTo>
                  <a:pt x="13457" y="0"/>
                  <a:pt x="12917" y="201"/>
                  <a:pt x="12420" y="540"/>
                </a:cubicBezTo>
                <a:cubicBezTo>
                  <a:pt x="13100" y="1913"/>
                  <a:pt x="13500" y="3595"/>
                  <a:pt x="13500" y="5400"/>
                </a:cubicBezTo>
                <a:cubicBezTo>
                  <a:pt x="13500" y="7205"/>
                  <a:pt x="13100" y="8887"/>
                  <a:pt x="12420" y="10260"/>
                </a:cubicBezTo>
                <a:cubicBezTo>
                  <a:pt x="12917" y="10599"/>
                  <a:pt x="13457" y="10800"/>
                  <a:pt x="14040" y="108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1031" name="Google Shape;688;p70"/>
          <p:cNvSpPr/>
          <p:nvPr/>
        </p:nvSpPr>
        <p:spPr>
          <a:xfrm>
            <a:off x="2858224" y="3126175"/>
            <a:ext cx="411301" cy="205501"/>
          </a:xfrm>
          <a:prstGeom prst="chevron">
            <a:avLst>
              <a:gd name="adj" fmla="val 50000"/>
            </a:avLst>
          </a:prstGeom>
          <a:solidFill>
            <a:srgbClr val="295FE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32" name="Google Shape;689;p70"/>
          <p:cNvSpPr/>
          <p:nvPr/>
        </p:nvSpPr>
        <p:spPr>
          <a:xfrm rot="10800000">
            <a:off x="2858224" y="3389374"/>
            <a:ext cx="411301" cy="205501"/>
          </a:xfrm>
          <a:prstGeom prst="chevron">
            <a:avLst>
              <a:gd name="adj" fmla="val 50000"/>
            </a:avLst>
          </a:prstGeom>
          <a:solidFill>
            <a:srgbClr val="FFA1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33" name="Google Shape;690;p70"/>
          <p:cNvSpPr/>
          <p:nvPr/>
        </p:nvSpPr>
        <p:spPr>
          <a:xfrm>
            <a:off x="5767325" y="3126175"/>
            <a:ext cx="411301" cy="205501"/>
          </a:xfrm>
          <a:prstGeom prst="chevron">
            <a:avLst>
              <a:gd name="adj" fmla="val 50000"/>
            </a:avLst>
          </a:prstGeom>
          <a:solidFill>
            <a:srgbClr val="FFA1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34" name="Google Shape;691;p70"/>
          <p:cNvSpPr/>
          <p:nvPr/>
        </p:nvSpPr>
        <p:spPr>
          <a:xfrm rot="10800000">
            <a:off x="5767325" y="3389374"/>
            <a:ext cx="411301" cy="205501"/>
          </a:xfrm>
          <a:prstGeom prst="chevron">
            <a:avLst>
              <a:gd name="adj" fmla="val 50000"/>
            </a:avLst>
          </a:prstGeom>
          <a:solidFill>
            <a:srgbClr val="F7DC6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35" name="Des échanges centralisés et simplifiés au sein d’une plateforme unique (AAP, certificateurs, candidats). Chaque rôle dispose de son espace pour suivre et orchestrer la VAE collective."/>
          <p:cNvSpPr txBox="1"/>
          <p:nvPr>
            <p:ph type="title"/>
          </p:nvPr>
        </p:nvSpPr>
        <p:spPr>
          <a:xfrm>
            <a:off x="503050" y="884699"/>
            <a:ext cx="8270400" cy="9747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rgbClr val="002060"/>
                </a:solidFill>
              </a:defRPr>
            </a:lvl1pPr>
          </a:lstStyle>
          <a:p>
            <a:pPr/>
            <a:r>
              <a:t>Des échanges centralisés et simplifiés au sein d’une plateforme unique (AAP, certificateurs, candidats). Chaque rôle dispose de son espace pour suivre et orchestrer la VAE collective.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0" name="Google Shape;696;p71"/>
          <p:cNvSpPr/>
          <p:nvPr/>
        </p:nvSpPr>
        <p:spPr>
          <a:xfrm>
            <a:off x="7238062" y="54099"/>
            <a:ext cx="1763101" cy="208501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041" name="Google Shape;697;p71"/>
          <p:cNvSpPr txBox="1"/>
          <p:nvPr>
            <p:ph type="body" sz="quarter" idx="1"/>
          </p:nvPr>
        </p:nvSpPr>
        <p:spPr>
          <a:xfrm>
            <a:off x="502549" y="1152824"/>
            <a:ext cx="2883001" cy="547501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115000"/>
              </a:lnSpc>
              <a:defRPr b="1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Accès à un outil de pilotage</a:t>
            </a:r>
            <a:br/>
            <a:r>
              <a:t>de vos projets et suivi des cohortes</a:t>
            </a:r>
          </a:p>
        </p:txBody>
      </p:sp>
      <p:sp>
        <p:nvSpPr>
          <p:cNvPr id="1042" name="Google Shape;698;p71"/>
          <p:cNvSpPr txBox="1"/>
          <p:nvPr/>
        </p:nvSpPr>
        <p:spPr>
          <a:xfrm>
            <a:off x="502549" y="1885588"/>
            <a:ext cx="2883001" cy="53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Outil de gestion de projet </a:t>
            </a:r>
            <a:br/>
            <a:r>
              <a:rPr sz="1200">
                <a:latin typeface="Roboto"/>
                <a:ea typeface="Roboto"/>
                <a:cs typeface="Roboto"/>
                <a:sym typeface="Roboto"/>
              </a:rPr>
              <a:t>Créez et pilotez efficacement</a:t>
            </a:r>
          </a:p>
        </p:txBody>
      </p:sp>
      <p:sp>
        <p:nvSpPr>
          <p:cNvPr id="1043" name="Google Shape;699;p71"/>
          <p:cNvSpPr txBox="1"/>
          <p:nvPr/>
        </p:nvSpPr>
        <p:spPr>
          <a:xfrm>
            <a:off x="522799" y="2660699"/>
            <a:ext cx="2953802" cy="56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800"/>
              </a:spcBef>
              <a:defRPr sz="160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Pilotage et suivi</a:t>
            </a:r>
            <a:br/>
            <a:r>
              <a:rPr sz="1200">
                <a:latin typeface="Roboto"/>
                <a:ea typeface="Roboto"/>
                <a:cs typeface="Roboto"/>
                <a:sym typeface="Roboto"/>
              </a:rPr>
              <a:t>Suivez l’état d’avancement des parcours</a:t>
            </a:r>
          </a:p>
        </p:txBody>
      </p:sp>
      <p:sp>
        <p:nvSpPr>
          <p:cNvPr id="1044" name="Google Shape;700;p71"/>
          <p:cNvSpPr txBox="1"/>
          <p:nvPr/>
        </p:nvSpPr>
        <p:spPr>
          <a:xfrm>
            <a:off x="502555" y="3358700"/>
            <a:ext cx="2578800" cy="30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defTabSz="365760">
              <a:lnSpc>
                <a:spcPct val="90000"/>
              </a:lnSpc>
              <a:spcBef>
                <a:spcPts val="300"/>
              </a:spcBef>
              <a:defRPr sz="640"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Données clés</a:t>
            </a:r>
            <a:br/>
            <a:r>
              <a:rPr sz="480">
                <a:latin typeface="Roboto"/>
                <a:ea typeface="Roboto"/>
                <a:cs typeface="Roboto"/>
                <a:sym typeface="Roboto"/>
              </a:rPr>
              <a:t>Obtenez des indicateurs </a:t>
            </a:r>
            <a:br>
              <a:rPr sz="480">
                <a:latin typeface="Roboto"/>
                <a:ea typeface="Roboto"/>
                <a:cs typeface="Roboto"/>
                <a:sym typeface="Roboto"/>
              </a:rPr>
            </a:br>
            <a:r>
              <a:rPr sz="480">
                <a:latin typeface="Roboto"/>
                <a:ea typeface="Roboto"/>
                <a:cs typeface="Roboto"/>
                <a:sym typeface="Roboto"/>
              </a:rPr>
              <a:t>sur l’avancement, les résultats </a:t>
            </a:r>
            <a:br>
              <a:rPr sz="480">
                <a:latin typeface="Roboto"/>
                <a:ea typeface="Roboto"/>
                <a:cs typeface="Roboto"/>
                <a:sym typeface="Roboto"/>
              </a:rPr>
            </a:br>
            <a:r>
              <a:rPr sz="480">
                <a:latin typeface="Roboto"/>
                <a:ea typeface="Roboto"/>
                <a:cs typeface="Roboto"/>
                <a:sym typeface="Roboto"/>
              </a:rPr>
              <a:t>via un tableau de bord Metabase pour commencer</a:t>
            </a:r>
          </a:p>
        </p:txBody>
      </p:sp>
      <p:sp>
        <p:nvSpPr>
          <p:cNvPr id="1045" name="Google Shape;701;p71"/>
          <p:cNvSpPr txBox="1"/>
          <p:nvPr>
            <p:ph type="body" idx="22"/>
          </p:nvPr>
        </p:nvSpPr>
        <p:spPr>
          <a:xfrm>
            <a:off x="3210824" y="4677974"/>
            <a:ext cx="2523001" cy="393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115000"/>
              </a:lnSpc>
              <a:spcBef>
                <a:spcPts val="0"/>
              </a:spcBef>
              <a:defRPr sz="800">
                <a:solidFill>
                  <a:srgbClr val="999999"/>
                </a:solidFill>
              </a:defRPr>
            </a:lvl1pPr>
          </a:lstStyle>
          <a:p>
            <a:pPr/>
            <a:r>
              <a:t>Vision cible du tableau de bord commanditaire. Non contractuel par rapport au produit fini.</a:t>
            </a:r>
          </a:p>
        </p:txBody>
      </p:sp>
      <p:pic>
        <p:nvPicPr>
          <p:cNvPr id="1046" name="losange bleu roi fvae@2x.pngGoogle Shape;702;p71" descr="losange bleu roi fvae@2x.pngGoogle Shape;702;p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5075" y="374657"/>
            <a:ext cx="290153" cy="324946"/>
          </a:xfrm>
          <a:prstGeom prst="rect">
            <a:avLst/>
          </a:prstGeom>
          <a:ln w="12700">
            <a:miter lim="400000"/>
          </a:ln>
        </p:spPr>
      </p:pic>
      <p:sp>
        <p:nvSpPr>
          <p:cNvPr id="1047" name="Google Shape;703;p71"/>
          <p:cNvSpPr txBox="1"/>
          <p:nvPr/>
        </p:nvSpPr>
        <p:spPr>
          <a:xfrm>
            <a:off x="967328" y="365024"/>
            <a:ext cx="2842901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Votre espace dédié</a:t>
            </a:r>
          </a:p>
        </p:txBody>
      </p:sp>
      <p:sp>
        <p:nvSpPr>
          <p:cNvPr id="1048" name="Google Shape;704;p71"/>
          <p:cNvSpPr/>
          <p:nvPr/>
        </p:nvSpPr>
        <p:spPr>
          <a:xfrm>
            <a:off x="639497" y="456491"/>
            <a:ext cx="167318" cy="167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6873"/>
                </a:moveTo>
                <a:cubicBezTo>
                  <a:pt x="8630" y="6873"/>
                  <a:pt x="6873" y="8630"/>
                  <a:pt x="6873" y="10800"/>
                </a:cubicBezTo>
                <a:cubicBezTo>
                  <a:pt x="6873" y="12970"/>
                  <a:pt x="8630" y="14727"/>
                  <a:pt x="10800" y="14727"/>
                </a:cubicBezTo>
                <a:cubicBezTo>
                  <a:pt x="12970" y="14727"/>
                  <a:pt x="14727" y="12970"/>
                  <a:pt x="14727" y="10800"/>
                </a:cubicBezTo>
                <a:cubicBezTo>
                  <a:pt x="14727" y="8630"/>
                  <a:pt x="12970" y="6873"/>
                  <a:pt x="10800" y="6873"/>
                </a:cubicBezTo>
                <a:close/>
                <a:moveTo>
                  <a:pt x="19577" y="9818"/>
                </a:moveTo>
                <a:cubicBezTo>
                  <a:pt x="19126" y="5724"/>
                  <a:pt x="15876" y="2474"/>
                  <a:pt x="11782" y="2023"/>
                </a:cubicBezTo>
                <a:lnTo>
                  <a:pt x="11782" y="0"/>
                </a:lnTo>
                <a:lnTo>
                  <a:pt x="9818" y="0"/>
                </a:lnTo>
                <a:lnTo>
                  <a:pt x="9818" y="2023"/>
                </a:lnTo>
                <a:cubicBezTo>
                  <a:pt x="5724" y="2474"/>
                  <a:pt x="2474" y="5724"/>
                  <a:pt x="2023" y="9818"/>
                </a:cubicBezTo>
                <a:lnTo>
                  <a:pt x="0" y="9818"/>
                </a:lnTo>
                <a:lnTo>
                  <a:pt x="0" y="11782"/>
                </a:lnTo>
                <a:lnTo>
                  <a:pt x="2023" y="11782"/>
                </a:lnTo>
                <a:cubicBezTo>
                  <a:pt x="2474" y="15876"/>
                  <a:pt x="5724" y="19126"/>
                  <a:pt x="9818" y="19577"/>
                </a:cubicBezTo>
                <a:lnTo>
                  <a:pt x="9818" y="21600"/>
                </a:lnTo>
                <a:lnTo>
                  <a:pt x="11782" y="21600"/>
                </a:lnTo>
                <a:lnTo>
                  <a:pt x="11782" y="19577"/>
                </a:lnTo>
                <a:cubicBezTo>
                  <a:pt x="15876" y="19126"/>
                  <a:pt x="19126" y="15876"/>
                  <a:pt x="19577" y="11782"/>
                </a:cubicBezTo>
                <a:lnTo>
                  <a:pt x="21600" y="11782"/>
                </a:lnTo>
                <a:lnTo>
                  <a:pt x="21600" y="9818"/>
                </a:lnTo>
                <a:lnTo>
                  <a:pt x="19577" y="9818"/>
                </a:lnTo>
                <a:close/>
                <a:moveTo>
                  <a:pt x="10800" y="17673"/>
                </a:moveTo>
                <a:cubicBezTo>
                  <a:pt x="7000" y="17673"/>
                  <a:pt x="3927" y="14600"/>
                  <a:pt x="3927" y="10800"/>
                </a:cubicBezTo>
                <a:cubicBezTo>
                  <a:pt x="3927" y="7000"/>
                  <a:pt x="7000" y="3927"/>
                  <a:pt x="10800" y="3927"/>
                </a:cubicBezTo>
                <a:cubicBezTo>
                  <a:pt x="14600" y="3927"/>
                  <a:pt x="17673" y="7000"/>
                  <a:pt x="17673" y="10800"/>
                </a:cubicBezTo>
                <a:cubicBezTo>
                  <a:pt x="17673" y="14600"/>
                  <a:pt x="14600" y="17673"/>
                  <a:pt x="10800" y="176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1049" name="Google Shape;705;p71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  <p:grpSp>
        <p:nvGrpSpPr>
          <p:cNvPr id="1052" name="Google Shape;706;p71">
            <a:hlinkClick r:id="rId4" invalidUrl="" action="" tgtFrame="" tooltip="" history="1" highlightClick="0" endSnd="0"/>
          </p:cNvPr>
          <p:cNvGrpSpPr/>
          <p:nvPr/>
        </p:nvGrpSpPr>
        <p:grpSpPr>
          <a:xfrm>
            <a:off x="6277400" y="4694450"/>
            <a:ext cx="2633401" cy="360651"/>
            <a:chOff x="0" y="0"/>
            <a:chExt cx="2633399" cy="360649"/>
          </a:xfrm>
        </p:grpSpPr>
        <p:sp>
          <p:nvSpPr>
            <p:cNvPr id="1050" name="Rectangle aux angles arrondis"/>
            <p:cNvSpPr/>
            <p:nvPr/>
          </p:nvSpPr>
          <p:spPr>
            <a:xfrm>
              <a:off x="0" y="17874"/>
              <a:ext cx="2633400" cy="324902"/>
            </a:xfrm>
            <a:prstGeom prst="roundRect">
              <a:avLst>
                <a:gd name="adj" fmla="val 16667"/>
              </a:avLst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51" name="Démo du prototype -&gt;"/>
            <p:cNvSpPr txBox="1"/>
            <p:nvPr/>
          </p:nvSpPr>
          <p:spPr>
            <a:xfrm>
              <a:off x="15860" y="0"/>
              <a:ext cx="2601680" cy="360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Démo du prototype -&gt;</a:t>
              </a:r>
            </a:p>
          </p:txBody>
        </p:sp>
      </p:grpSp>
      <p:sp>
        <p:nvSpPr>
          <p:cNvPr id="1053" name="Google Shape;707;p71"/>
          <p:cNvSpPr txBox="1"/>
          <p:nvPr/>
        </p:nvSpPr>
        <p:spPr>
          <a:xfrm>
            <a:off x="1004779" y="-608876"/>
            <a:ext cx="2842901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Espace dédié</a:t>
            </a:r>
          </a:p>
        </p:txBody>
      </p:sp>
      <p:sp>
        <p:nvSpPr>
          <p:cNvPr id="1054" name="Google Shape;708;p71"/>
          <p:cNvSpPr/>
          <p:nvPr/>
        </p:nvSpPr>
        <p:spPr>
          <a:xfrm>
            <a:off x="3703499" y="878725"/>
            <a:ext cx="5440501" cy="3007201"/>
          </a:xfrm>
          <a:prstGeom prst="rect">
            <a:avLst/>
          </a:prstGeom>
          <a:solidFill>
            <a:srgbClr val="E8EBF5"/>
          </a:solidFill>
          <a:ln>
            <a:solidFill>
              <a:srgbClr val="434749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grpSp>
        <p:nvGrpSpPr>
          <p:cNvPr id="1057" name="Google Shape;709;p71"/>
          <p:cNvGrpSpPr/>
          <p:nvPr/>
        </p:nvGrpSpPr>
        <p:grpSpPr>
          <a:xfrm>
            <a:off x="3714200" y="889424"/>
            <a:ext cx="5429701" cy="363901"/>
            <a:chOff x="0" y="0"/>
            <a:chExt cx="5429699" cy="363900"/>
          </a:xfrm>
        </p:grpSpPr>
        <p:sp>
          <p:nvSpPr>
            <p:cNvPr id="1055" name="Rectangle"/>
            <p:cNvSpPr/>
            <p:nvPr/>
          </p:nvSpPr>
          <p:spPr>
            <a:xfrm>
              <a:off x="0" y="-1"/>
              <a:ext cx="5429700" cy="363902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56" name="Votre espace entreprise"/>
            <p:cNvSpPr txBox="1"/>
            <p:nvPr/>
          </p:nvSpPr>
          <p:spPr>
            <a:xfrm>
              <a:off x="4762" y="20675"/>
              <a:ext cx="5420176" cy="322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b="1" sz="900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Votre espace entreprise</a:t>
              </a:r>
            </a:p>
          </p:txBody>
        </p:sp>
      </p:grpSp>
      <p:grpSp>
        <p:nvGrpSpPr>
          <p:cNvPr id="1060" name="Google Shape;710;p71"/>
          <p:cNvGrpSpPr/>
          <p:nvPr/>
        </p:nvGrpSpPr>
        <p:grpSpPr>
          <a:xfrm>
            <a:off x="3955024" y="1424549"/>
            <a:ext cx="2434801" cy="1102201"/>
            <a:chOff x="0" y="0"/>
            <a:chExt cx="2434800" cy="1102199"/>
          </a:xfrm>
        </p:grpSpPr>
        <p:sp>
          <p:nvSpPr>
            <p:cNvPr id="1058" name="Rectangle aux angles arrondis"/>
            <p:cNvSpPr/>
            <p:nvPr/>
          </p:nvSpPr>
          <p:spPr>
            <a:xfrm>
              <a:off x="0" y="0"/>
              <a:ext cx="2434801" cy="1102200"/>
            </a:xfrm>
            <a:prstGeom prst="roundRect">
              <a:avLst>
                <a:gd name="adj" fmla="val 8252"/>
              </a:avLst>
            </a:prstGeom>
            <a:solidFill>
              <a:srgbClr val="FFFFFF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1059" name="J’accède à mon espace connecté"/>
            <p:cNvSpPr txBox="1"/>
            <p:nvPr/>
          </p:nvSpPr>
          <p:spPr>
            <a:xfrm>
              <a:off x="31401" y="389824"/>
              <a:ext cx="2371998" cy="322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J’accède à mon espace connecté</a:t>
              </a:r>
            </a:p>
          </p:txBody>
        </p:sp>
      </p:grpSp>
      <p:grpSp>
        <p:nvGrpSpPr>
          <p:cNvPr id="1063" name="Google Shape;711;p71"/>
          <p:cNvGrpSpPr/>
          <p:nvPr/>
        </p:nvGrpSpPr>
        <p:grpSpPr>
          <a:xfrm>
            <a:off x="6524300" y="1424549"/>
            <a:ext cx="2386501" cy="1102201"/>
            <a:chOff x="0" y="0"/>
            <a:chExt cx="2386500" cy="1102199"/>
          </a:xfrm>
        </p:grpSpPr>
        <p:sp>
          <p:nvSpPr>
            <p:cNvPr id="1061" name="Rectangle aux angles arrondis"/>
            <p:cNvSpPr/>
            <p:nvPr/>
          </p:nvSpPr>
          <p:spPr>
            <a:xfrm>
              <a:off x="0" y="0"/>
              <a:ext cx="2386501" cy="1102200"/>
            </a:xfrm>
            <a:prstGeom prst="roundRect">
              <a:avLst>
                <a:gd name="adj" fmla="val 8186"/>
              </a:avLst>
            </a:prstGeom>
            <a:solidFill>
              <a:srgbClr val="FFFFFF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1062" name="Je crée ma cohorte"/>
            <p:cNvSpPr txBox="1"/>
            <p:nvPr/>
          </p:nvSpPr>
          <p:spPr>
            <a:xfrm>
              <a:off x="31188" y="389825"/>
              <a:ext cx="2324124" cy="322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Je crée ma cohorte</a:t>
              </a:r>
            </a:p>
          </p:txBody>
        </p:sp>
      </p:grpSp>
      <p:grpSp>
        <p:nvGrpSpPr>
          <p:cNvPr id="1066" name="Google Shape;712;p71"/>
          <p:cNvGrpSpPr/>
          <p:nvPr/>
        </p:nvGrpSpPr>
        <p:grpSpPr>
          <a:xfrm>
            <a:off x="3955024" y="2648274"/>
            <a:ext cx="2434801" cy="1102201"/>
            <a:chOff x="0" y="0"/>
            <a:chExt cx="2434800" cy="1102199"/>
          </a:xfrm>
        </p:grpSpPr>
        <p:sp>
          <p:nvSpPr>
            <p:cNvPr id="1064" name="Rectangle aux angles arrondis"/>
            <p:cNvSpPr/>
            <p:nvPr/>
          </p:nvSpPr>
          <p:spPr>
            <a:xfrm>
              <a:off x="0" y="0"/>
              <a:ext cx="2434801" cy="1102200"/>
            </a:xfrm>
            <a:prstGeom prst="roundRect">
              <a:avLst>
                <a:gd name="adj" fmla="val 8737"/>
              </a:avLst>
            </a:prstGeom>
            <a:solidFill>
              <a:srgbClr val="FFFFFF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1065" name="Je suis ma cohorte"/>
            <p:cNvSpPr txBox="1"/>
            <p:nvPr/>
          </p:nvSpPr>
          <p:spPr>
            <a:xfrm>
              <a:off x="32967" y="389824"/>
              <a:ext cx="2368866" cy="322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Je suis ma cohorte</a:t>
              </a:r>
            </a:p>
          </p:txBody>
        </p:sp>
      </p:grpSp>
      <p:grpSp>
        <p:nvGrpSpPr>
          <p:cNvPr id="1069" name="Google Shape;713;p71"/>
          <p:cNvGrpSpPr/>
          <p:nvPr/>
        </p:nvGrpSpPr>
        <p:grpSpPr>
          <a:xfrm>
            <a:off x="6524300" y="2648274"/>
            <a:ext cx="2386501" cy="1102201"/>
            <a:chOff x="0" y="0"/>
            <a:chExt cx="2386500" cy="1102199"/>
          </a:xfrm>
        </p:grpSpPr>
        <p:sp>
          <p:nvSpPr>
            <p:cNvPr id="1067" name="Rectangle aux angles arrondis"/>
            <p:cNvSpPr/>
            <p:nvPr/>
          </p:nvSpPr>
          <p:spPr>
            <a:xfrm>
              <a:off x="0" y="0"/>
              <a:ext cx="2386501" cy="1102200"/>
            </a:xfrm>
            <a:prstGeom prst="roundRect">
              <a:avLst>
                <a:gd name="adj" fmla="val 8186"/>
              </a:avLst>
            </a:prstGeom>
            <a:solidFill>
              <a:srgbClr val="FFFFFF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pPr>
            </a:p>
          </p:txBody>
        </p:sp>
        <p:sp>
          <p:nvSpPr>
            <p:cNvPr id="1068" name="Je pilote mon projet"/>
            <p:cNvSpPr txBox="1"/>
            <p:nvPr/>
          </p:nvSpPr>
          <p:spPr>
            <a:xfrm>
              <a:off x="31188" y="389825"/>
              <a:ext cx="2324124" cy="322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900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defRPr>
              </a:lvl1pPr>
            </a:lstStyle>
            <a:p>
              <a:pPr/>
              <a:r>
                <a:t>Je pilote mon projet</a:t>
              </a:r>
            </a:p>
          </p:txBody>
        </p:sp>
      </p:grpSp>
      <p:pic>
        <p:nvPicPr>
          <p:cNvPr id="1070" name="Google Shape;714;p71" descr="Google Shape;714;p7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14196" y="886199"/>
            <a:ext cx="669028" cy="363901"/>
          </a:xfrm>
          <a:prstGeom prst="rect">
            <a:avLst/>
          </a:prstGeom>
          <a:ln w="12700">
            <a:miter lim="400000"/>
          </a:ln>
        </p:spPr>
      </p:pic>
      <p:sp>
        <p:nvSpPr>
          <p:cNvPr id="1071" name="Google Shape;715;p71"/>
          <p:cNvSpPr txBox="1"/>
          <p:nvPr>
            <p:ph type="body" idx="21"/>
          </p:nvPr>
        </p:nvSpPr>
        <p:spPr>
          <a:xfrm>
            <a:off x="7304995" y="67150"/>
            <a:ext cx="1730401" cy="18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813816">
              <a:lnSpc>
                <a:spcPct val="115000"/>
              </a:lnSpc>
              <a:spcBef>
                <a:spcPts val="700"/>
              </a:spcBef>
              <a:defRPr b="1" sz="712">
                <a:solidFill>
                  <a:srgbClr val="BF9000"/>
                </a:solidFill>
              </a:defRPr>
            </a:lvl1pPr>
          </a:lstStyle>
          <a:p>
            <a:pPr/>
            <a:r>
              <a:t>EN PHASE D’EXPÉRIMENTATION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76" name="losange bleu roi fvae@2x.pngGoogle Shape;720;p72" descr="losange bleu roi fvae@2x.pngGoogle Shape;720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5075" y="374657"/>
            <a:ext cx="290153" cy="324946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Google Shape;721;p72"/>
          <p:cNvSpPr txBox="1"/>
          <p:nvPr>
            <p:ph type="body" sz="quarter" idx="1"/>
          </p:nvPr>
        </p:nvSpPr>
        <p:spPr>
          <a:xfrm>
            <a:off x="933023" y="365024"/>
            <a:ext cx="6213002" cy="387902"/>
          </a:xfrm>
          <a:prstGeom prst="rect">
            <a:avLst/>
          </a:prstGeom>
        </p:spPr>
        <p:txBody>
          <a:bodyPr lIns="34275" tIns="34275" rIns="34275" bIns="34275" anchor="t"/>
          <a:lstStyle>
            <a:lvl1pPr marL="0" defTabSz="896111">
              <a:spcBef>
                <a:spcPts val="700"/>
              </a:spcBef>
              <a:defRPr b="1" sz="2254">
                <a:solidFill>
                  <a:srgbClr val="182759"/>
                </a:solidFill>
              </a:defRPr>
            </a:lvl1pPr>
          </a:lstStyle>
          <a:p>
            <a:pPr/>
            <a:r>
              <a:t>Création de vos cohortes en 6 étapes</a:t>
            </a:r>
          </a:p>
        </p:txBody>
      </p:sp>
      <p:sp>
        <p:nvSpPr>
          <p:cNvPr id="1078" name="Google Shape;722;p72"/>
          <p:cNvSpPr/>
          <p:nvPr/>
        </p:nvSpPr>
        <p:spPr>
          <a:xfrm>
            <a:off x="639497" y="456491"/>
            <a:ext cx="167318" cy="167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6873"/>
                </a:moveTo>
                <a:cubicBezTo>
                  <a:pt x="8630" y="6873"/>
                  <a:pt x="6873" y="8630"/>
                  <a:pt x="6873" y="10800"/>
                </a:cubicBezTo>
                <a:cubicBezTo>
                  <a:pt x="6873" y="12970"/>
                  <a:pt x="8630" y="14727"/>
                  <a:pt x="10800" y="14727"/>
                </a:cubicBezTo>
                <a:cubicBezTo>
                  <a:pt x="12970" y="14727"/>
                  <a:pt x="14727" y="12970"/>
                  <a:pt x="14727" y="10800"/>
                </a:cubicBezTo>
                <a:cubicBezTo>
                  <a:pt x="14727" y="8630"/>
                  <a:pt x="12970" y="6873"/>
                  <a:pt x="10800" y="6873"/>
                </a:cubicBezTo>
                <a:close/>
                <a:moveTo>
                  <a:pt x="19577" y="9818"/>
                </a:moveTo>
                <a:cubicBezTo>
                  <a:pt x="19126" y="5724"/>
                  <a:pt x="15876" y="2474"/>
                  <a:pt x="11782" y="2023"/>
                </a:cubicBezTo>
                <a:lnTo>
                  <a:pt x="11782" y="0"/>
                </a:lnTo>
                <a:lnTo>
                  <a:pt x="9818" y="0"/>
                </a:lnTo>
                <a:lnTo>
                  <a:pt x="9818" y="2023"/>
                </a:lnTo>
                <a:cubicBezTo>
                  <a:pt x="5724" y="2474"/>
                  <a:pt x="2474" y="5724"/>
                  <a:pt x="2023" y="9818"/>
                </a:cubicBezTo>
                <a:lnTo>
                  <a:pt x="0" y="9818"/>
                </a:lnTo>
                <a:lnTo>
                  <a:pt x="0" y="11782"/>
                </a:lnTo>
                <a:lnTo>
                  <a:pt x="2023" y="11782"/>
                </a:lnTo>
                <a:cubicBezTo>
                  <a:pt x="2474" y="15876"/>
                  <a:pt x="5724" y="19126"/>
                  <a:pt x="9818" y="19577"/>
                </a:cubicBezTo>
                <a:lnTo>
                  <a:pt x="9818" y="21600"/>
                </a:lnTo>
                <a:lnTo>
                  <a:pt x="11782" y="21600"/>
                </a:lnTo>
                <a:lnTo>
                  <a:pt x="11782" y="19577"/>
                </a:lnTo>
                <a:cubicBezTo>
                  <a:pt x="15876" y="19126"/>
                  <a:pt x="19126" y="15876"/>
                  <a:pt x="19577" y="11782"/>
                </a:cubicBezTo>
                <a:lnTo>
                  <a:pt x="21600" y="11782"/>
                </a:lnTo>
                <a:lnTo>
                  <a:pt x="21600" y="9818"/>
                </a:lnTo>
                <a:lnTo>
                  <a:pt x="19577" y="9818"/>
                </a:lnTo>
                <a:close/>
                <a:moveTo>
                  <a:pt x="10800" y="17673"/>
                </a:moveTo>
                <a:cubicBezTo>
                  <a:pt x="7000" y="17673"/>
                  <a:pt x="3927" y="14600"/>
                  <a:pt x="3927" y="10800"/>
                </a:cubicBezTo>
                <a:cubicBezTo>
                  <a:pt x="3927" y="7000"/>
                  <a:pt x="7000" y="3927"/>
                  <a:pt x="10800" y="3927"/>
                </a:cubicBezTo>
                <a:cubicBezTo>
                  <a:pt x="14600" y="3927"/>
                  <a:pt x="17673" y="7000"/>
                  <a:pt x="17673" y="10800"/>
                </a:cubicBezTo>
                <a:cubicBezTo>
                  <a:pt x="17673" y="14600"/>
                  <a:pt x="14600" y="17673"/>
                  <a:pt x="10800" y="1767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1079" name="Google Shape;723;p72"/>
          <p:cNvSpPr txBox="1"/>
          <p:nvPr/>
        </p:nvSpPr>
        <p:spPr>
          <a:xfrm>
            <a:off x="571625" y="25635"/>
            <a:ext cx="211885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PORTAIL NUMÉRIQUE FRANCE VAE</a:t>
            </a:r>
          </a:p>
        </p:txBody>
      </p:sp>
      <p:sp>
        <p:nvSpPr>
          <p:cNvPr id="1080" name="Google Shape;724;p72"/>
          <p:cNvSpPr txBox="1"/>
          <p:nvPr/>
        </p:nvSpPr>
        <p:spPr>
          <a:xfrm>
            <a:off x="1004779" y="-608876"/>
            <a:ext cx="2842901" cy="38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defTabSz="896111">
              <a:lnSpc>
                <a:spcPct val="90000"/>
              </a:lnSpc>
              <a:spcBef>
                <a:spcPts val="700"/>
              </a:spcBef>
              <a:defRPr b="1" sz="2254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Espace dédié</a:t>
            </a:r>
          </a:p>
        </p:txBody>
      </p:sp>
      <p:sp>
        <p:nvSpPr>
          <p:cNvPr id="1081" name="Google Shape;725;p72"/>
          <p:cNvSpPr/>
          <p:nvPr/>
        </p:nvSpPr>
        <p:spPr>
          <a:xfrm>
            <a:off x="575075" y="878725"/>
            <a:ext cx="8005799" cy="3799200"/>
          </a:xfrm>
          <a:prstGeom prst="rect">
            <a:avLst/>
          </a:prstGeom>
          <a:solidFill>
            <a:srgbClr val="E8EBF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grpSp>
        <p:nvGrpSpPr>
          <p:cNvPr id="1084" name="Google Shape;726;p72"/>
          <p:cNvGrpSpPr/>
          <p:nvPr/>
        </p:nvGrpSpPr>
        <p:grpSpPr>
          <a:xfrm>
            <a:off x="563075" y="889424"/>
            <a:ext cx="8005799" cy="363901"/>
            <a:chOff x="0" y="0"/>
            <a:chExt cx="8005798" cy="363900"/>
          </a:xfrm>
        </p:grpSpPr>
        <p:sp>
          <p:nvSpPr>
            <p:cNvPr id="1082" name="Rectangle"/>
            <p:cNvSpPr/>
            <p:nvPr/>
          </p:nvSpPr>
          <p:spPr>
            <a:xfrm>
              <a:off x="0" y="-1"/>
              <a:ext cx="8005799" cy="3639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083" name="Votre espace entreprise"/>
            <p:cNvSpPr txBox="1"/>
            <p:nvPr/>
          </p:nvSpPr>
          <p:spPr>
            <a:xfrm>
              <a:off x="0" y="20674"/>
              <a:ext cx="8005799" cy="322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b="1" sz="900">
                  <a:solidFill>
                    <a:srgbClr val="1041BE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Votre espace entreprise</a:t>
              </a:r>
            </a:p>
          </p:txBody>
        </p:sp>
      </p:grpSp>
      <p:pic>
        <p:nvPicPr>
          <p:cNvPr id="1085" name="Google Shape;727;p72" descr="Google Shape;727;p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8372" y="886199"/>
            <a:ext cx="669028" cy="3639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6" name="Google Shape;728;p72"/>
          <p:cNvSpPr/>
          <p:nvPr/>
        </p:nvSpPr>
        <p:spPr>
          <a:xfrm>
            <a:off x="1925461" y="2659758"/>
            <a:ext cx="5290502" cy="10801"/>
          </a:xfrm>
          <a:prstGeom prst="line">
            <a:avLst/>
          </a:prstGeom>
          <a:ln w="19050">
            <a:solidFill>
              <a:srgbClr val="7A869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087" name="losange bleu roi fvae@2x.pngGoogle Shape;730;p72" descr="losange bleu roi fvae@2x.pngGoogle Shape;730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10586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8" name="losange bleu roi fvae@2x.pngGoogle Shape;731;p72" descr="losange bleu roi fvae@2x.pngGoogle Shape;731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71662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9" name="losange bleu roi fvae@2x.pngGoogle Shape;732;p72" descr="losange bleu roi fvae@2x.pngGoogle Shape;732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32736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0" name="losange bleu roi fvae@2x.pngGoogle Shape;733;p72" descr="losange bleu roi fvae@2x.pngGoogle Shape;733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93812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1" name="losange bleu roi fvae@2x.pngGoogle Shape;734;p72" descr="losange bleu roi fvae@2x.pngGoogle Shape;734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54887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2" name="losange bleu roi fvae@2x.pngGoogle Shape;729;p72" descr="losange bleu roi fvae@2x.pngGoogle Shape;729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15961" y="2388318"/>
            <a:ext cx="504001" cy="564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93" name="Google Shape;735;p72"/>
          <p:cNvSpPr txBox="1"/>
          <p:nvPr>
            <p:ph type="title" idx="4294967295"/>
          </p:nvPr>
        </p:nvSpPr>
        <p:spPr>
          <a:xfrm>
            <a:off x="1478686" y="2537724"/>
            <a:ext cx="367801" cy="25380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94" name="Google Shape;736;p72"/>
          <p:cNvSpPr txBox="1"/>
          <p:nvPr/>
        </p:nvSpPr>
        <p:spPr>
          <a:xfrm>
            <a:off x="1285425" y="2928612"/>
            <a:ext cx="754300" cy="35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Informations</a:t>
            </a:r>
            <a:br/>
            <a:r>
              <a:t>générales</a:t>
            </a:r>
          </a:p>
        </p:txBody>
      </p:sp>
      <p:sp>
        <p:nvSpPr>
          <p:cNvPr id="1095" name="Google Shape;737;p72"/>
          <p:cNvSpPr txBox="1"/>
          <p:nvPr/>
        </p:nvSpPr>
        <p:spPr>
          <a:xfrm>
            <a:off x="2338125" y="2938575"/>
            <a:ext cx="937301" cy="50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Choix des certifications et du certificateur</a:t>
            </a:r>
          </a:p>
        </p:txBody>
      </p:sp>
      <p:sp>
        <p:nvSpPr>
          <p:cNvPr id="1096" name="Google Shape;738;p72"/>
          <p:cNvSpPr txBox="1"/>
          <p:nvPr/>
        </p:nvSpPr>
        <p:spPr>
          <a:xfrm>
            <a:off x="2657179" y="2534849"/>
            <a:ext cx="299201" cy="25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97" name="Google Shape;739;p72"/>
          <p:cNvSpPr txBox="1"/>
          <p:nvPr/>
        </p:nvSpPr>
        <p:spPr>
          <a:xfrm>
            <a:off x="3516075" y="2938588"/>
            <a:ext cx="937301" cy="50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Sélection des AAP et demande de devis</a:t>
            </a:r>
          </a:p>
        </p:txBody>
      </p:sp>
      <p:sp>
        <p:nvSpPr>
          <p:cNvPr id="1098" name="Google Shape;740;p72"/>
          <p:cNvSpPr txBox="1"/>
          <p:nvPr/>
        </p:nvSpPr>
        <p:spPr>
          <a:xfrm>
            <a:off x="3835124" y="2534849"/>
            <a:ext cx="299201" cy="25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99" name="Google Shape;741;p72"/>
          <p:cNvSpPr txBox="1"/>
          <p:nvPr/>
        </p:nvSpPr>
        <p:spPr>
          <a:xfrm>
            <a:off x="5035074" y="2534849"/>
            <a:ext cx="221501" cy="25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00" name="Google Shape;742;p72"/>
          <p:cNvSpPr txBox="1"/>
          <p:nvPr/>
        </p:nvSpPr>
        <p:spPr>
          <a:xfrm>
            <a:off x="4677175" y="2946674"/>
            <a:ext cx="937301" cy="35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Sélection des candidats</a:t>
            </a:r>
          </a:p>
        </p:txBody>
      </p:sp>
      <p:sp>
        <p:nvSpPr>
          <p:cNvPr id="1101" name="Google Shape;743;p72"/>
          <p:cNvSpPr txBox="1"/>
          <p:nvPr/>
        </p:nvSpPr>
        <p:spPr>
          <a:xfrm>
            <a:off x="5838249" y="2946674"/>
            <a:ext cx="937302" cy="35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Invitation des candidats</a:t>
            </a:r>
          </a:p>
        </p:txBody>
      </p:sp>
      <p:sp>
        <p:nvSpPr>
          <p:cNvPr id="1102" name="Google Shape;744;p72"/>
          <p:cNvSpPr txBox="1"/>
          <p:nvPr/>
        </p:nvSpPr>
        <p:spPr>
          <a:xfrm>
            <a:off x="6999325" y="2946674"/>
            <a:ext cx="937301" cy="35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sz="8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Création de la cohorte</a:t>
            </a:r>
          </a:p>
        </p:txBody>
      </p:sp>
      <p:sp>
        <p:nvSpPr>
          <p:cNvPr id="1103" name="Google Shape;745;p72"/>
          <p:cNvSpPr txBox="1"/>
          <p:nvPr/>
        </p:nvSpPr>
        <p:spPr>
          <a:xfrm>
            <a:off x="6196149" y="2519750"/>
            <a:ext cx="221501" cy="25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04" name="Google Shape;746;p72"/>
          <p:cNvSpPr txBox="1"/>
          <p:nvPr/>
        </p:nvSpPr>
        <p:spPr>
          <a:xfrm>
            <a:off x="7357225" y="2518099"/>
            <a:ext cx="221501" cy="25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1107" name="Google Shape;747;p72">
            <a:hlinkClick r:id="rId5" invalidUrl="" action="" tgtFrame="" tooltip="" history="1" highlightClick="0" endSnd="0"/>
          </p:cNvPr>
          <p:cNvGrpSpPr/>
          <p:nvPr/>
        </p:nvGrpSpPr>
        <p:grpSpPr>
          <a:xfrm>
            <a:off x="3253999" y="4008650"/>
            <a:ext cx="2633401" cy="360651"/>
            <a:chOff x="0" y="0"/>
            <a:chExt cx="2633399" cy="360649"/>
          </a:xfrm>
        </p:grpSpPr>
        <p:sp>
          <p:nvSpPr>
            <p:cNvPr id="1105" name="Rectangle aux angles arrondis"/>
            <p:cNvSpPr/>
            <p:nvPr/>
          </p:nvSpPr>
          <p:spPr>
            <a:xfrm>
              <a:off x="0" y="17874"/>
              <a:ext cx="2633400" cy="324902"/>
            </a:xfrm>
            <a:prstGeom prst="roundRect">
              <a:avLst>
                <a:gd name="adj" fmla="val 16667"/>
              </a:avLst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06" name="Démo du prototype -&gt;"/>
            <p:cNvSpPr txBox="1"/>
            <p:nvPr/>
          </p:nvSpPr>
          <p:spPr>
            <a:xfrm>
              <a:off x="15860" y="0"/>
              <a:ext cx="2601680" cy="360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Démo du prototype -&gt;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12" name="Google Shape;752;p73"/>
          <p:cNvSpPr txBox="1"/>
          <p:nvPr>
            <p:ph type="body" sz="quarter" idx="1"/>
          </p:nvPr>
        </p:nvSpPr>
        <p:spPr>
          <a:xfrm>
            <a:off x="970479" y="-608876"/>
            <a:ext cx="2911501" cy="387902"/>
          </a:xfrm>
          <a:prstGeom prst="rect">
            <a:avLst/>
          </a:prstGeom>
        </p:spPr>
        <p:txBody>
          <a:bodyPr lIns="34275" tIns="34275" rIns="34275" bIns="34275" anchor="t"/>
          <a:lstStyle>
            <a:lvl1pPr marL="0" defTabSz="896111">
              <a:spcBef>
                <a:spcPts val="700"/>
              </a:spcBef>
              <a:defRPr b="1" sz="2254">
                <a:solidFill>
                  <a:schemeClr val="accent1"/>
                </a:solidFill>
              </a:defRPr>
            </a:lvl1pPr>
          </a:lstStyle>
          <a:p>
            <a:pPr/>
            <a:r>
              <a:t>Espace dédié</a:t>
            </a:r>
          </a:p>
        </p:txBody>
      </p:sp>
      <p:pic>
        <p:nvPicPr>
          <p:cNvPr id="1113" name="vae collective - video parcours - creation cohorte - HD.mp4Google Shape;753;p73" descr="vae collective - video parcours - creation cohorte - HD.mp4Google Shape;753;p73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68762" y="0"/>
            <a:ext cx="9281521" cy="51434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18" name="Google Shape;758;p74"/>
          <p:cNvSpPr txBox="1"/>
          <p:nvPr>
            <p:ph type="title"/>
          </p:nvPr>
        </p:nvSpPr>
        <p:spPr>
          <a:xfrm>
            <a:off x="2863400" y="2125276"/>
            <a:ext cx="5273400" cy="1091401"/>
          </a:xfrm>
          <a:prstGeom prst="rect">
            <a:avLst/>
          </a:prstGeom>
        </p:spPr>
        <p:txBody>
          <a:bodyPr/>
          <a:lstStyle/>
          <a:p>
            <a:pPr/>
            <a:r>
              <a:t>Lancement de votre </a:t>
            </a:r>
            <a:br/>
            <a:r>
              <a:t>projet collectif</a:t>
            </a:r>
          </a:p>
        </p:txBody>
      </p:sp>
      <p:sp>
        <p:nvSpPr>
          <p:cNvPr id="1119" name="Google Shape;759;p74"/>
          <p:cNvSpPr txBox="1"/>
          <p:nvPr>
            <p:ph type="body" sz="quarter" idx="1"/>
          </p:nvPr>
        </p:nvSpPr>
        <p:spPr>
          <a:xfrm>
            <a:off x="2880807" y="1834356"/>
            <a:ext cx="4804202" cy="2739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  <p:sp>
        <p:nvSpPr>
          <p:cNvPr id="1120" name="Google Shape;760;p74"/>
          <p:cNvSpPr txBox="1"/>
          <p:nvPr/>
        </p:nvSpPr>
        <p:spPr>
          <a:xfrm>
            <a:off x="593299" y="1924024"/>
            <a:ext cx="1167702" cy="138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 algn="ctr">
              <a:defRPr sz="220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25" name="Google Shape;766;p75" descr="Google Shape;766;p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0846" y="2013311"/>
            <a:ext cx="1421864" cy="15689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6" name="Google Shape;767;p75" descr="Google Shape;767;p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39412" y="2013311"/>
            <a:ext cx="1421864" cy="156892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29" name="Google Shape;768;p75"/>
          <p:cNvGrpSpPr/>
          <p:nvPr/>
        </p:nvGrpSpPr>
        <p:grpSpPr>
          <a:xfrm>
            <a:off x="1250208" y="1992092"/>
            <a:ext cx="222601" cy="222601"/>
            <a:chOff x="0" y="0"/>
            <a:chExt cx="222600" cy="222600"/>
          </a:xfrm>
        </p:grpSpPr>
        <p:sp>
          <p:nvSpPr>
            <p:cNvPr id="1127" name="Cercle"/>
            <p:cNvSpPr/>
            <p:nvPr/>
          </p:nvSpPr>
          <p:spPr>
            <a:xfrm>
              <a:off x="-1" y="-1"/>
              <a:ext cx="222602" cy="222602"/>
            </a:xfrm>
            <a:prstGeom prst="ellipse">
              <a:avLst/>
            </a:prstGeom>
            <a:solidFill>
              <a:srgbClr val="E8EBF5"/>
            </a:solidFill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91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pPr>
            </a:p>
          </p:txBody>
        </p:sp>
        <p:sp>
          <p:nvSpPr>
            <p:cNvPr id="1128" name="1"/>
            <p:cNvSpPr txBox="1"/>
            <p:nvPr/>
          </p:nvSpPr>
          <p:spPr>
            <a:xfrm>
              <a:off x="37361" y="28750"/>
              <a:ext cx="147878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000091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32" name="Google Shape;769;p75"/>
          <p:cNvGrpSpPr/>
          <p:nvPr/>
        </p:nvGrpSpPr>
        <p:grpSpPr>
          <a:xfrm>
            <a:off x="4433968" y="1992092"/>
            <a:ext cx="222601" cy="222601"/>
            <a:chOff x="0" y="0"/>
            <a:chExt cx="222600" cy="222600"/>
          </a:xfrm>
        </p:grpSpPr>
        <p:sp>
          <p:nvSpPr>
            <p:cNvPr id="1130" name="Cercle"/>
            <p:cNvSpPr/>
            <p:nvPr/>
          </p:nvSpPr>
          <p:spPr>
            <a:xfrm>
              <a:off x="-1" y="-1"/>
              <a:ext cx="222602" cy="222602"/>
            </a:xfrm>
            <a:prstGeom prst="ellipse">
              <a:avLst/>
            </a:prstGeom>
            <a:solidFill>
              <a:srgbClr val="0000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pPr>
            </a:p>
          </p:txBody>
        </p:sp>
        <p:sp>
          <p:nvSpPr>
            <p:cNvPr id="1131" name="3"/>
            <p:cNvSpPr txBox="1"/>
            <p:nvPr/>
          </p:nvSpPr>
          <p:spPr>
            <a:xfrm>
              <a:off x="32598" y="28750"/>
              <a:ext cx="15740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pic>
        <p:nvPicPr>
          <p:cNvPr id="1133" name="Google Shape;770;p75" descr="Google Shape;770;p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25308" y="2013311"/>
            <a:ext cx="1421864" cy="1568924"/>
          </a:xfrm>
          <a:prstGeom prst="rect">
            <a:avLst/>
          </a:prstGeom>
          <a:ln w="12700">
            <a:miter lim="400000"/>
          </a:ln>
        </p:spPr>
      </p:pic>
      <p:sp>
        <p:nvSpPr>
          <p:cNvPr id="1170" name="Google Shape;771;p75"/>
          <p:cNvSpPr/>
          <p:nvPr/>
        </p:nvSpPr>
        <p:spPr>
          <a:xfrm>
            <a:off x="5160378" y="2765597"/>
            <a:ext cx="56584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>
            <a:solidFill>
              <a:schemeClr val="accent6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pic>
        <p:nvPicPr>
          <p:cNvPr id="1135" name="Google Shape;772;p75" descr="Google Shape;772;p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11202" y="2013311"/>
            <a:ext cx="1421864" cy="1568924"/>
          </a:xfrm>
          <a:prstGeom prst="rect">
            <a:avLst/>
          </a:prstGeom>
          <a:ln w="12700">
            <a:miter lim="400000"/>
          </a:ln>
        </p:spPr>
      </p:pic>
      <p:sp>
        <p:nvSpPr>
          <p:cNvPr id="1136" name="Google Shape;773;p75"/>
          <p:cNvSpPr/>
          <p:nvPr/>
        </p:nvSpPr>
        <p:spPr>
          <a:xfrm>
            <a:off x="7039802" y="2797773"/>
            <a:ext cx="371401" cy="1"/>
          </a:xfrm>
          <a:prstGeom prst="line">
            <a:avLst/>
          </a:prstGeom>
          <a:ln>
            <a:solidFill>
              <a:schemeClr val="accent6"/>
            </a:solidFill>
            <a:miter/>
            <a:tailEnd type="triangle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39" name="Google Shape;774;p75"/>
          <p:cNvGrpSpPr/>
          <p:nvPr/>
        </p:nvGrpSpPr>
        <p:grpSpPr>
          <a:xfrm>
            <a:off x="8015905" y="1992092"/>
            <a:ext cx="222601" cy="222601"/>
            <a:chOff x="0" y="0"/>
            <a:chExt cx="222600" cy="222600"/>
          </a:xfrm>
        </p:grpSpPr>
        <p:sp>
          <p:nvSpPr>
            <p:cNvPr id="1137" name="Cercle"/>
            <p:cNvSpPr/>
            <p:nvPr/>
          </p:nvSpPr>
          <p:spPr>
            <a:xfrm>
              <a:off x="-1" y="-1"/>
              <a:ext cx="222602" cy="222602"/>
            </a:xfrm>
            <a:prstGeom prst="ellipse">
              <a:avLst/>
            </a:prstGeom>
            <a:solidFill>
              <a:srgbClr val="0000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pPr>
            </a:p>
          </p:txBody>
        </p:sp>
        <p:sp>
          <p:nvSpPr>
            <p:cNvPr id="1138" name="5"/>
            <p:cNvSpPr txBox="1"/>
            <p:nvPr/>
          </p:nvSpPr>
          <p:spPr>
            <a:xfrm>
              <a:off x="32598" y="28750"/>
              <a:ext cx="15740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142" name="Google Shape;775;p75"/>
          <p:cNvGrpSpPr/>
          <p:nvPr/>
        </p:nvGrpSpPr>
        <p:grpSpPr>
          <a:xfrm>
            <a:off x="788787" y="1246680"/>
            <a:ext cx="1145402" cy="289551"/>
            <a:chOff x="0" y="0"/>
            <a:chExt cx="1145400" cy="289550"/>
          </a:xfrm>
        </p:grpSpPr>
        <p:sp>
          <p:nvSpPr>
            <p:cNvPr id="1140" name="Rectangle aux angles arrondis"/>
            <p:cNvSpPr/>
            <p:nvPr/>
          </p:nvSpPr>
          <p:spPr>
            <a:xfrm>
              <a:off x="0" y="46074"/>
              <a:ext cx="1145401" cy="197402"/>
            </a:xfrm>
            <a:prstGeom prst="roundRect">
              <a:avLst>
                <a:gd name="adj" fmla="val 16667"/>
              </a:avLst>
            </a:prstGeom>
            <a:solidFill>
              <a:srgbClr val="E8EBF5"/>
            </a:solidFill>
            <a:ln w="9525" cap="flat">
              <a:solidFill>
                <a:srgbClr val="434749"/>
              </a:solidFill>
              <a:prstDash val="dash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000">
                  <a:solidFill>
                    <a:srgbClr val="000091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41" name="Aujourd’hui"/>
            <p:cNvSpPr txBox="1"/>
            <p:nvPr/>
          </p:nvSpPr>
          <p:spPr>
            <a:xfrm>
              <a:off x="14398" y="0"/>
              <a:ext cx="1116604" cy="289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000">
                  <a:solidFill>
                    <a:srgbClr val="00009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Aujourd’hui</a:t>
              </a:r>
            </a:p>
          </p:txBody>
        </p:sp>
      </p:grpSp>
      <p:sp>
        <p:nvSpPr>
          <p:cNvPr id="1171" name="Google Shape;776;p75"/>
          <p:cNvSpPr/>
          <p:nvPr/>
        </p:nvSpPr>
        <p:spPr>
          <a:xfrm>
            <a:off x="1361492" y="1536399"/>
            <a:ext cx="14" cy="450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>
            <a:solidFill>
              <a:srgbClr val="000091"/>
            </a:solidFill>
            <a:prstDash val="dash"/>
          </a:ln>
        </p:spPr>
        <p:txBody>
          <a:bodyPr/>
          <a:lstStyle/>
          <a:p>
            <a:pPr/>
          </a:p>
        </p:txBody>
      </p:sp>
      <p:sp>
        <p:nvSpPr>
          <p:cNvPr id="1144" name="Google Shape;777;p75"/>
          <p:cNvSpPr txBox="1"/>
          <p:nvPr/>
        </p:nvSpPr>
        <p:spPr>
          <a:xfrm>
            <a:off x="729074" y="2472737"/>
            <a:ext cx="1145402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defRPr b="1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Rdv avec une chargée de déploiement France VAE</a:t>
            </a:r>
          </a:p>
        </p:txBody>
      </p:sp>
      <p:sp>
        <p:nvSpPr>
          <p:cNvPr id="1145" name="Google Shape;778;p75"/>
          <p:cNvSpPr txBox="1"/>
          <p:nvPr/>
        </p:nvSpPr>
        <p:spPr>
          <a:xfrm>
            <a:off x="3977718" y="2392144"/>
            <a:ext cx="114540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800"/>
              </a:spcBef>
              <a:defRPr b="1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Renseignement d’un formulaire</a:t>
            </a:r>
          </a:p>
          <a:p>
            <a:pPr algn="ctr">
              <a:lnSpc>
                <a:spcPct val="90000"/>
              </a:lnSpc>
              <a:spcBef>
                <a:spcPts val="800"/>
              </a:spcBef>
              <a:defRPr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infos clés sur votre projet de VAE collective </a:t>
            </a:r>
          </a:p>
        </p:txBody>
      </p:sp>
      <p:sp>
        <p:nvSpPr>
          <p:cNvPr id="1146" name="Google Shape;779;p75"/>
          <p:cNvSpPr txBox="1"/>
          <p:nvPr/>
        </p:nvSpPr>
        <p:spPr>
          <a:xfrm>
            <a:off x="5763540" y="2424528"/>
            <a:ext cx="1145401" cy="70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defRPr b="1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Création de </a:t>
            </a:r>
            <a:br/>
            <a:r>
              <a:t>votre compte et de votre cohorte  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defRPr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par France VAE</a:t>
            </a:r>
            <a:br/>
            <a:r>
              <a:t>(sous 48h)</a:t>
            </a:r>
          </a:p>
        </p:txBody>
      </p:sp>
      <p:sp>
        <p:nvSpPr>
          <p:cNvPr id="1147" name="Google Shape;780;p75"/>
          <p:cNvSpPr txBox="1"/>
          <p:nvPr/>
        </p:nvSpPr>
        <p:spPr>
          <a:xfrm>
            <a:off x="7549508" y="2493109"/>
            <a:ext cx="1145401" cy="565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defRPr b="1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Réception d’un lien d’inscription</a:t>
            </a:r>
            <a:endParaRPr sz="900"/>
          </a:p>
          <a:p>
            <a:pPr algn="ctr">
              <a:lnSpc>
                <a:spcPct val="90000"/>
              </a:lnSpc>
              <a:spcBef>
                <a:spcPts val="200"/>
              </a:spcBef>
              <a:defRPr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à communiquer à vos candidats</a:t>
            </a:r>
          </a:p>
        </p:txBody>
      </p:sp>
      <p:grpSp>
        <p:nvGrpSpPr>
          <p:cNvPr id="1150" name="Google Shape;781;p75">
            <a:hlinkClick r:id="rId4" invalidUrl="" action="" tgtFrame="" tooltip="" history="1" highlightClick="0" endSnd="0"/>
          </p:cNvPr>
          <p:cNvGrpSpPr/>
          <p:nvPr/>
        </p:nvGrpSpPr>
        <p:grpSpPr>
          <a:xfrm>
            <a:off x="3767325" y="3588750"/>
            <a:ext cx="1590601" cy="279401"/>
            <a:chOff x="0" y="0"/>
            <a:chExt cx="1590600" cy="279400"/>
          </a:xfrm>
        </p:grpSpPr>
        <p:sp>
          <p:nvSpPr>
            <p:cNvPr id="1148" name="Rectangle aux angles arrondis"/>
            <p:cNvSpPr/>
            <p:nvPr/>
          </p:nvSpPr>
          <p:spPr>
            <a:xfrm>
              <a:off x="0" y="28400"/>
              <a:ext cx="1590601" cy="222601"/>
            </a:xfrm>
            <a:prstGeom prst="roundRect">
              <a:avLst>
                <a:gd name="adj" fmla="val 16667"/>
              </a:avLst>
            </a:prstGeom>
            <a:solidFill>
              <a:srgbClr val="1041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49" name="Accéder au formulaire -&gt;"/>
            <p:cNvSpPr txBox="1"/>
            <p:nvPr/>
          </p:nvSpPr>
          <p:spPr>
            <a:xfrm>
              <a:off x="145865" y="0"/>
              <a:ext cx="1298870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 u="sng">
                  <a:solidFill>
                    <a:srgbClr val="3838E7"/>
                  </a:solidFill>
                  <a:uFill>
                    <a:solidFill>
                      <a:srgbClr val="3838E7"/>
                    </a:solidFill>
                  </a:uFill>
                  <a:latin typeface="Roboto"/>
                  <a:ea typeface="Roboto"/>
                  <a:cs typeface="Roboto"/>
                  <a:sym typeface="Roboto"/>
                  <a:hlinkClick r:id="rId5" invalidUrl="" action="" tgtFrame="" tooltip="" history="1" highlightClick="0" endSnd="0"/>
                </a:defRPr>
              </a:lvl1pPr>
            </a:lstStyle>
            <a:p>
              <a:pPr>
                <a:defRPr>
                  <a:solidFill>
                    <a:srgbClr val="FFFFFF"/>
                  </a:solidFill>
                  <a:uFillTx/>
                </a:defRPr>
              </a:pPr>
              <a:r>
                <a:rPr>
                  <a:solidFill>
                    <a:srgbClr val="3838E7"/>
                  </a:solidFill>
                  <a:uFill>
                    <a:solidFill>
                      <a:srgbClr val="3838E7"/>
                    </a:solidFill>
                  </a:uFill>
                  <a:hlinkClick r:id="rId5" invalidUrl="" action="" tgtFrame="" tooltip="" history="1" highlightClick="0" endSnd="0"/>
                </a:rPr>
                <a:t>Accéder au formulaire -&gt;</a:t>
              </a:r>
            </a:p>
          </p:txBody>
        </p:sp>
      </p:grpSp>
      <p:grpSp>
        <p:nvGrpSpPr>
          <p:cNvPr id="1153" name="Google Shape;782;p75"/>
          <p:cNvGrpSpPr/>
          <p:nvPr/>
        </p:nvGrpSpPr>
        <p:grpSpPr>
          <a:xfrm>
            <a:off x="3834350" y="1246680"/>
            <a:ext cx="1421701" cy="289551"/>
            <a:chOff x="0" y="0"/>
            <a:chExt cx="1421700" cy="289550"/>
          </a:xfrm>
        </p:grpSpPr>
        <p:sp>
          <p:nvSpPr>
            <p:cNvPr id="1151" name="Rectangle aux angles arrondis"/>
            <p:cNvSpPr/>
            <p:nvPr/>
          </p:nvSpPr>
          <p:spPr>
            <a:xfrm>
              <a:off x="0" y="46074"/>
              <a:ext cx="1421701" cy="197402"/>
            </a:xfrm>
            <a:prstGeom prst="roundRect">
              <a:avLst>
                <a:gd name="adj" fmla="val 16667"/>
              </a:avLst>
            </a:prstGeom>
            <a:solidFill>
              <a:srgbClr val="000091"/>
            </a:solidFill>
            <a:ln w="9525" cap="flat">
              <a:solidFill>
                <a:srgbClr val="43474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52" name="La prochaine étape"/>
            <p:cNvSpPr txBox="1"/>
            <p:nvPr/>
          </p:nvSpPr>
          <p:spPr>
            <a:xfrm>
              <a:off x="14398" y="0"/>
              <a:ext cx="1392904" cy="289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La prochaine étape</a:t>
              </a:r>
            </a:p>
          </p:txBody>
        </p:sp>
      </p:grpSp>
      <p:sp>
        <p:nvSpPr>
          <p:cNvPr id="1172" name="Google Shape;783;p75"/>
          <p:cNvSpPr/>
          <p:nvPr/>
        </p:nvSpPr>
        <p:spPr>
          <a:xfrm>
            <a:off x="4545213" y="1536399"/>
            <a:ext cx="45" cy="4556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>
            <a:solidFill>
              <a:srgbClr val="000091"/>
            </a:solidFill>
            <a:prstDash val="dash"/>
          </a:ln>
        </p:spPr>
        <p:txBody>
          <a:bodyPr/>
          <a:lstStyle/>
          <a:p>
            <a:pPr/>
          </a:p>
        </p:txBody>
      </p:sp>
      <p:pic>
        <p:nvPicPr>
          <p:cNvPr id="1155" name="Google Shape;784;p75" descr="Google Shape;784;p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15121" y="2013311"/>
            <a:ext cx="1421864" cy="1568924"/>
          </a:xfrm>
          <a:prstGeom prst="rect">
            <a:avLst/>
          </a:prstGeom>
          <a:ln w="12700">
            <a:miter lim="400000"/>
          </a:ln>
        </p:spPr>
      </p:pic>
      <p:sp>
        <p:nvSpPr>
          <p:cNvPr id="1156" name="Google Shape;785;p75"/>
          <p:cNvSpPr txBox="1"/>
          <p:nvPr/>
        </p:nvSpPr>
        <p:spPr>
          <a:xfrm>
            <a:off x="2390052" y="2493743"/>
            <a:ext cx="1145401" cy="56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defRPr b="1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Consultation et sélection d’un AAP référencé France VAE </a:t>
            </a:r>
          </a:p>
        </p:txBody>
      </p:sp>
      <p:grpSp>
        <p:nvGrpSpPr>
          <p:cNvPr id="1159" name="Google Shape;786;p75"/>
          <p:cNvGrpSpPr/>
          <p:nvPr/>
        </p:nvGrpSpPr>
        <p:grpSpPr>
          <a:xfrm>
            <a:off x="7728925" y="1214930"/>
            <a:ext cx="1421701" cy="353051"/>
            <a:chOff x="0" y="0"/>
            <a:chExt cx="1421700" cy="353050"/>
          </a:xfrm>
        </p:grpSpPr>
        <p:sp>
          <p:nvSpPr>
            <p:cNvPr id="1157" name="Rectangle aux angles arrondis"/>
            <p:cNvSpPr/>
            <p:nvPr/>
          </p:nvSpPr>
          <p:spPr>
            <a:xfrm>
              <a:off x="0" y="77825"/>
              <a:ext cx="1421701" cy="1974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158" name="🏁 Le projet est lancé"/>
            <p:cNvSpPr txBox="1"/>
            <p:nvPr/>
          </p:nvSpPr>
          <p:spPr>
            <a:xfrm>
              <a:off x="9635" y="0"/>
              <a:ext cx="1402430" cy="353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8574" tIns="68574" rIns="68574" bIns="68574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🏁 Le projet est lancé</a:t>
              </a:r>
            </a:p>
          </p:txBody>
        </p:sp>
      </p:grpSp>
      <p:grpSp>
        <p:nvGrpSpPr>
          <p:cNvPr id="1162" name="Google Shape;787;p75"/>
          <p:cNvGrpSpPr/>
          <p:nvPr/>
        </p:nvGrpSpPr>
        <p:grpSpPr>
          <a:xfrm>
            <a:off x="2814742" y="1992092"/>
            <a:ext cx="222601" cy="222601"/>
            <a:chOff x="0" y="0"/>
            <a:chExt cx="222600" cy="222600"/>
          </a:xfrm>
        </p:grpSpPr>
        <p:sp>
          <p:nvSpPr>
            <p:cNvPr id="1160" name="Cercle"/>
            <p:cNvSpPr/>
            <p:nvPr/>
          </p:nvSpPr>
          <p:spPr>
            <a:xfrm>
              <a:off x="-1" y="-1"/>
              <a:ext cx="222602" cy="222602"/>
            </a:xfrm>
            <a:prstGeom prst="ellipse">
              <a:avLst/>
            </a:prstGeom>
            <a:solidFill>
              <a:srgbClr val="E8EBF5"/>
            </a:solidFill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000091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pPr>
            </a:p>
          </p:txBody>
        </p:sp>
        <p:sp>
          <p:nvSpPr>
            <p:cNvPr id="1161" name="2"/>
            <p:cNvSpPr txBox="1"/>
            <p:nvPr/>
          </p:nvSpPr>
          <p:spPr>
            <a:xfrm>
              <a:off x="37361" y="28750"/>
              <a:ext cx="147878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000091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65" name="Google Shape;788;p75"/>
          <p:cNvGrpSpPr/>
          <p:nvPr/>
        </p:nvGrpSpPr>
        <p:grpSpPr>
          <a:xfrm>
            <a:off x="6172829" y="1992092"/>
            <a:ext cx="222601" cy="222601"/>
            <a:chOff x="0" y="0"/>
            <a:chExt cx="222600" cy="222600"/>
          </a:xfrm>
        </p:grpSpPr>
        <p:sp>
          <p:nvSpPr>
            <p:cNvPr id="1163" name="Cercle"/>
            <p:cNvSpPr/>
            <p:nvPr/>
          </p:nvSpPr>
          <p:spPr>
            <a:xfrm>
              <a:off x="-1" y="-1"/>
              <a:ext cx="222602" cy="222602"/>
            </a:xfrm>
            <a:prstGeom prst="ellipse">
              <a:avLst/>
            </a:prstGeom>
            <a:solidFill>
              <a:srgbClr val="0000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pPr>
            </a:p>
          </p:txBody>
        </p:sp>
        <p:sp>
          <p:nvSpPr>
            <p:cNvPr id="1164" name="4"/>
            <p:cNvSpPr txBox="1"/>
            <p:nvPr/>
          </p:nvSpPr>
          <p:spPr>
            <a:xfrm>
              <a:off x="32598" y="28750"/>
              <a:ext cx="157404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166" name="Google Shape;789;p75"/>
          <p:cNvSpPr txBox="1"/>
          <p:nvPr/>
        </p:nvSpPr>
        <p:spPr>
          <a:xfrm>
            <a:off x="571613" y="88497"/>
            <a:ext cx="84317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LANCEMENT DE VOTRE PROJET COLLECTIF</a:t>
            </a:r>
          </a:p>
        </p:txBody>
      </p:sp>
      <p:sp>
        <p:nvSpPr>
          <p:cNvPr id="1167" name="Google Shape;790;p75"/>
          <p:cNvSpPr txBox="1"/>
          <p:nvPr/>
        </p:nvSpPr>
        <p:spPr>
          <a:xfrm>
            <a:off x="536840" y="360586"/>
            <a:ext cx="8500902" cy="42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lnSpc>
                <a:spcPct val="90000"/>
              </a:lnSpc>
              <a:spcBef>
                <a:spcPts val="800"/>
              </a:spcBef>
              <a:defRPr b="1" sz="23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Le démarrage de votre projet collectif en 5 étapes</a:t>
            </a:r>
          </a:p>
        </p:txBody>
      </p:sp>
      <p:sp>
        <p:nvSpPr>
          <p:cNvPr id="1173" name="Google Shape;791;p75"/>
          <p:cNvSpPr/>
          <p:nvPr/>
        </p:nvSpPr>
        <p:spPr>
          <a:xfrm>
            <a:off x="1911813" y="2765597"/>
            <a:ext cx="40422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7200" y="21600"/>
                  <a:pt x="14400" y="21600"/>
                  <a:pt x="21600" y="0"/>
                </a:cubicBezTo>
              </a:path>
            </a:pathLst>
          </a:custGeom>
          <a:ln>
            <a:solidFill>
              <a:schemeClr val="accent6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174" name="Google Shape;792;p75"/>
          <p:cNvSpPr/>
          <p:nvPr/>
        </p:nvSpPr>
        <p:spPr>
          <a:xfrm>
            <a:off x="3536088" y="2765597"/>
            <a:ext cx="40423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0800" fill="norm" stroke="1" extrusionOk="0">
                <a:moveTo>
                  <a:pt x="0" y="10800"/>
                </a:moveTo>
                <a:cubicBezTo>
                  <a:pt x="7200" y="21600"/>
                  <a:pt x="14400" y="10800"/>
                  <a:pt x="21600" y="0"/>
                </a:cubicBezTo>
              </a:path>
            </a:pathLst>
          </a:custGeom>
          <a:ln>
            <a:solidFill>
              <a:schemeClr val="accent6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79" name="Google Shape;797;p76"/>
          <p:cNvSpPr txBox="1"/>
          <p:nvPr>
            <p:ph type="title"/>
          </p:nvPr>
        </p:nvSpPr>
        <p:spPr>
          <a:xfrm>
            <a:off x="2863400" y="2125274"/>
            <a:ext cx="5705400" cy="1091401"/>
          </a:xfrm>
          <a:prstGeom prst="rect">
            <a:avLst/>
          </a:prstGeom>
        </p:spPr>
        <p:txBody>
          <a:bodyPr/>
          <a:lstStyle/>
          <a:p>
            <a:pPr/>
            <a:r>
              <a:t>Co-construction de l’outil de pilotage qui vous correspond</a:t>
            </a:r>
          </a:p>
        </p:txBody>
      </p:sp>
      <p:sp>
        <p:nvSpPr>
          <p:cNvPr id="1180" name="Google Shape;798;p76"/>
          <p:cNvSpPr txBox="1"/>
          <p:nvPr>
            <p:ph type="body" sz="quarter" idx="1"/>
          </p:nvPr>
        </p:nvSpPr>
        <p:spPr>
          <a:xfrm>
            <a:off x="2880807" y="1834356"/>
            <a:ext cx="4804202" cy="2739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  <p:sp>
        <p:nvSpPr>
          <p:cNvPr id="1181" name="Google Shape;799;p76"/>
          <p:cNvSpPr txBox="1"/>
          <p:nvPr/>
        </p:nvSpPr>
        <p:spPr>
          <a:xfrm>
            <a:off x="593299" y="1924024"/>
            <a:ext cx="1167702" cy="138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>
            <a:lvl1pPr algn="ctr">
              <a:defRPr sz="2200">
                <a:solidFill>
                  <a:srgbClr val="1041B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86" name="Google Shape;804;p77"/>
          <p:cNvSpPr txBox="1"/>
          <p:nvPr>
            <p:ph type="body" sz="quarter" idx="1"/>
          </p:nvPr>
        </p:nvSpPr>
        <p:spPr>
          <a:xfrm>
            <a:off x="503038" y="6248"/>
            <a:ext cx="8568902" cy="304200"/>
          </a:xfrm>
          <a:prstGeom prst="rect">
            <a:avLst/>
          </a:prstGeom>
        </p:spPr>
        <p:txBody>
          <a:bodyPr/>
          <a:lstStyle>
            <a:lvl1pPr marL="0">
              <a:spcBef>
                <a:spcPts val="0"/>
              </a:spcBef>
            </a:lvl1pPr>
          </a:lstStyle>
          <a:p>
            <a:pPr/>
            <a:r>
              <a:t>LANCEMENT DE VOTRE PROJET COLLECTIF</a:t>
            </a:r>
          </a:p>
        </p:txBody>
      </p:sp>
      <p:sp>
        <p:nvSpPr>
          <p:cNvPr id="1187" name="Google Shape;805;p77"/>
          <p:cNvSpPr txBox="1"/>
          <p:nvPr>
            <p:ph type="body" idx="21"/>
          </p:nvPr>
        </p:nvSpPr>
        <p:spPr>
          <a:xfrm>
            <a:off x="474224" y="457199"/>
            <a:ext cx="3996901" cy="42207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115000"/>
              </a:lnSpc>
              <a:spcBef>
                <a:spcPts val="0"/>
              </a:spcBef>
              <a:defRPr sz="3200"/>
            </a:lvl1pPr>
          </a:lstStyle>
          <a:p>
            <a:pPr/>
            <a:r>
              <a:t>Intégrez notre programme de co-conception de l’offre de VAE collective</a:t>
            </a:r>
          </a:p>
        </p:txBody>
      </p:sp>
      <p:sp>
        <p:nvSpPr>
          <p:cNvPr id="1188" name="Google Shape;806;p77"/>
          <p:cNvSpPr txBox="1"/>
          <p:nvPr>
            <p:ph type="body" idx="22"/>
          </p:nvPr>
        </p:nvSpPr>
        <p:spPr>
          <a:xfrm>
            <a:off x="6093050" y="755850"/>
            <a:ext cx="2979001" cy="461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9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Atelier d’embarquement</a:t>
            </a:r>
          </a:p>
        </p:txBody>
      </p:sp>
      <p:sp>
        <p:nvSpPr>
          <p:cNvPr id="1189" name="Google Shape;807;p77"/>
          <p:cNvSpPr txBox="1"/>
          <p:nvPr>
            <p:ph type="body" idx="23"/>
          </p:nvPr>
        </p:nvSpPr>
        <p:spPr>
          <a:xfrm>
            <a:off x="6093050" y="1114224"/>
            <a:ext cx="2619901" cy="856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Votre chef de projet participe </a:t>
            </a:r>
            <a:br/>
            <a:r>
              <a:t>à une réunion d’embarquement</a:t>
            </a:r>
          </a:p>
        </p:txBody>
      </p:sp>
      <p:sp>
        <p:nvSpPr>
          <p:cNvPr id="1190" name="Google Shape;808;p77"/>
          <p:cNvSpPr txBox="1"/>
          <p:nvPr>
            <p:ph type="body" idx="24"/>
          </p:nvPr>
        </p:nvSpPr>
        <p:spPr>
          <a:xfrm>
            <a:off x="6093055" y="2095282"/>
            <a:ext cx="2475902" cy="3249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886968">
              <a:lnSpc>
                <a:spcPct val="90000"/>
              </a:lnSpc>
              <a:spcBef>
                <a:spcPts val="0"/>
              </a:spcBef>
              <a:defRPr sz="1746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Préfiguration</a:t>
            </a:r>
          </a:p>
        </p:txBody>
      </p:sp>
      <p:sp>
        <p:nvSpPr>
          <p:cNvPr id="1191" name="Google Shape;809;p77"/>
          <p:cNvSpPr txBox="1"/>
          <p:nvPr>
            <p:ph type="body" idx="25"/>
          </p:nvPr>
        </p:nvSpPr>
        <p:spPr>
          <a:xfrm>
            <a:off x="6093055" y="2453661"/>
            <a:ext cx="2475902" cy="858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Testez la solution </a:t>
            </a:r>
            <a:br/>
            <a:r>
              <a:t>avec un groupe pilote</a:t>
            </a:r>
          </a:p>
        </p:txBody>
      </p:sp>
      <p:sp>
        <p:nvSpPr>
          <p:cNvPr id="1192" name="Google Shape;810;p77"/>
          <p:cNvSpPr txBox="1"/>
          <p:nvPr>
            <p:ph type="body" idx="26"/>
          </p:nvPr>
        </p:nvSpPr>
        <p:spPr>
          <a:xfrm>
            <a:off x="6093055" y="3463976"/>
            <a:ext cx="2475902" cy="3249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886968">
              <a:lnSpc>
                <a:spcPct val="90000"/>
              </a:lnSpc>
              <a:spcBef>
                <a:spcPts val="0"/>
              </a:spcBef>
              <a:defRPr sz="1746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Déploiement</a:t>
            </a:r>
          </a:p>
        </p:txBody>
      </p:sp>
      <p:sp>
        <p:nvSpPr>
          <p:cNvPr id="1193" name="Google Shape;811;p77"/>
          <p:cNvSpPr txBox="1"/>
          <p:nvPr>
            <p:ph type="body" idx="27"/>
          </p:nvPr>
        </p:nvSpPr>
        <p:spPr>
          <a:xfrm>
            <a:off x="6093055" y="3822355"/>
            <a:ext cx="2475902" cy="8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Lancez votre projet </a:t>
            </a:r>
            <a:br/>
            <a:r>
              <a:t>à grande échelle</a:t>
            </a:r>
          </a:p>
        </p:txBody>
      </p:sp>
      <p:sp>
        <p:nvSpPr>
          <p:cNvPr id="1194" name="Google Shape;812;p77"/>
          <p:cNvSpPr/>
          <p:nvPr/>
        </p:nvSpPr>
        <p:spPr>
          <a:xfrm>
            <a:off x="5565325" y="662174"/>
            <a:ext cx="466201" cy="466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</a:p>
        </p:txBody>
      </p:sp>
      <p:sp>
        <p:nvSpPr>
          <p:cNvPr id="1195" name="Google Shape;813;p77"/>
          <p:cNvSpPr/>
          <p:nvPr/>
        </p:nvSpPr>
        <p:spPr>
          <a:xfrm>
            <a:off x="5684681" y="807896"/>
            <a:ext cx="232118" cy="176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73" y="17087"/>
                </a:moveTo>
                <a:lnTo>
                  <a:pt x="1718" y="10316"/>
                </a:lnTo>
                <a:lnTo>
                  <a:pt x="0" y="12573"/>
                </a:lnTo>
                <a:lnTo>
                  <a:pt x="6873" y="21600"/>
                </a:lnTo>
                <a:lnTo>
                  <a:pt x="21600" y="2257"/>
                </a:lnTo>
                <a:lnTo>
                  <a:pt x="19882" y="0"/>
                </a:lnTo>
                <a:lnTo>
                  <a:pt x="6873" y="1708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8;p1"/>
          <p:cNvSpPr txBox="1"/>
          <p:nvPr>
            <p:ph type="sldNum" sz="quarter" idx="2"/>
          </p:nvPr>
        </p:nvSpPr>
        <p:spPr>
          <a:xfrm>
            <a:off x="8442081" y="4847232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00" name="Google Shape;818;p78"/>
          <p:cNvSpPr txBox="1"/>
          <p:nvPr>
            <p:ph type="body" sz="quarter" idx="4294967295"/>
          </p:nvPr>
        </p:nvSpPr>
        <p:spPr>
          <a:xfrm>
            <a:off x="502450" y="2344499"/>
            <a:ext cx="8066400" cy="762001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90000"/>
              </a:lnSpc>
              <a:buClr>
                <a:srgbClr val="182759"/>
              </a:buClr>
              <a:buFont typeface="Helvetica"/>
              <a:defRPr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Mélanie BARD</a:t>
            </a:r>
          </a:p>
          <a:p>
            <a:pPr marL="0">
              <a:lnSpc>
                <a:spcPct val="90000"/>
              </a:lnSpc>
              <a:buClr>
                <a:srgbClr val="182759"/>
              </a:buClr>
              <a:buFont typeface="Helvetica"/>
              <a:defRPr sz="1400">
                <a:solidFill>
                  <a:schemeClr val="accent6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Chargée de déploiement France VAE</a:t>
            </a:r>
          </a:p>
        </p:txBody>
      </p:sp>
      <p:sp>
        <p:nvSpPr>
          <p:cNvPr id="1201" name="Google Shape;819;p78"/>
          <p:cNvSpPr txBox="1"/>
          <p:nvPr/>
        </p:nvSpPr>
        <p:spPr>
          <a:xfrm>
            <a:off x="573100" y="2816574"/>
            <a:ext cx="79978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>
              <a:lnSpc>
                <a:spcPct val="81000"/>
              </a:lnSpc>
              <a:spcBef>
                <a:spcPts val="800"/>
              </a:spcBef>
              <a:defRPr sz="1800">
                <a:latin typeface="Roboto Medium"/>
                <a:ea typeface="Roboto Medium"/>
                <a:cs typeface="Roboto Medium"/>
                <a:sym typeface="Roboto Medium"/>
              </a:defRPr>
            </a:pPr>
            <a:endParaRPr sz="1200">
              <a:solidFill>
                <a:srgbClr val="FFFFFF"/>
              </a:solidFill>
            </a:endParaRPr>
          </a:p>
          <a:p>
            <a:pPr>
              <a:lnSpc>
                <a:spcPct val="81000"/>
              </a:lnSpc>
              <a:spcBef>
                <a:spcPts val="800"/>
              </a:spcBef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melanie.bard@beta.gouv.fr</a:t>
            </a:r>
          </a:p>
          <a:p>
            <a:pPr>
              <a:lnSpc>
                <a:spcPct val="81000"/>
              </a:lnSpc>
              <a:spcBef>
                <a:spcPts val="800"/>
              </a:spcBef>
              <a:def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pPr>
            <a:r>
              <a:t>https://vae.gouv.fr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VAE">
  <a:themeElements>
    <a:clrScheme name="FVAE">
      <a:dk1>
        <a:srgbClr val="182759"/>
      </a:dk1>
      <a:lt1>
        <a:srgbClr val="FFFFFF"/>
      </a:lt1>
      <a:dk2>
        <a:srgbClr val="A7A7A7"/>
      </a:dk2>
      <a:lt2>
        <a:srgbClr val="535353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0000FF"/>
      </a:hlink>
      <a:folHlink>
        <a:srgbClr val="FF00FF"/>
      </a:folHlink>
    </a:clrScheme>
    <a:fontScheme name="FVA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FVA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182759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182759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FVAE">
  <a:themeElements>
    <a:clrScheme name="FVA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0000FF"/>
      </a:hlink>
      <a:folHlink>
        <a:srgbClr val="FF00FF"/>
      </a:folHlink>
    </a:clrScheme>
    <a:fontScheme name="FVA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FVA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182759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182759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