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Medium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Roboto SemiBold"/>
      <p:regular r:id="rId30"/>
      <p:bold r:id="rId31"/>
      <p:italic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miBold-bold.fntdata"/><Relationship Id="rId30" Type="http://schemas.openxmlformats.org/officeDocument/2006/relationships/font" Target="fonts/RobotoSemiBold-regular.fntdata"/><Relationship Id="rId33" Type="http://schemas.openxmlformats.org/officeDocument/2006/relationships/font" Target="fonts/RobotoSemiBold-boldItalic.fntdata"/><Relationship Id="rId32" Type="http://schemas.openxmlformats.org/officeDocument/2006/relationships/font" Target="fonts/RobotoSemiBold-italic.fntdata"/><Relationship Id="rId35" Type="http://schemas.openxmlformats.org/officeDocument/2006/relationships/font" Target="fonts/HelveticaNeue-bold.fntdata"/><Relationship Id="rId34" Type="http://schemas.openxmlformats.org/officeDocument/2006/relationships/font" Target="fonts/HelveticaNeue-regular.fntdata"/><Relationship Id="rId37" Type="http://schemas.openxmlformats.org/officeDocument/2006/relationships/font" Target="fonts/HelveticaNeue-boldItalic.fntdata"/><Relationship Id="rId36" Type="http://schemas.openxmlformats.org/officeDocument/2006/relationships/font" Target="fonts/HelveticaNeue-italic.fntdata"/><Relationship Id="rId20" Type="http://schemas.openxmlformats.org/officeDocument/2006/relationships/slide" Target="slides/slide15.xml"/><Relationship Id="rId22" Type="http://schemas.openxmlformats.org/officeDocument/2006/relationships/font" Target="fonts/RobotoMedium-regular.fntdata"/><Relationship Id="rId21" Type="http://schemas.openxmlformats.org/officeDocument/2006/relationships/slide" Target="slides/slide16.xml"/><Relationship Id="rId24" Type="http://schemas.openxmlformats.org/officeDocument/2006/relationships/font" Target="fonts/RobotoMedium-italic.fntdata"/><Relationship Id="rId23" Type="http://schemas.openxmlformats.org/officeDocument/2006/relationships/font" Target="fonts/RobotoMedium-bold.fntdata"/><Relationship Id="rId26" Type="http://schemas.openxmlformats.org/officeDocument/2006/relationships/font" Target="fonts/Roboto-regular.fntdata"/><Relationship Id="rId25" Type="http://schemas.openxmlformats.org/officeDocument/2006/relationships/font" Target="fonts/RobotoMedium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29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57eda05d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57eda05d0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35f3fe253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35f3fe253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5b1e33840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5b1e33840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5b1e33840c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5b1e33840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5b1e33840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5b1e33840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5b1e33840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5b1e33840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5b1e33840c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5b1e33840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5b1e33840c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5b1e33840c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5b1e33840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5b1e33840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53bcacd16e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53bcacd16e_3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35f3fe253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35f3fe253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5b1e33840c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35b1e33840c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3" name="Google Shape;633;g35b1e33840c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57eda05d0b_1_7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g357eda05d0b_1_7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5" name="Google Shape;665;g357eda05d0b_1_7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57f5d902a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57f5d902a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5b1e33840c_0_6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g35b1e33840c_0_6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g35b1e33840c_0_6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361845082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361845082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presentation">
  <p:cSld name="Titre de presentation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77147" y="2179745"/>
            <a:ext cx="7210369" cy="23991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boto Medium"/>
              <a:buNone/>
              <a:defRPr b="0" i="0" sz="41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03191" y="1888825"/>
            <a:ext cx="7184324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1100"/>
              <a:buNone/>
              <a:defRPr sz="11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500"/>
              <a:buNone/>
              <a:defRPr sz="1500">
                <a:solidFill>
                  <a:srgbClr val="1041BE"/>
                </a:solidFill>
              </a:defRPr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None/>
              <a:defRPr sz="1400">
                <a:solidFill>
                  <a:srgbClr val="1041BE"/>
                </a:solidFill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52248" y="4406462"/>
            <a:ext cx="1174531" cy="7370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texte, Police, logo, Graphique&#10;&#10;Description générée automatiquement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602" y="289750"/>
            <a:ext cx="2171372" cy="127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Graphique, graphisme, Police, logo&#10;&#10;Description générée automatiquement"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1775" y="289747"/>
            <a:ext cx="2103124" cy="114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2" type="body"/>
          </p:nvPr>
        </p:nvSpPr>
        <p:spPr>
          <a:xfrm>
            <a:off x="575075" y="4684150"/>
            <a:ext cx="3281400" cy="459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69875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650"/>
              <a:buFont typeface="Roboto"/>
              <a:buChar char="•"/>
              <a:defRPr sz="65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9400" lvl="1" marL="9144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2pPr>
            <a:lvl3pPr indent="-279400" lvl="2" marL="13716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3pPr>
            <a:lvl4pPr indent="-279400" lvl="3" marL="18288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4pPr>
            <a:lvl5pPr indent="-279400" lvl="4" marL="22860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5pPr>
            <a:lvl6pPr indent="-279400" lvl="5" marL="27432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9400" lvl="6" marL="32004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79400" lvl="7" marL="36576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79400" lvl="8" marL="41148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>
  <p:cSld name="Sommaire4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75072" y="1977271"/>
            <a:ext cx="8568928" cy="135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310325"/>
            <a:ext cx="167700" cy="436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931075" y="518000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931075" y="1085975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3" type="body"/>
          </p:nvPr>
        </p:nvSpPr>
        <p:spPr>
          <a:xfrm>
            <a:off x="931075" y="165394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4" type="body"/>
          </p:nvPr>
        </p:nvSpPr>
        <p:spPr>
          <a:xfrm>
            <a:off x="503043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5" type="body"/>
          </p:nvPr>
        </p:nvSpPr>
        <p:spPr>
          <a:xfrm>
            <a:off x="931075" y="2221924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6" type="body"/>
          </p:nvPr>
        </p:nvSpPr>
        <p:spPr>
          <a:xfrm>
            <a:off x="931075" y="278989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7" type="body"/>
          </p:nvPr>
        </p:nvSpPr>
        <p:spPr>
          <a:xfrm>
            <a:off x="931075" y="3357873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8" type="body"/>
          </p:nvPr>
        </p:nvSpPr>
        <p:spPr>
          <a:xfrm>
            <a:off x="931075" y="392584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9" type="body"/>
          </p:nvPr>
        </p:nvSpPr>
        <p:spPr>
          <a:xfrm>
            <a:off x="503050" y="51800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3" type="body"/>
          </p:nvPr>
        </p:nvSpPr>
        <p:spPr>
          <a:xfrm>
            <a:off x="503050" y="1085975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4" type="body"/>
          </p:nvPr>
        </p:nvSpPr>
        <p:spPr>
          <a:xfrm>
            <a:off x="503050" y="165395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5" type="body"/>
          </p:nvPr>
        </p:nvSpPr>
        <p:spPr>
          <a:xfrm>
            <a:off x="503050" y="2221925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6" type="body"/>
          </p:nvPr>
        </p:nvSpPr>
        <p:spPr>
          <a:xfrm>
            <a:off x="503050" y="2789899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7" type="body"/>
          </p:nvPr>
        </p:nvSpPr>
        <p:spPr>
          <a:xfrm>
            <a:off x="503050" y="3357874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8" type="body"/>
          </p:nvPr>
        </p:nvSpPr>
        <p:spPr>
          <a:xfrm>
            <a:off x="503050" y="392585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17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chapitre 1">
  <p:cSld name="Titre de chapitre 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b="0" i="0" sz="3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/>
        </p:nvSpPr>
        <p:spPr>
          <a:xfrm>
            <a:off x="0" y="0"/>
            <a:ext cx="235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1100"/>
              <a:buNone/>
              <a:defRPr sz="11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4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title="losange blanc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875" y="2187553"/>
            <a:ext cx="822652" cy="9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1BE"/>
              </a:buClr>
              <a:buSzPts val="2200"/>
              <a:buNone/>
              <a:defRPr i="0" sz="2200">
                <a:solidFill>
                  <a:srgbClr val="1041BE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chapitre 2">
  <p:cSld name="Titre de chapitre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-1" y="0"/>
            <a:ext cx="6095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>
            <p:ph type="ctrTitle"/>
          </p:nvPr>
        </p:nvSpPr>
        <p:spPr>
          <a:xfrm>
            <a:off x="512267" y="2125276"/>
            <a:ext cx="5025000" cy="24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edium"/>
              <a:buNone/>
              <a:defRPr b="0" i="0" sz="3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529684" y="1834356"/>
            <a:ext cx="384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6" name="Google Shape;46;p5"/>
          <p:cNvSpPr/>
          <p:nvPr>
            <p:ph idx="2" type="pic"/>
          </p:nvPr>
        </p:nvSpPr>
        <p:spPr>
          <a:xfrm>
            <a:off x="6096000" y="-1"/>
            <a:ext cx="3048000" cy="5143499"/>
          </a:xfrm>
          <a:prstGeom prst="rect">
            <a:avLst/>
          </a:prstGeom>
          <a:noFill/>
          <a:ln>
            <a:noFill/>
          </a:ln>
        </p:spPr>
      </p:sp>
      <p:pic>
        <p:nvPicPr>
          <p:cNvPr id="47" name="Google Shape;47;p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8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Titre-Parag-Large-1col">
  <p:cSld name="Texte-Titre-Parag-Large-1col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idx="1" type="body"/>
          </p:nvPr>
        </p:nvSpPr>
        <p:spPr>
          <a:xfrm>
            <a:off x="502542" y="1206109"/>
            <a:ext cx="8066387" cy="34718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0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503039" y="-1501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502541" y="56352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Titre-Parag-Medium-1col">
  <p:cSld name="Texte-Titre-Parag-Medium-1col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502542" y="561713"/>
            <a:ext cx="612059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502542" y="1323594"/>
            <a:ext cx="8066387" cy="33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Parag-large-1col">
  <p:cSld name="Texte-Parag-large-1col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502541" y="376881"/>
            <a:ext cx="8131730" cy="4301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blocs - 1 col">
  <p:cSld name="Titre + Texte - Parag Medium - 2 blocs - 1 col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3" type="body"/>
          </p:nvPr>
        </p:nvSpPr>
        <p:spPr>
          <a:xfrm>
            <a:off x="502541" y="1320022"/>
            <a:ext cx="7634190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4" type="body"/>
          </p:nvPr>
        </p:nvSpPr>
        <p:spPr>
          <a:xfrm>
            <a:off x="502541" y="1635591"/>
            <a:ext cx="7634190" cy="1241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5" type="body"/>
          </p:nvPr>
        </p:nvSpPr>
        <p:spPr>
          <a:xfrm>
            <a:off x="502541" y="3111711"/>
            <a:ext cx="7634190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6" type="body"/>
          </p:nvPr>
        </p:nvSpPr>
        <p:spPr>
          <a:xfrm>
            <a:off x="502541" y="3427280"/>
            <a:ext cx="7634190" cy="12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Small - 3 blocs - 1 col">
  <p:cSld name="Titre + Texte - Parag Small - 3 blocs - 1 col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3" type="body"/>
          </p:nvPr>
        </p:nvSpPr>
        <p:spPr>
          <a:xfrm>
            <a:off x="939546" y="1319072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4" type="body"/>
          </p:nvPr>
        </p:nvSpPr>
        <p:spPr>
          <a:xfrm>
            <a:off x="939546" y="1611486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5" type="body"/>
          </p:nvPr>
        </p:nvSpPr>
        <p:spPr>
          <a:xfrm>
            <a:off x="939546" y="2442962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6" type="body"/>
          </p:nvPr>
        </p:nvSpPr>
        <p:spPr>
          <a:xfrm>
            <a:off x="939546" y="2729034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7" type="body"/>
          </p:nvPr>
        </p:nvSpPr>
        <p:spPr>
          <a:xfrm>
            <a:off x="939546" y="3563009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8" type="body"/>
          </p:nvPr>
        </p:nvSpPr>
        <p:spPr>
          <a:xfrm>
            <a:off x="939546" y="3869656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sur-titre - 4 blocs - 2 col">
  <p:cSld name="Texte - parag Medium - sur-titre - 4 blocs - 2 col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2" type="body"/>
          </p:nvPr>
        </p:nvSpPr>
        <p:spPr>
          <a:xfrm>
            <a:off x="502541" y="599312"/>
            <a:ext cx="8569426" cy="7457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3" type="body"/>
          </p:nvPr>
        </p:nvSpPr>
        <p:spPr>
          <a:xfrm>
            <a:off x="502541" y="1612273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4" type="body"/>
          </p:nvPr>
        </p:nvSpPr>
        <p:spPr>
          <a:xfrm>
            <a:off x="4711471" y="1612273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5" type="body"/>
          </p:nvPr>
        </p:nvSpPr>
        <p:spPr>
          <a:xfrm>
            <a:off x="502541" y="3095848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6" type="body"/>
          </p:nvPr>
        </p:nvSpPr>
        <p:spPr>
          <a:xfrm>
            <a:off x="4711471" y="3095848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7" type="body"/>
          </p:nvPr>
        </p:nvSpPr>
        <p:spPr>
          <a:xfrm>
            <a:off x="500644" y="1411772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8" type="body"/>
          </p:nvPr>
        </p:nvSpPr>
        <p:spPr>
          <a:xfrm>
            <a:off x="500644" y="2896493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9" type="body"/>
          </p:nvPr>
        </p:nvSpPr>
        <p:spPr>
          <a:xfrm>
            <a:off x="4707356" y="1411772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3" type="body"/>
          </p:nvPr>
        </p:nvSpPr>
        <p:spPr>
          <a:xfrm>
            <a:off x="4707356" y="2896493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blocs - 2 col">
  <p:cSld name="Titre + Texte - Parag Medium - 2 blocs - 2 col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3" type="body"/>
          </p:nvPr>
        </p:nvSpPr>
        <p:spPr>
          <a:xfrm>
            <a:off x="502541" y="1315231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4" type="body"/>
          </p:nvPr>
        </p:nvSpPr>
        <p:spPr>
          <a:xfrm>
            <a:off x="502541" y="1630800"/>
            <a:ext cx="3853955" cy="28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5" type="body"/>
          </p:nvPr>
        </p:nvSpPr>
        <p:spPr>
          <a:xfrm>
            <a:off x="4711471" y="1315231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6" type="body"/>
          </p:nvPr>
        </p:nvSpPr>
        <p:spPr>
          <a:xfrm>
            <a:off x="4711471" y="1630800"/>
            <a:ext cx="3853955" cy="28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col - Light/Dark">
  <p:cSld name="Titre + Texte - Parag Medium - 2 col - Light/Dar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4572001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516192" y="901055"/>
            <a:ext cx="3400936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oboto"/>
              <a:buNone/>
              <a:defRPr i="0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None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3" type="body"/>
          </p:nvPr>
        </p:nvSpPr>
        <p:spPr>
          <a:xfrm>
            <a:off x="516193" y="1181566"/>
            <a:ext cx="3400936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4" type="body"/>
          </p:nvPr>
        </p:nvSpPr>
        <p:spPr>
          <a:xfrm>
            <a:off x="516193" y="1497135"/>
            <a:ext cx="3400936" cy="3180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5" type="body"/>
          </p:nvPr>
        </p:nvSpPr>
        <p:spPr>
          <a:xfrm>
            <a:off x="5156143" y="901055"/>
            <a:ext cx="340371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oboto"/>
              <a:buNone/>
              <a:defRPr i="0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None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6" type="body"/>
          </p:nvPr>
        </p:nvSpPr>
        <p:spPr>
          <a:xfrm>
            <a:off x="5156143" y="1181566"/>
            <a:ext cx="340371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7" type="body"/>
          </p:nvPr>
        </p:nvSpPr>
        <p:spPr>
          <a:xfrm>
            <a:off x="5156143" y="1497135"/>
            <a:ext cx="3403717" cy="3180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3 blocs - sur-titre - 3 col">
  <p:cSld name="Texte - parag Medium - 3 blocs - sur-titre - 3 col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2" type="body"/>
          </p:nvPr>
        </p:nvSpPr>
        <p:spPr>
          <a:xfrm>
            <a:off x="502542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3" type="body"/>
          </p:nvPr>
        </p:nvSpPr>
        <p:spPr>
          <a:xfrm>
            <a:off x="502542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5" type="body"/>
          </p:nvPr>
        </p:nvSpPr>
        <p:spPr>
          <a:xfrm>
            <a:off x="3388171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6" type="body"/>
          </p:nvPr>
        </p:nvSpPr>
        <p:spPr>
          <a:xfrm>
            <a:off x="3388171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7" type="body"/>
          </p:nvPr>
        </p:nvSpPr>
        <p:spPr>
          <a:xfrm>
            <a:off x="6216039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8" type="body"/>
          </p:nvPr>
        </p:nvSpPr>
        <p:spPr>
          <a:xfrm>
            <a:off x="6216039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Small - 6 blocs - sur-titre - 3 col">
  <p:cSld name="Texte - parag Small - 6 blocs - sur-titre - 3 col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502542" y="8799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502542" y="11955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3" type="body"/>
          </p:nvPr>
        </p:nvSpPr>
        <p:spPr>
          <a:xfrm>
            <a:off x="3388172" y="8799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4" type="body"/>
          </p:nvPr>
        </p:nvSpPr>
        <p:spPr>
          <a:xfrm>
            <a:off x="3388172" y="1195551"/>
            <a:ext cx="2430000" cy="1295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5" type="body"/>
          </p:nvPr>
        </p:nvSpPr>
        <p:spPr>
          <a:xfrm>
            <a:off x="6216039" y="8799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6" type="body"/>
          </p:nvPr>
        </p:nvSpPr>
        <p:spPr>
          <a:xfrm>
            <a:off x="6216039" y="1195551"/>
            <a:ext cx="2430000" cy="1295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7" type="body"/>
          </p:nvPr>
        </p:nvSpPr>
        <p:spPr>
          <a:xfrm>
            <a:off x="502542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8" type="body"/>
          </p:nvPr>
        </p:nvSpPr>
        <p:spPr>
          <a:xfrm>
            <a:off x="502542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9" type="body"/>
          </p:nvPr>
        </p:nvSpPr>
        <p:spPr>
          <a:xfrm>
            <a:off x="3388172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3" type="body"/>
          </p:nvPr>
        </p:nvSpPr>
        <p:spPr>
          <a:xfrm>
            <a:off x="3388172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14" type="body"/>
          </p:nvPr>
        </p:nvSpPr>
        <p:spPr>
          <a:xfrm>
            <a:off x="6216039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5" type="body"/>
          </p:nvPr>
        </p:nvSpPr>
        <p:spPr>
          <a:xfrm>
            <a:off x="6216039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16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+ Media">
  <p:cSld name="Titre + Texte + Media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2" type="body"/>
          </p:nvPr>
        </p:nvSpPr>
        <p:spPr>
          <a:xfrm>
            <a:off x="502541" y="648296"/>
            <a:ext cx="347533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3" type="body"/>
          </p:nvPr>
        </p:nvSpPr>
        <p:spPr>
          <a:xfrm>
            <a:off x="502541" y="963864"/>
            <a:ext cx="3475337" cy="3480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16"/>
          <p:cNvSpPr/>
          <p:nvPr>
            <p:ph idx="4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Dark">
  <p:cSld name="Texte + Parag Medium + Image - 1 col - Dar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091518" y="1"/>
            <a:ext cx="3052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17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arag Medium - Light">
  <p:cSld name="Texte-Exergue-3Parag Medium - Ligh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502444" y="1579749"/>
            <a:ext cx="8066485" cy="18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0" i="0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2" type="body"/>
          </p:nvPr>
        </p:nvSpPr>
        <p:spPr>
          <a:xfrm>
            <a:off x="50254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3" type="body"/>
          </p:nvPr>
        </p:nvSpPr>
        <p:spPr>
          <a:xfrm>
            <a:off x="338817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4" type="body"/>
          </p:nvPr>
        </p:nvSpPr>
        <p:spPr>
          <a:xfrm>
            <a:off x="6216039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5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arag Medium - Dark">
  <p:cSld name="Texte-Exergue-3Parag Medium - Dark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502444" y="1579749"/>
            <a:ext cx="8066485" cy="18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2" type="body"/>
          </p:nvPr>
        </p:nvSpPr>
        <p:spPr>
          <a:xfrm>
            <a:off x="50254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3" type="body"/>
          </p:nvPr>
        </p:nvSpPr>
        <p:spPr>
          <a:xfrm>
            <a:off x="338817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4" type="body"/>
          </p:nvPr>
        </p:nvSpPr>
        <p:spPr>
          <a:xfrm>
            <a:off x="6216039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5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19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9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piliers">
  <p:cSld name="3 valeurs - Center - Ligh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55" name="Google Shape;155;p20"/>
          <p:cNvCxnSpPr/>
          <p:nvPr/>
        </p:nvCxnSpPr>
        <p:spPr>
          <a:xfrm>
            <a:off x="4572000" y="1104025"/>
            <a:ext cx="0" cy="35928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597800" y="109895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7" name="Google Shape;157;p20"/>
          <p:cNvCxnSpPr/>
          <p:nvPr/>
        </p:nvCxnSpPr>
        <p:spPr>
          <a:xfrm rot="10800000">
            <a:off x="567525" y="2900425"/>
            <a:ext cx="8017500" cy="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20"/>
          <p:cNvSpPr txBox="1"/>
          <p:nvPr>
            <p:ph idx="3" type="subTitle"/>
          </p:nvPr>
        </p:nvSpPr>
        <p:spPr>
          <a:xfrm>
            <a:off x="597800" y="419920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4" type="subTitle"/>
          </p:nvPr>
        </p:nvSpPr>
        <p:spPr>
          <a:xfrm>
            <a:off x="4787500" y="419920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5" type="subTitle"/>
          </p:nvPr>
        </p:nvSpPr>
        <p:spPr>
          <a:xfrm>
            <a:off x="4826325" y="109895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6" type="body"/>
          </p:nvPr>
        </p:nvSpPr>
        <p:spPr>
          <a:xfrm>
            <a:off x="597800" y="1446925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7" type="body"/>
          </p:nvPr>
        </p:nvSpPr>
        <p:spPr>
          <a:xfrm>
            <a:off x="4826325" y="1446925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8" type="body"/>
          </p:nvPr>
        </p:nvSpPr>
        <p:spPr>
          <a:xfrm>
            <a:off x="597800" y="3066400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9" type="body"/>
          </p:nvPr>
        </p:nvSpPr>
        <p:spPr>
          <a:xfrm>
            <a:off x="4826325" y="3066400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13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liers">
  <p:cSld name="3 valeurs - Center - Light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2" type="body"/>
          </p:nvPr>
        </p:nvSpPr>
        <p:spPr>
          <a:xfrm>
            <a:off x="575072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3" type="body"/>
          </p:nvPr>
        </p:nvSpPr>
        <p:spPr>
          <a:xfrm>
            <a:off x="3492001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4" type="body"/>
          </p:nvPr>
        </p:nvSpPr>
        <p:spPr>
          <a:xfrm>
            <a:off x="6408929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71" name="Google Shape;171;p21"/>
          <p:cNvCxnSpPr/>
          <p:nvPr/>
        </p:nvCxnSpPr>
        <p:spPr>
          <a:xfrm flipH="1">
            <a:off x="2971642" y="1981812"/>
            <a:ext cx="303300" cy="5607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21"/>
          <p:cNvCxnSpPr/>
          <p:nvPr/>
        </p:nvCxnSpPr>
        <p:spPr>
          <a:xfrm flipH="1">
            <a:off x="5876495" y="1981812"/>
            <a:ext cx="303300" cy="5607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21"/>
          <p:cNvSpPr txBox="1"/>
          <p:nvPr>
            <p:ph idx="5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ointsclés - Light">
  <p:cSld name="Texte-Exergue-3pointsclés - Ligh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7" name="Google Shape;177;p22"/>
          <p:cNvSpPr/>
          <p:nvPr/>
        </p:nvSpPr>
        <p:spPr>
          <a:xfrm>
            <a:off x="5004197" y="0"/>
            <a:ext cx="41398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22"/>
          <p:cNvSpPr txBox="1"/>
          <p:nvPr>
            <p:ph idx="2" type="body"/>
          </p:nvPr>
        </p:nvSpPr>
        <p:spPr>
          <a:xfrm>
            <a:off x="474216" y="457200"/>
            <a:ext cx="3996928" cy="4220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3" type="body"/>
          </p:nvPr>
        </p:nvSpPr>
        <p:spPr>
          <a:xfrm>
            <a:off x="6093056" y="755848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4" type="body"/>
          </p:nvPr>
        </p:nvSpPr>
        <p:spPr>
          <a:xfrm>
            <a:off x="6093056" y="1114226"/>
            <a:ext cx="2475872" cy="8566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1" name="Google Shape;181;p22"/>
          <p:cNvSpPr txBox="1"/>
          <p:nvPr>
            <p:ph idx="5" type="body"/>
          </p:nvPr>
        </p:nvSpPr>
        <p:spPr>
          <a:xfrm>
            <a:off x="6093056" y="2095282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2" name="Google Shape;182;p22"/>
          <p:cNvSpPr txBox="1"/>
          <p:nvPr>
            <p:ph idx="6" type="body"/>
          </p:nvPr>
        </p:nvSpPr>
        <p:spPr>
          <a:xfrm>
            <a:off x="6093056" y="2453661"/>
            <a:ext cx="2475872" cy="857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3" name="Google Shape;183;p22"/>
          <p:cNvSpPr txBox="1"/>
          <p:nvPr>
            <p:ph idx="7" type="body"/>
          </p:nvPr>
        </p:nvSpPr>
        <p:spPr>
          <a:xfrm>
            <a:off x="6093056" y="3463976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" name="Google Shape;184;p22"/>
          <p:cNvSpPr txBox="1"/>
          <p:nvPr>
            <p:ph idx="8" type="body"/>
          </p:nvPr>
        </p:nvSpPr>
        <p:spPr>
          <a:xfrm>
            <a:off x="6093056" y="3822355"/>
            <a:ext cx="2475872" cy="8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22"/>
          <p:cNvSpPr/>
          <p:nvPr/>
        </p:nvSpPr>
        <p:spPr>
          <a:xfrm rot="10800000">
            <a:off x="5694323" y="785266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22"/>
          <p:cNvSpPr/>
          <p:nvPr/>
        </p:nvSpPr>
        <p:spPr>
          <a:xfrm rot="10800000">
            <a:off x="5694323" y="213729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22"/>
          <p:cNvSpPr/>
          <p:nvPr/>
        </p:nvSpPr>
        <p:spPr>
          <a:xfrm rot="10800000">
            <a:off x="5694323" y="349756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ointsclés-Dark">
  <p:cSld name="Texte-Exergue-3pointsclés-Dark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Roboto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" name="Google Shape;190;p23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 rot="10800000">
            <a:off x="5694323" y="785266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23"/>
          <p:cNvSpPr/>
          <p:nvPr/>
        </p:nvSpPr>
        <p:spPr>
          <a:xfrm rot="10800000">
            <a:off x="5694323" y="213729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23"/>
          <p:cNvSpPr/>
          <p:nvPr/>
        </p:nvSpPr>
        <p:spPr>
          <a:xfrm rot="10800000">
            <a:off x="5694323" y="349756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23"/>
          <p:cNvSpPr txBox="1"/>
          <p:nvPr>
            <p:ph idx="2" type="body"/>
          </p:nvPr>
        </p:nvSpPr>
        <p:spPr>
          <a:xfrm>
            <a:off x="502444" y="479323"/>
            <a:ext cx="4429480" cy="4198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3" type="body"/>
          </p:nvPr>
        </p:nvSpPr>
        <p:spPr>
          <a:xfrm>
            <a:off x="6093056" y="705699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4" type="body"/>
          </p:nvPr>
        </p:nvSpPr>
        <p:spPr>
          <a:xfrm>
            <a:off x="6093056" y="2063583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5" type="body"/>
          </p:nvPr>
        </p:nvSpPr>
        <p:spPr>
          <a:xfrm>
            <a:off x="6093056" y="3414609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8" name="Google Shape;198;p23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 + Media - Light">
  <p:cSld name="Texte-Exergue + Media - Light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1" name="Google Shape;201;p24"/>
          <p:cNvSpPr txBox="1"/>
          <p:nvPr>
            <p:ph idx="2" type="body"/>
          </p:nvPr>
        </p:nvSpPr>
        <p:spPr>
          <a:xfrm>
            <a:off x="502445" y="537520"/>
            <a:ext cx="3854054" cy="4015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24"/>
          <p:cNvSpPr/>
          <p:nvPr>
            <p:ph idx="3" type="pic"/>
          </p:nvPr>
        </p:nvSpPr>
        <p:spPr>
          <a:xfrm>
            <a:off x="4787503" y="0"/>
            <a:ext cx="4356497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 + Media - Dark">
  <p:cSld name="Texte-Exergue + Media - Dark"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25"/>
          <p:cNvSpPr txBox="1"/>
          <p:nvPr>
            <p:ph idx="2" type="body"/>
          </p:nvPr>
        </p:nvSpPr>
        <p:spPr>
          <a:xfrm>
            <a:off x="502445" y="554047"/>
            <a:ext cx="3854054" cy="399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6" name="Google Shape;206;p25"/>
          <p:cNvSpPr/>
          <p:nvPr>
            <p:ph idx="3" type="pic"/>
          </p:nvPr>
        </p:nvSpPr>
        <p:spPr>
          <a:xfrm>
            <a:off x="4787503" y="0"/>
            <a:ext cx="435649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5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Dark">
  <p:cSld name="Texte + Parag Medium + Tablette - 1 col - Dar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3" name="Google Shape;213;p26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5" name="Google Shape;215;p26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16" name="Google Shape;21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2852" y="607495"/>
            <a:ext cx="6462551" cy="38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/>
          <p:nvPr>
            <p:ph idx="5" type="pic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26"/>
          <p:cNvSpPr txBox="1"/>
          <p:nvPr>
            <p:ph idx="6" type="body"/>
          </p:nvPr>
        </p:nvSpPr>
        <p:spPr>
          <a:xfrm>
            <a:off x="3193975" y="45687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Light">
  <p:cSld name="Texte + Parag Medium + Tablette - 1 col - Ligh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2" type="body"/>
          </p:nvPr>
        </p:nvSpPr>
        <p:spPr>
          <a:xfrm>
            <a:off x="502542" y="964798"/>
            <a:ext cx="2523047" cy="304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27"/>
          <p:cNvSpPr txBox="1"/>
          <p:nvPr>
            <p:ph idx="3" type="body"/>
          </p:nvPr>
        </p:nvSpPr>
        <p:spPr>
          <a:xfrm>
            <a:off x="502542" y="1280366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23" name="Google Shape;22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9314" y="964798"/>
            <a:ext cx="5069615" cy="305197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/>
          <p:nvPr>
            <p:ph idx="4" type="pic"/>
          </p:nvPr>
        </p:nvSpPr>
        <p:spPr>
          <a:xfrm>
            <a:off x="3908097" y="1163439"/>
            <a:ext cx="4251119" cy="2654696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7"/>
          <p:cNvSpPr txBox="1"/>
          <p:nvPr>
            <p:ph idx="5" type="body"/>
          </p:nvPr>
        </p:nvSpPr>
        <p:spPr>
          <a:xfrm>
            <a:off x="3499325" y="4073150"/>
            <a:ext cx="50697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- Front - Tablette">
  <p:cSld name="Device - Front - Tablette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28" name="Google Shape;22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00322" y="701796"/>
            <a:ext cx="5943356" cy="357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/>
          <p:nvPr>
            <p:ph idx="2" type="pic"/>
          </p:nvPr>
        </p:nvSpPr>
        <p:spPr>
          <a:xfrm>
            <a:off x="2077985" y="931375"/>
            <a:ext cx="4983794" cy="3112229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8"/>
          <p:cNvSpPr txBox="1"/>
          <p:nvPr>
            <p:ph idx="3" type="body"/>
          </p:nvPr>
        </p:nvSpPr>
        <p:spPr>
          <a:xfrm>
            <a:off x="1600325" y="4313625"/>
            <a:ext cx="59433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tte Big Right + Texte - parag small">
  <p:cSld name="Tablette Big Right + Texte - parag small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7111830" y="458867"/>
            <a:ext cx="177613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 b="0" i="0"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2" type="body"/>
          </p:nvPr>
        </p:nvSpPr>
        <p:spPr>
          <a:xfrm>
            <a:off x="7111830" y="774436"/>
            <a:ext cx="177613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83A5B"/>
              </a:buClr>
              <a:buSzPts val="1100"/>
              <a:buNone/>
              <a:defRPr b="0" i="0" sz="1100">
                <a:solidFill>
                  <a:srgbClr val="283A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34" name="Google Shape;23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72" y="4790424"/>
            <a:ext cx="520589" cy="285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940" y="4861365"/>
            <a:ext cx="624461" cy="1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moniteur, équipement électronique, écran, ordinateur&#10;&#10;Description générée automatiquement" id="236" name="Google Shape;2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476473" y="281179"/>
            <a:ext cx="10423463" cy="627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/>
          <p:nvPr>
            <p:ph idx="3" type="pic"/>
          </p:nvPr>
        </p:nvSpPr>
        <p:spPr>
          <a:xfrm>
            <a:off x="-2635160" y="690141"/>
            <a:ext cx="8740582" cy="5458231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9"/>
          <p:cNvSpPr txBox="1"/>
          <p:nvPr>
            <p:ph idx="4" type="body"/>
          </p:nvPr>
        </p:nvSpPr>
        <p:spPr>
          <a:xfrm>
            <a:off x="190175" y="61275"/>
            <a:ext cx="66999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pos="2880">
          <p15:clr>
            <a:srgbClr val="FBAE40"/>
          </p15:clr>
        </p15:guide>
        <p15:guide id="3" pos="362">
          <p15:clr>
            <a:srgbClr val="FBAE40"/>
          </p15:clr>
        </p15:guide>
        <p15:guide id="4" pos="635">
          <p15:clr>
            <a:srgbClr val="FBAE40"/>
          </p15:clr>
        </p15:guide>
        <p15:guide id="5" pos="3016">
          <p15:clr>
            <a:srgbClr val="FBAE40"/>
          </p15:clr>
        </p15:guide>
        <p15:guide id="6" pos="5125">
          <p15:clr>
            <a:srgbClr val="FBAE40"/>
          </p15:clr>
        </p15:guide>
        <p15:guide id="7" pos="5398">
          <p15:clr>
            <a:srgbClr val="FBAE40"/>
          </p15:clr>
        </p15:guide>
        <p15:guide id="8" orient="horz" pos="191">
          <p15:clr>
            <a:srgbClr val="FBAE40"/>
          </p15:clr>
        </p15:guide>
        <p15:guide id="9" orient="horz" pos="2947">
          <p15:clr>
            <a:srgbClr val="FBAE40"/>
          </p15:clr>
        </p15:guide>
        <p15:guide id="10" pos="274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tte Big Left + Texte - parag small">
  <p:cSld name="Tablette Big Left + Texte - parag small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moniteur, équipement électronique, écran, ordinateur&#10;&#10;Description générée automatiquement" id="240" name="Google Shape;24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13961" y="281179"/>
            <a:ext cx="10423463" cy="627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/>
          <p:nvPr>
            <p:ph idx="2" type="pic"/>
          </p:nvPr>
        </p:nvSpPr>
        <p:spPr>
          <a:xfrm>
            <a:off x="3355274" y="690141"/>
            <a:ext cx="8740582" cy="5458231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0"/>
          <p:cNvSpPr txBox="1"/>
          <p:nvPr>
            <p:ph idx="1" type="body"/>
          </p:nvPr>
        </p:nvSpPr>
        <p:spPr>
          <a:xfrm>
            <a:off x="511660" y="458867"/>
            <a:ext cx="177613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 b="0" i="0"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3" name="Google Shape;243;p30"/>
          <p:cNvSpPr txBox="1"/>
          <p:nvPr>
            <p:ph idx="3" type="body"/>
          </p:nvPr>
        </p:nvSpPr>
        <p:spPr>
          <a:xfrm>
            <a:off x="511660" y="774436"/>
            <a:ext cx="177613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83A5B"/>
              </a:buClr>
              <a:buSzPts val="1100"/>
              <a:buNone/>
              <a:defRPr b="0" i="0" sz="1100">
                <a:solidFill>
                  <a:srgbClr val="283A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4" type="body"/>
          </p:nvPr>
        </p:nvSpPr>
        <p:spPr>
          <a:xfrm>
            <a:off x="2513950" y="612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pos="2880">
          <p15:clr>
            <a:srgbClr val="FBAE40"/>
          </p15:clr>
        </p15:guide>
        <p15:guide id="3" pos="362">
          <p15:clr>
            <a:srgbClr val="FBAE40"/>
          </p15:clr>
        </p15:guide>
        <p15:guide id="4" pos="635">
          <p15:clr>
            <a:srgbClr val="FBAE40"/>
          </p15:clr>
        </p15:guide>
        <p15:guide id="5" pos="3016">
          <p15:clr>
            <a:srgbClr val="FBAE40"/>
          </p15:clr>
        </p15:guide>
        <p15:guide id="6" pos="5125">
          <p15:clr>
            <a:srgbClr val="FBAE40"/>
          </p15:clr>
        </p15:guide>
        <p15:guide id="7" pos="5398">
          <p15:clr>
            <a:srgbClr val="FBAE40"/>
          </p15:clr>
        </p15:guide>
        <p15:guide id="8" orient="horz" pos="191">
          <p15:clr>
            <a:srgbClr val="FBAE40"/>
          </p15:clr>
        </p15:guide>
        <p15:guide id="9" orient="horz" pos="2947">
          <p15:clr>
            <a:srgbClr val="FBAE40"/>
          </p15:clr>
        </p15:guide>
        <p15:guide id="10" pos="27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Dark">
  <p:cSld name="Texte + Parag Medium + Laptop - 1 col - Dark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6091518" y="0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9" name="Google Shape;249;p31"/>
          <p:cNvSpPr txBox="1"/>
          <p:nvPr>
            <p:ph idx="2" type="body"/>
          </p:nvPr>
        </p:nvSpPr>
        <p:spPr>
          <a:xfrm>
            <a:off x="502542" y="1145676"/>
            <a:ext cx="252304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52" name="Google Shape;25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3733" y="607495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1"/>
          <p:cNvSpPr/>
          <p:nvPr>
            <p:ph idx="5" type="pic"/>
          </p:nvPr>
        </p:nvSpPr>
        <p:spPr>
          <a:xfrm>
            <a:off x="3703179" y="873139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1"/>
          <p:cNvSpPr txBox="1"/>
          <p:nvPr>
            <p:ph idx="6" type="body"/>
          </p:nvPr>
        </p:nvSpPr>
        <p:spPr>
          <a:xfrm>
            <a:off x="3193975" y="46449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31"/>
          <p:cNvSpPr/>
          <p:nvPr/>
        </p:nvSpPr>
        <p:spPr>
          <a:xfrm>
            <a:off x="3703175" y="669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Light">
  <p:cSld name="Texte + Parag Medium + Laptop - 1 col - Ligh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58" name="Google Shape;25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8523" y="832348"/>
            <a:ext cx="5695638" cy="323748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2"/>
          <p:cNvSpPr/>
          <p:nvPr>
            <p:ph idx="2" type="pic"/>
          </p:nvPr>
        </p:nvSpPr>
        <p:spPr>
          <a:xfrm>
            <a:off x="4302305" y="1039607"/>
            <a:ext cx="4127082" cy="2343539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2"/>
          <p:cNvSpPr txBox="1"/>
          <p:nvPr>
            <p:ph idx="3" type="body"/>
          </p:nvPr>
        </p:nvSpPr>
        <p:spPr>
          <a:xfrm>
            <a:off x="502542" y="964798"/>
            <a:ext cx="2523047" cy="304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32"/>
          <p:cNvSpPr txBox="1"/>
          <p:nvPr>
            <p:ph idx="4" type="body"/>
          </p:nvPr>
        </p:nvSpPr>
        <p:spPr>
          <a:xfrm>
            <a:off x="502542" y="1280366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32"/>
          <p:cNvSpPr txBox="1"/>
          <p:nvPr>
            <p:ph idx="5" type="body"/>
          </p:nvPr>
        </p:nvSpPr>
        <p:spPr>
          <a:xfrm>
            <a:off x="3915425" y="3959175"/>
            <a:ext cx="50559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32"/>
          <p:cNvSpPr/>
          <p:nvPr/>
        </p:nvSpPr>
        <p:spPr>
          <a:xfrm>
            <a:off x="4302300" y="870350"/>
            <a:ext cx="934500" cy="1623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- Front - Laptop">
  <p:cSld name="Device - Front - Laptop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66" name="Google Shape;26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5705" y="537721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/>
          <p:nvPr>
            <p:ph idx="2" type="pic"/>
          </p:nvPr>
        </p:nvSpPr>
        <p:spPr>
          <a:xfrm>
            <a:off x="1865151" y="803366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 txBox="1"/>
          <p:nvPr>
            <p:ph idx="3" type="body"/>
          </p:nvPr>
        </p:nvSpPr>
        <p:spPr>
          <a:xfrm>
            <a:off x="1387550" y="4576475"/>
            <a:ext cx="65826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•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9" name="Google Shape;269;p33"/>
          <p:cNvSpPr/>
          <p:nvPr/>
        </p:nvSpPr>
        <p:spPr>
          <a:xfrm>
            <a:off x="1843725" y="602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Grey">
  <p:cSld name="Texte + Parag Medium + Browser - 1 col - Gre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3" name="Google Shape;273;p34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34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5" name="Google Shape;275;p34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76" name="Google Shape;27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/>
          <p:nvPr>
            <p:ph idx="5" type="pic"/>
          </p:nvPr>
        </p:nvSpPr>
        <p:spPr>
          <a:xfrm>
            <a:off x="3149925" y="1065675"/>
            <a:ext cx="5750700" cy="361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Grey 1">
  <p:cSld name="Texte + Parag Medium + Browser - 1 col - Grey_2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1479725" y="29800"/>
            <a:ext cx="6184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0" name="Google Shape;280;p35"/>
          <p:cNvSpPr txBox="1"/>
          <p:nvPr>
            <p:ph idx="2" type="body"/>
          </p:nvPr>
        </p:nvSpPr>
        <p:spPr>
          <a:xfrm>
            <a:off x="503042" y="6250"/>
            <a:ext cx="2580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81" name="Google Shape;28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75" y="331801"/>
            <a:ext cx="7993875" cy="530009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/>
          <p:nvPr>
            <p:ph idx="3" type="pic"/>
          </p:nvPr>
        </p:nvSpPr>
        <p:spPr>
          <a:xfrm>
            <a:off x="575075" y="815552"/>
            <a:ext cx="7993800" cy="5021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3 col + Browser">
  <p:cSld name="Texte + Parag Medium + Browser - 1 col - Grey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5" name="Google Shape;285;p36"/>
          <p:cNvSpPr txBox="1"/>
          <p:nvPr>
            <p:ph idx="2" type="body"/>
          </p:nvPr>
        </p:nvSpPr>
        <p:spPr>
          <a:xfrm>
            <a:off x="502542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3" type="body"/>
          </p:nvPr>
        </p:nvSpPr>
        <p:spPr>
          <a:xfrm>
            <a:off x="502542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7" name="Google Shape;287;p36"/>
          <p:cNvSpPr txBox="1"/>
          <p:nvPr>
            <p:ph idx="4" type="body"/>
          </p:nvPr>
        </p:nvSpPr>
        <p:spPr>
          <a:xfrm>
            <a:off x="3311971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36"/>
          <p:cNvSpPr txBox="1"/>
          <p:nvPr>
            <p:ph idx="5" type="body"/>
          </p:nvPr>
        </p:nvSpPr>
        <p:spPr>
          <a:xfrm>
            <a:off x="3311971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9" name="Google Shape;289;p36"/>
          <p:cNvSpPr txBox="1"/>
          <p:nvPr>
            <p:ph idx="6" type="body"/>
          </p:nvPr>
        </p:nvSpPr>
        <p:spPr>
          <a:xfrm>
            <a:off x="6139839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36"/>
          <p:cNvSpPr txBox="1"/>
          <p:nvPr>
            <p:ph idx="7" type="body"/>
          </p:nvPr>
        </p:nvSpPr>
        <p:spPr>
          <a:xfrm>
            <a:off x="6139839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91" name="Google Shape;29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755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6"/>
          <p:cNvSpPr/>
          <p:nvPr>
            <p:ph idx="8" type="pic"/>
          </p:nvPr>
        </p:nvSpPr>
        <p:spPr>
          <a:xfrm>
            <a:off x="560996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3" name="Google Shape;29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8817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6"/>
          <p:cNvSpPr/>
          <p:nvPr>
            <p:ph idx="9" type="pic"/>
          </p:nvPr>
        </p:nvSpPr>
        <p:spPr>
          <a:xfrm>
            <a:off x="3388171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5" name="Google Shape;29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2370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6"/>
          <p:cNvSpPr/>
          <p:nvPr>
            <p:ph idx="13" type="pic"/>
          </p:nvPr>
        </p:nvSpPr>
        <p:spPr>
          <a:xfrm>
            <a:off x="6227146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6"/>
          <p:cNvSpPr txBox="1"/>
          <p:nvPr>
            <p:ph idx="14" type="body"/>
          </p:nvPr>
        </p:nvSpPr>
        <p:spPr>
          <a:xfrm>
            <a:off x="502542" y="561713"/>
            <a:ext cx="61206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>
  <p:cSld name="Titre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0" name="Google Shape;300;p37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vide - entete + pied">
  <p:cSld name="Page vide - entete + pied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Page vide - entete + pied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5" name="Google Shape;305;p39"/>
          <p:cNvSpPr txBox="1"/>
          <p:nvPr>
            <p:ph idx="2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306" name="Google Shape;306;p39"/>
          <p:cNvCxnSpPr/>
          <p:nvPr/>
        </p:nvCxnSpPr>
        <p:spPr>
          <a:xfrm>
            <a:off x="-21679" y="2574141"/>
            <a:ext cx="91806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9"/>
          <p:cNvSpPr txBox="1"/>
          <p:nvPr>
            <p:ph idx="3" type="subTitle"/>
          </p:nvPr>
        </p:nvSpPr>
        <p:spPr>
          <a:xfrm>
            <a:off x="521600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4" type="body"/>
          </p:nvPr>
        </p:nvSpPr>
        <p:spPr>
          <a:xfrm>
            <a:off x="521600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09" name="Google Shape;309;p39"/>
          <p:cNvSpPr txBox="1"/>
          <p:nvPr>
            <p:ph idx="5" type="subTitle"/>
          </p:nvPr>
        </p:nvSpPr>
        <p:spPr>
          <a:xfrm>
            <a:off x="2415350" y="1914675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9"/>
          <p:cNvSpPr txBox="1"/>
          <p:nvPr>
            <p:ph idx="6" type="body"/>
          </p:nvPr>
        </p:nvSpPr>
        <p:spPr>
          <a:xfrm>
            <a:off x="2415350" y="16647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7" type="subTitle"/>
          </p:nvPr>
        </p:nvSpPr>
        <p:spPr>
          <a:xfrm>
            <a:off x="4280300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9"/>
          <p:cNvSpPr txBox="1"/>
          <p:nvPr>
            <p:ph idx="8" type="body"/>
          </p:nvPr>
        </p:nvSpPr>
        <p:spPr>
          <a:xfrm>
            <a:off x="4280300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9" type="subTitle"/>
          </p:nvPr>
        </p:nvSpPr>
        <p:spPr>
          <a:xfrm>
            <a:off x="5869250" y="1914675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39"/>
          <p:cNvSpPr txBox="1"/>
          <p:nvPr>
            <p:ph idx="13" type="body"/>
          </p:nvPr>
        </p:nvSpPr>
        <p:spPr>
          <a:xfrm>
            <a:off x="5869250" y="16647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5" name="Google Shape;315;p39"/>
          <p:cNvSpPr txBox="1"/>
          <p:nvPr>
            <p:ph idx="14" type="subTitle"/>
          </p:nvPr>
        </p:nvSpPr>
        <p:spPr>
          <a:xfrm>
            <a:off x="6972175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39"/>
          <p:cNvSpPr txBox="1"/>
          <p:nvPr>
            <p:ph idx="15" type="body"/>
          </p:nvPr>
        </p:nvSpPr>
        <p:spPr>
          <a:xfrm>
            <a:off x="6972175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1">
  <p:cSld name="Sommaire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/>
          <p:nvPr/>
        </p:nvSpPr>
        <p:spPr>
          <a:xfrm>
            <a:off x="575072" y="1977271"/>
            <a:ext cx="8568928" cy="135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503043" y="632949"/>
            <a:ext cx="8704589" cy="1352913"/>
          </a:xfrm>
          <a:prstGeom prst="rect">
            <a:avLst/>
          </a:prstGeom>
          <a:solidFill>
            <a:srgbClr val="E0E0E0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503043" y="3325053"/>
            <a:ext cx="8704589" cy="1352913"/>
          </a:xfrm>
          <a:prstGeom prst="rect">
            <a:avLst/>
          </a:prstGeom>
          <a:solidFill>
            <a:srgbClr val="E0E0E0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989112" y="770894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2" type="body"/>
          </p:nvPr>
        </p:nvSpPr>
        <p:spPr>
          <a:xfrm>
            <a:off x="989112" y="2089270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3" type="body"/>
          </p:nvPr>
        </p:nvSpPr>
        <p:spPr>
          <a:xfrm>
            <a:off x="989112" y="3433168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idx="4" type="body"/>
          </p:nvPr>
        </p:nvSpPr>
        <p:spPr>
          <a:xfrm>
            <a:off x="989113" y="1038310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idx="5" type="body"/>
          </p:nvPr>
        </p:nvSpPr>
        <p:spPr>
          <a:xfrm>
            <a:off x="989113" y="2356396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40"/>
          <p:cNvSpPr txBox="1"/>
          <p:nvPr>
            <p:ph idx="6" type="body"/>
          </p:nvPr>
        </p:nvSpPr>
        <p:spPr>
          <a:xfrm>
            <a:off x="989113" y="3705991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7" name="Google Shape;327;p40"/>
          <p:cNvSpPr/>
          <p:nvPr>
            <p:ph idx="7" type="pic"/>
          </p:nvPr>
        </p:nvSpPr>
        <p:spPr>
          <a:xfrm>
            <a:off x="6096000" y="-1"/>
            <a:ext cx="3048000" cy="5143499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0"/>
          <p:cNvSpPr txBox="1"/>
          <p:nvPr>
            <p:ph idx="8" type="body"/>
          </p:nvPr>
        </p:nvSpPr>
        <p:spPr>
          <a:xfrm>
            <a:off x="503043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29" name="Google Shape;329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714989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/>
          <p:nvPr/>
        </p:nvSpPr>
        <p:spPr>
          <a:xfrm>
            <a:off x="654782" y="760675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100"/>
          </a:p>
        </p:txBody>
      </p:sp>
      <p:pic>
        <p:nvPicPr>
          <p:cNvPr id="331" name="Google Shape;331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2020014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0"/>
          <p:cNvSpPr/>
          <p:nvPr/>
        </p:nvSpPr>
        <p:spPr>
          <a:xfrm>
            <a:off x="654782" y="2065700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100"/>
          </a:p>
        </p:txBody>
      </p:sp>
      <p:pic>
        <p:nvPicPr>
          <p:cNvPr id="333" name="Google Shape;333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3370714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/>
          <p:nvPr/>
        </p:nvSpPr>
        <p:spPr>
          <a:xfrm>
            <a:off x="654782" y="3416400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10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3 column">
  <p:cSld name="Sommaire3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22600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0125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5075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502541" y="569700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" type="body"/>
          </p:nvPr>
        </p:nvSpPr>
        <p:spPr>
          <a:xfrm>
            <a:off x="980100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3" type="body"/>
          </p:nvPr>
        </p:nvSpPr>
        <p:spPr>
          <a:xfrm>
            <a:off x="980100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4" type="body"/>
          </p:nvPr>
        </p:nvSpPr>
        <p:spPr>
          <a:xfrm>
            <a:off x="3732614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5" type="body"/>
          </p:nvPr>
        </p:nvSpPr>
        <p:spPr>
          <a:xfrm>
            <a:off x="3732614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6" type="body"/>
          </p:nvPr>
        </p:nvSpPr>
        <p:spPr>
          <a:xfrm>
            <a:off x="6485129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5" name="Google Shape;345;p41"/>
          <p:cNvSpPr txBox="1"/>
          <p:nvPr>
            <p:ph idx="7" type="body"/>
          </p:nvPr>
        </p:nvSpPr>
        <p:spPr>
          <a:xfrm>
            <a:off x="6485129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6" name="Google Shape;346;p41"/>
          <p:cNvSpPr txBox="1"/>
          <p:nvPr>
            <p:ph idx="8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41"/>
          <p:cNvSpPr/>
          <p:nvPr/>
        </p:nvSpPr>
        <p:spPr>
          <a:xfrm>
            <a:off x="609957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100"/>
          </a:p>
        </p:txBody>
      </p:sp>
      <p:sp>
        <p:nvSpPr>
          <p:cNvPr id="348" name="Google Shape;348;p41"/>
          <p:cNvSpPr/>
          <p:nvPr/>
        </p:nvSpPr>
        <p:spPr>
          <a:xfrm>
            <a:off x="3357470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100"/>
          </a:p>
        </p:txBody>
      </p:sp>
      <p:sp>
        <p:nvSpPr>
          <p:cNvPr id="349" name="Google Shape;349;p41"/>
          <p:cNvSpPr/>
          <p:nvPr/>
        </p:nvSpPr>
        <p:spPr>
          <a:xfrm>
            <a:off x="6104995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10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2 blocs - 2 col">
  <p:cSld name="Texte - Parag Medium - 2 blocs - 2 col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42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3" name="Google Shape;353;p42"/>
          <p:cNvSpPr txBox="1"/>
          <p:nvPr>
            <p:ph idx="3" type="body"/>
          </p:nvPr>
        </p:nvSpPr>
        <p:spPr>
          <a:xfrm>
            <a:off x="502541" y="1323594"/>
            <a:ext cx="3853955" cy="31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4" name="Google Shape;354;p42"/>
          <p:cNvSpPr txBox="1"/>
          <p:nvPr>
            <p:ph idx="4" type="body"/>
          </p:nvPr>
        </p:nvSpPr>
        <p:spPr>
          <a:xfrm>
            <a:off x="4711471" y="1323594"/>
            <a:ext cx="3853955" cy="31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4 blocs - 2 col">
  <p:cSld name="Texte - parag Medium - 4 blocs - 2 col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7" name="Google Shape;357;p43"/>
          <p:cNvSpPr txBox="1"/>
          <p:nvPr>
            <p:ph idx="2" type="body"/>
          </p:nvPr>
        </p:nvSpPr>
        <p:spPr>
          <a:xfrm>
            <a:off x="502541" y="599312"/>
            <a:ext cx="8569426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43"/>
          <p:cNvSpPr txBox="1"/>
          <p:nvPr>
            <p:ph idx="3" type="body"/>
          </p:nvPr>
        </p:nvSpPr>
        <p:spPr>
          <a:xfrm>
            <a:off x="502541" y="1324237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9" name="Google Shape;359;p43"/>
          <p:cNvSpPr txBox="1"/>
          <p:nvPr>
            <p:ph idx="4" type="body"/>
          </p:nvPr>
        </p:nvSpPr>
        <p:spPr>
          <a:xfrm>
            <a:off x="4711471" y="1324237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43"/>
          <p:cNvSpPr txBox="1"/>
          <p:nvPr>
            <p:ph idx="5" type="body"/>
          </p:nvPr>
        </p:nvSpPr>
        <p:spPr>
          <a:xfrm>
            <a:off x="502541" y="2534884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1" name="Google Shape;361;p43"/>
          <p:cNvSpPr txBox="1"/>
          <p:nvPr>
            <p:ph idx="6" type="body"/>
          </p:nvPr>
        </p:nvSpPr>
        <p:spPr>
          <a:xfrm>
            <a:off x="4711471" y="2534884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4 blocs - 2 col">
  <p:cSld name="Titre + Texte - parag Medium - 4 blocs - 2 col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4" name="Google Shape;364;p44"/>
          <p:cNvSpPr txBox="1"/>
          <p:nvPr>
            <p:ph idx="2" type="body"/>
          </p:nvPr>
        </p:nvSpPr>
        <p:spPr>
          <a:xfrm>
            <a:off x="502541" y="1320270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5" name="Google Shape;365;p44"/>
          <p:cNvSpPr txBox="1"/>
          <p:nvPr>
            <p:ph idx="3" type="body"/>
          </p:nvPr>
        </p:nvSpPr>
        <p:spPr>
          <a:xfrm>
            <a:off x="502541" y="1635838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6" name="Google Shape;366;p44"/>
          <p:cNvSpPr txBox="1"/>
          <p:nvPr>
            <p:ph idx="4" type="body"/>
          </p:nvPr>
        </p:nvSpPr>
        <p:spPr>
          <a:xfrm>
            <a:off x="4711471" y="1320270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7" name="Google Shape;367;p44"/>
          <p:cNvSpPr txBox="1"/>
          <p:nvPr>
            <p:ph idx="5" type="body"/>
          </p:nvPr>
        </p:nvSpPr>
        <p:spPr>
          <a:xfrm>
            <a:off x="4711471" y="1635838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8" name="Google Shape;368;p44"/>
          <p:cNvSpPr txBox="1"/>
          <p:nvPr>
            <p:ph idx="6" type="body"/>
          </p:nvPr>
        </p:nvSpPr>
        <p:spPr>
          <a:xfrm>
            <a:off x="502541" y="3082885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9" name="Google Shape;369;p44"/>
          <p:cNvSpPr txBox="1"/>
          <p:nvPr>
            <p:ph idx="7" type="body"/>
          </p:nvPr>
        </p:nvSpPr>
        <p:spPr>
          <a:xfrm>
            <a:off x="502541" y="3398454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44"/>
          <p:cNvSpPr txBox="1"/>
          <p:nvPr>
            <p:ph idx="8" type="body"/>
          </p:nvPr>
        </p:nvSpPr>
        <p:spPr>
          <a:xfrm>
            <a:off x="4711471" y="3082885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9" type="body"/>
          </p:nvPr>
        </p:nvSpPr>
        <p:spPr>
          <a:xfrm>
            <a:off x="4711471" y="3398454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44"/>
          <p:cNvSpPr txBox="1"/>
          <p:nvPr>
            <p:ph idx="13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Texte - parag Medium - sur-titre - 4 blocs - 2 col">
  <p:cSld name="Titre+Texte - parag Medium - sur-titre - 4 blocs - 2 col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5" name="Google Shape;375;p45"/>
          <p:cNvSpPr txBox="1"/>
          <p:nvPr>
            <p:ph idx="2" type="body"/>
          </p:nvPr>
        </p:nvSpPr>
        <p:spPr>
          <a:xfrm>
            <a:off x="502540" y="6009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45"/>
          <p:cNvSpPr txBox="1"/>
          <p:nvPr>
            <p:ph idx="3" type="body"/>
          </p:nvPr>
        </p:nvSpPr>
        <p:spPr>
          <a:xfrm>
            <a:off x="502541" y="881467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7" name="Google Shape;377;p45"/>
          <p:cNvSpPr txBox="1"/>
          <p:nvPr>
            <p:ph idx="4" type="body"/>
          </p:nvPr>
        </p:nvSpPr>
        <p:spPr>
          <a:xfrm>
            <a:off x="502541" y="11970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8" name="Google Shape;378;p45"/>
          <p:cNvSpPr txBox="1"/>
          <p:nvPr>
            <p:ph idx="5" type="body"/>
          </p:nvPr>
        </p:nvSpPr>
        <p:spPr>
          <a:xfrm>
            <a:off x="4711470" y="6009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9" name="Google Shape;379;p45"/>
          <p:cNvSpPr txBox="1"/>
          <p:nvPr>
            <p:ph idx="6" type="body"/>
          </p:nvPr>
        </p:nvSpPr>
        <p:spPr>
          <a:xfrm>
            <a:off x="4711471" y="881467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0" name="Google Shape;380;p45"/>
          <p:cNvSpPr txBox="1"/>
          <p:nvPr>
            <p:ph idx="7" type="body"/>
          </p:nvPr>
        </p:nvSpPr>
        <p:spPr>
          <a:xfrm>
            <a:off x="4711471" y="11970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1" name="Google Shape;381;p45"/>
          <p:cNvSpPr txBox="1"/>
          <p:nvPr>
            <p:ph idx="8" type="body"/>
          </p:nvPr>
        </p:nvSpPr>
        <p:spPr>
          <a:xfrm>
            <a:off x="502540" y="26583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2" name="Google Shape;382;p45"/>
          <p:cNvSpPr txBox="1"/>
          <p:nvPr>
            <p:ph idx="9" type="body"/>
          </p:nvPr>
        </p:nvSpPr>
        <p:spPr>
          <a:xfrm>
            <a:off x="502541" y="2938868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3" name="Google Shape;383;p45"/>
          <p:cNvSpPr txBox="1"/>
          <p:nvPr>
            <p:ph idx="13" type="body"/>
          </p:nvPr>
        </p:nvSpPr>
        <p:spPr>
          <a:xfrm>
            <a:off x="502541" y="32544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45"/>
          <p:cNvSpPr txBox="1"/>
          <p:nvPr>
            <p:ph idx="14" type="body"/>
          </p:nvPr>
        </p:nvSpPr>
        <p:spPr>
          <a:xfrm>
            <a:off x="4711470" y="26583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5" name="Google Shape;385;p45"/>
          <p:cNvSpPr txBox="1"/>
          <p:nvPr>
            <p:ph idx="15" type="body"/>
          </p:nvPr>
        </p:nvSpPr>
        <p:spPr>
          <a:xfrm>
            <a:off x="4711471" y="2938868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45"/>
          <p:cNvSpPr txBox="1"/>
          <p:nvPr>
            <p:ph idx="16" type="body"/>
          </p:nvPr>
        </p:nvSpPr>
        <p:spPr>
          <a:xfrm>
            <a:off x="4711471" y="32544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Light">
  <p:cSld name="Texte-Exergue-Light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9" name="Google Shape;389;p46"/>
          <p:cNvSpPr txBox="1"/>
          <p:nvPr>
            <p:ph idx="2" type="body"/>
          </p:nvPr>
        </p:nvSpPr>
        <p:spPr>
          <a:xfrm>
            <a:off x="502444" y="619433"/>
            <a:ext cx="8066485" cy="3933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Dark">
  <p:cSld name="Texte-Exergue-Dark">
    <p:bg>
      <p:bgPr>
        <a:solidFill>
          <a:schemeClr val="dk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92" name="Google Shape;392;p47"/>
          <p:cNvSpPr txBox="1"/>
          <p:nvPr>
            <p:ph idx="1" type="body"/>
          </p:nvPr>
        </p:nvSpPr>
        <p:spPr>
          <a:xfrm>
            <a:off x="502444" y="0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3" name="Google Shape;393;p47"/>
          <p:cNvSpPr txBox="1"/>
          <p:nvPr>
            <p:ph idx="2" type="body"/>
          </p:nvPr>
        </p:nvSpPr>
        <p:spPr>
          <a:xfrm>
            <a:off x="502444" y="604684"/>
            <a:ext cx="8066485" cy="3948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94" name="Google Shape;394;p47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Light">
  <p:cSld name="Texte + Parag Medium + Image - 1 col - Ligh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7" name="Google Shape;397;p48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8" name="Google Shape;398;p48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9" name="Google Shape;399;p48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48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Grey">
  <p:cSld name="Texte + Parag Medium + Image - 1 col - Gre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03" name="Google Shape;403;p49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9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5" name="Google Shape;405;p49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6" name="Google Shape;406;p49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7" name="Google Shape;407;p49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8" name="Google Shape;408;p49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Grey">
  <p:cSld name="Texte + Parag Medium + Tablette - 1 col - Gre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11" name="Google Shape;411;p50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0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3" name="Google Shape;413;p50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4" name="Google Shape;414;p50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5" name="Google Shape;415;p50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416" name="Google Shape;41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2852" y="607495"/>
            <a:ext cx="6462551" cy="38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0"/>
          <p:cNvSpPr/>
          <p:nvPr>
            <p:ph idx="5" type="pic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Grey">
  <p:cSld name="Texte + Parag Medium + Laptop - 1 col - Grey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20" name="Google Shape;420;p51"/>
          <p:cNvSpPr/>
          <p:nvPr/>
        </p:nvSpPr>
        <p:spPr>
          <a:xfrm>
            <a:off x="6091525" y="0"/>
            <a:ext cx="3052500" cy="514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1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2" name="Google Shape;422;p51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3" name="Google Shape;423;p51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4" name="Google Shape;424;p51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425" name="Google Shape;42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3733" y="607495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1"/>
          <p:cNvSpPr/>
          <p:nvPr>
            <p:ph idx="5" type="pic"/>
          </p:nvPr>
        </p:nvSpPr>
        <p:spPr>
          <a:xfrm>
            <a:off x="3703179" y="873139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51"/>
          <p:cNvSpPr/>
          <p:nvPr/>
        </p:nvSpPr>
        <p:spPr>
          <a:xfrm>
            <a:off x="3703175" y="669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Light">
  <p:cSld name="Texte + Parag Medium + Browser - 1 col - Light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0" name="Google Shape;430;p52"/>
          <p:cNvSpPr txBox="1"/>
          <p:nvPr>
            <p:ph idx="2" type="body"/>
          </p:nvPr>
        </p:nvSpPr>
        <p:spPr>
          <a:xfrm>
            <a:off x="502542" y="1145676"/>
            <a:ext cx="252304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1" name="Google Shape;431;p52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2" name="Google Shape;432;p52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33" name="Google Shape;43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Dark">
  <p:cSld name="Texte + Parag Medium + Browser - 1 col - Dark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3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7" name="Google Shape;437;p53"/>
          <p:cNvSpPr txBox="1"/>
          <p:nvPr>
            <p:ph idx="2" type="body"/>
          </p:nvPr>
        </p:nvSpPr>
        <p:spPr>
          <a:xfrm>
            <a:off x="502542" y="1145676"/>
            <a:ext cx="252304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8" name="Google Shape;438;p53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9" name="Google Shape;439;p53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40" name="Google Shape;44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urtitre - page vide">
  <p:cSld name="2_Surtitre - page vide">
    <p:bg>
      <p:bgPr>
        <a:solidFill>
          <a:schemeClr val="dk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4"/>
          <p:cNvSpPr txBox="1"/>
          <p:nvPr/>
        </p:nvSpPr>
        <p:spPr>
          <a:xfrm>
            <a:off x="3323630" y="2225501"/>
            <a:ext cx="2496741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</a:t>
            </a:r>
            <a:endParaRPr sz="1100"/>
          </a:p>
        </p:txBody>
      </p:sp>
      <p:sp>
        <p:nvSpPr>
          <p:cNvPr id="443" name="Google Shape;443;p54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4"/>
          <p:cNvSpPr/>
          <p:nvPr/>
        </p:nvSpPr>
        <p:spPr>
          <a:xfrm>
            <a:off x="4063050" y="941250"/>
            <a:ext cx="1017900" cy="1017900"/>
          </a:xfrm>
          <a:prstGeom prst="ellipse">
            <a:avLst/>
          </a:prstGeom>
          <a:solidFill>
            <a:srgbClr val="1041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?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45" name="Google Shape;445;p54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2_Surtitre - page vide_1">
    <p:bg>
      <p:bgPr>
        <a:solidFill>
          <a:schemeClr val="dk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5"/>
          <p:cNvSpPr txBox="1"/>
          <p:nvPr/>
        </p:nvSpPr>
        <p:spPr>
          <a:xfrm>
            <a:off x="498879" y="1012126"/>
            <a:ext cx="24966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  <a:endParaRPr sz="1100"/>
          </a:p>
        </p:txBody>
      </p:sp>
      <p:sp>
        <p:nvSpPr>
          <p:cNvPr id="448" name="Google Shape;448;p55"/>
          <p:cNvSpPr/>
          <p:nvPr/>
        </p:nvSpPr>
        <p:spPr>
          <a:xfrm>
            <a:off x="0" y="4624388"/>
            <a:ext cx="1950000" cy="51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5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5" title="fvae_logo_couleur_inverse@2x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152400" y="-463324"/>
            <a:ext cx="11169725" cy="6070149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5"/>
          <p:cNvSpPr/>
          <p:nvPr/>
        </p:nvSpPr>
        <p:spPr>
          <a:xfrm>
            <a:off x="0" y="310325"/>
            <a:ext cx="167700" cy="436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6"/>
          <p:cNvSpPr txBox="1"/>
          <p:nvPr>
            <p:ph type="title"/>
          </p:nvPr>
        </p:nvSpPr>
        <p:spPr>
          <a:xfrm>
            <a:off x="363390" y="707118"/>
            <a:ext cx="84033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4" name="Google Shape;454;p56"/>
          <p:cNvSpPr txBox="1"/>
          <p:nvPr>
            <p:ph idx="1" type="body"/>
          </p:nvPr>
        </p:nvSpPr>
        <p:spPr>
          <a:xfrm>
            <a:off x="363390" y="1678916"/>
            <a:ext cx="8403300" cy="3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5" name="Google Shape;455;p56"/>
          <p:cNvSpPr txBox="1"/>
          <p:nvPr>
            <p:ph idx="10" type="dt"/>
          </p:nvPr>
        </p:nvSpPr>
        <p:spPr>
          <a:xfrm>
            <a:off x="361305" y="4767263"/>
            <a:ext cx="88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56" name="Google Shape;456;p5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57" name="Google Shape;457;p56"/>
          <p:cNvSpPr txBox="1"/>
          <p:nvPr>
            <p:ph idx="12" type="sldNum"/>
          </p:nvPr>
        </p:nvSpPr>
        <p:spPr>
          <a:xfrm>
            <a:off x="6709194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58" name="Google Shape;458;p56"/>
          <p:cNvSpPr txBox="1"/>
          <p:nvPr>
            <p:ph idx="2" type="body"/>
          </p:nvPr>
        </p:nvSpPr>
        <p:spPr>
          <a:xfrm>
            <a:off x="360759" y="1277541"/>
            <a:ext cx="8420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500"/>
              <a:buNone/>
              <a:defRPr b="1" sz="15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1375" y="327428"/>
            <a:ext cx="78867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Medium"/>
              <a:buNone/>
              <a:defRPr b="0" i="0" sz="24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1375" y="1306325"/>
            <a:ext cx="78867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•"/>
              <a:defRPr i="0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6596895" y="4677965"/>
            <a:ext cx="1972186" cy="465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A869A"/>
              </a:buClr>
              <a:buSzPts val="600"/>
              <a:buFont typeface="Roboto"/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600" u="none" cap="none" strike="noStrike">
              <a:solidFill>
                <a:srgbClr val="7A86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Une image contenant Graphique, graphisme, Police, logo&#10;&#10;Description générée automatiquement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03050" y="4773606"/>
            <a:ext cx="504225" cy="27426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</p:sldLayoutIdLst>
  <mc:AlternateContent>
    <mc:Choice Requires="p14">
      <p:transition p14:dur="2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orient="horz" pos="409">
          <p15:clr>
            <a:srgbClr val="F26B43"/>
          </p15:clr>
        </p15:guide>
        <p15:guide id="3" pos="2880">
          <p15:clr>
            <a:srgbClr val="F26B43"/>
          </p15:clr>
        </p15:guide>
        <p15:guide id="4" pos="2744">
          <p15:clr>
            <a:srgbClr val="F26B43"/>
          </p15:clr>
        </p15:guide>
        <p15:guide id="5" pos="3016">
          <p15:clr>
            <a:srgbClr val="F26B43"/>
          </p15:clr>
        </p15:guide>
        <p15:guide id="6" pos="5398">
          <p15:clr>
            <a:srgbClr val="F26B43"/>
          </p15:clr>
        </p15:guide>
        <p15:guide id="7" orient="horz" pos="191">
          <p15:clr>
            <a:srgbClr val="F26B43"/>
          </p15:clr>
        </p15:guide>
        <p15:guide id="8" orient="horz" pos="2947">
          <p15:clr>
            <a:srgbClr val="F26B43"/>
          </p15:clr>
        </p15:guide>
        <p15:guide id="9" pos="362">
          <p15:clr>
            <a:srgbClr val="F26B43"/>
          </p15:clr>
        </p15:guide>
        <p15:guide id="10" pos="635">
          <p15:clr>
            <a:srgbClr val="F26B43"/>
          </p15:clr>
        </p15:guide>
        <p15:guide id="11" pos="5125">
          <p15:clr>
            <a:srgbClr val="F26B43"/>
          </p15:clr>
        </p15:guide>
        <p15:guide id="12" orient="horz" pos="973">
          <p15:clr>
            <a:srgbClr val="F26B43"/>
          </p15:clr>
        </p15:guide>
        <p15:guide id="13" pos="383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hyperlink" Target="https://docs.google.com/document/d/1ioGGHr-lgG798KKTynZr363_--GTxMGvGcUD6P85Jm0/edit?usp=sharing" TargetMode="External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hyperlink" Target="https://vae.gouv.fr/savoir-plus/articles/espace-certificateurs/" TargetMode="External"/><Relationship Id="rId5" Type="http://schemas.openxmlformats.org/officeDocument/2006/relationships/hyperlink" Target="https://tally.so/r/n05V10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HSp8_mCLJgILtdG6IBDQqK3VNrxMLBjr/view" TargetMode="External"/><Relationship Id="rId4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7"/>
          <p:cNvSpPr txBox="1"/>
          <p:nvPr>
            <p:ph type="ctrTitle"/>
          </p:nvPr>
        </p:nvSpPr>
        <p:spPr>
          <a:xfrm>
            <a:off x="477147" y="2179745"/>
            <a:ext cx="7210500" cy="23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Medium"/>
              <a:buNone/>
            </a:pPr>
            <a:r>
              <a:rPr lang="fr"/>
              <a:t>Initier un projet de VAE collective sur France VAE </a:t>
            </a:r>
            <a:endParaRPr/>
          </a:p>
        </p:txBody>
      </p:sp>
      <p:sp>
        <p:nvSpPr>
          <p:cNvPr id="464" name="Google Shape;464;p57"/>
          <p:cNvSpPr txBox="1"/>
          <p:nvPr>
            <p:ph idx="1" type="subTitle"/>
          </p:nvPr>
        </p:nvSpPr>
        <p:spPr>
          <a:xfrm>
            <a:off x="503191" y="1888825"/>
            <a:ext cx="7184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fr"/>
              <a:t>POINT PROJET</a:t>
            </a:r>
            <a:endParaRPr/>
          </a:p>
        </p:txBody>
      </p:sp>
      <p:sp>
        <p:nvSpPr>
          <p:cNvPr id="465" name="Google Shape;465;p57"/>
          <p:cNvSpPr txBox="1"/>
          <p:nvPr>
            <p:ph idx="2" type="body"/>
          </p:nvPr>
        </p:nvSpPr>
        <p:spPr>
          <a:xfrm>
            <a:off x="575075" y="4684150"/>
            <a:ext cx="3281400" cy="459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Présentation projet interne</a:t>
            </a:r>
            <a:endParaRPr/>
          </a:p>
        </p:txBody>
      </p:sp>
      <p:sp>
        <p:nvSpPr>
          <p:cNvPr id="466" name="Google Shape;466;p57"/>
          <p:cNvSpPr txBox="1"/>
          <p:nvPr/>
        </p:nvSpPr>
        <p:spPr>
          <a:xfrm>
            <a:off x="3585907" y="4677965"/>
            <a:ext cx="1972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A869A"/>
              </a:buClr>
              <a:buSzPts val="600"/>
              <a:buFont typeface="Roboto"/>
              <a:buNone/>
            </a:pPr>
            <a:r>
              <a:rPr lang="fr" sz="6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Mai </a:t>
            </a:r>
            <a:r>
              <a:rPr lang="fr" sz="6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2025</a:t>
            </a:r>
            <a:endParaRPr b="0" i="0" sz="600" u="none" cap="none" strike="noStrike">
              <a:solidFill>
                <a:srgbClr val="7A86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p14:dur="2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8"/>
          <p:cNvSpPr txBox="1"/>
          <p:nvPr>
            <p:ph idx="1" type="body"/>
          </p:nvPr>
        </p:nvSpPr>
        <p:spPr>
          <a:xfrm>
            <a:off x="502550" y="1206104"/>
            <a:ext cx="8066400" cy="181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Bien que la VAE soit un droit individuel, </a:t>
            </a:r>
            <a:br>
              <a:rPr lang="fr"/>
            </a:br>
            <a:r>
              <a:rPr lang="fr"/>
              <a:t>un collectif (entreprises, associations, territoire,etc.)</a:t>
            </a:r>
            <a:br>
              <a:rPr lang="fr"/>
            </a:br>
            <a:r>
              <a:rPr lang="fr"/>
              <a:t>peut l’initier de manière collective, au sein de son organisation, à destination de plusieurs collaborateurs.</a:t>
            </a:r>
            <a:endParaRPr/>
          </a:p>
        </p:txBody>
      </p:sp>
      <p:sp>
        <p:nvSpPr>
          <p:cNvPr id="472" name="Google Shape;472;p58"/>
          <p:cNvSpPr txBox="1"/>
          <p:nvPr>
            <p:ph idx="2" type="body"/>
          </p:nvPr>
        </p:nvSpPr>
        <p:spPr>
          <a:xfrm>
            <a:off x="503039" y="-1501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LA VAE COLLECTIVE, DE QUOI S’AGIT-IL ?</a:t>
            </a:r>
            <a:endParaRPr/>
          </a:p>
        </p:txBody>
      </p:sp>
      <p:sp>
        <p:nvSpPr>
          <p:cNvPr id="473" name="Google Shape;473;p58"/>
          <p:cNvSpPr txBox="1"/>
          <p:nvPr>
            <p:ph idx="3" type="body"/>
          </p:nvPr>
        </p:nvSpPr>
        <p:spPr>
          <a:xfrm>
            <a:off x="502541" y="334922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Faire reconnaître ensemble les parcours et talents d’un groupe</a:t>
            </a:r>
            <a:endParaRPr/>
          </a:p>
        </p:txBody>
      </p:sp>
      <p:sp>
        <p:nvSpPr>
          <p:cNvPr id="474" name="Google Shape;474;p58"/>
          <p:cNvSpPr txBox="1"/>
          <p:nvPr/>
        </p:nvSpPr>
        <p:spPr>
          <a:xfrm>
            <a:off x="498875" y="3800775"/>
            <a:ext cx="3372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Cela ne peut pas être imposé au</a:t>
            </a:r>
            <a:r>
              <a:rPr lang="fr" sz="15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1" lang="fr" sz="15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collaborateur</a:t>
            </a:r>
            <a:r>
              <a:rPr lang="fr" sz="15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fr" sz="15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qui</a:t>
            </a:r>
            <a:r>
              <a:rPr lang="fr" sz="15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1" lang="fr" sz="15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reste libre</a:t>
            </a:r>
            <a:r>
              <a:rPr lang="fr" sz="15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fr" sz="15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de mobiliser ou non ce droit individuel. </a:t>
            </a:r>
            <a:endParaRPr sz="15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58"/>
          <p:cNvSpPr txBox="1"/>
          <p:nvPr/>
        </p:nvSpPr>
        <p:spPr>
          <a:xfrm>
            <a:off x="4495800" y="3800775"/>
            <a:ext cx="3016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Démarche qui peut s’inscrire </a:t>
            </a:r>
            <a:br>
              <a:rPr lang="fr" sz="15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15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dans un </a:t>
            </a:r>
            <a:r>
              <a:rPr b="1" lang="fr" sz="15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plan de développement des compétences</a:t>
            </a:r>
            <a:r>
              <a:rPr lang="fr" sz="15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. </a:t>
            </a:r>
            <a:endParaRPr sz="15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9"/>
          <p:cNvSpPr txBox="1"/>
          <p:nvPr>
            <p:ph idx="5" type="body"/>
          </p:nvPr>
        </p:nvSpPr>
        <p:spPr>
          <a:xfrm>
            <a:off x="502546" y="362525"/>
            <a:ext cx="42849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 outil au service du maintien et de l’évolution dans l’emploi</a:t>
            </a:r>
            <a:endParaRPr/>
          </a:p>
        </p:txBody>
      </p:sp>
      <p:sp>
        <p:nvSpPr>
          <p:cNvPr id="481" name="Google Shape;481;p59"/>
          <p:cNvSpPr/>
          <p:nvPr/>
        </p:nvSpPr>
        <p:spPr>
          <a:xfrm>
            <a:off x="2434850" y="1586300"/>
            <a:ext cx="3942000" cy="11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82" name="Google Shape;482;p59" title="image vae collectiv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8267" r="32214" t="0"/>
          <a:stretch/>
        </p:blipFill>
        <p:spPr>
          <a:xfrm>
            <a:off x="6095125" y="0"/>
            <a:ext cx="30488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9"/>
          <p:cNvSpPr txBox="1"/>
          <p:nvPr/>
        </p:nvSpPr>
        <p:spPr>
          <a:xfrm>
            <a:off x="503049" y="1260975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Acte de reconnaissance fort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84" name="Google Shape;484;p59"/>
          <p:cNvSpPr txBox="1"/>
          <p:nvPr/>
        </p:nvSpPr>
        <p:spPr>
          <a:xfrm>
            <a:off x="503039" y="1500350"/>
            <a:ext cx="5325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en dehors des leviers salariaux classiques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59"/>
          <p:cNvSpPr txBox="1"/>
          <p:nvPr/>
        </p:nvSpPr>
        <p:spPr>
          <a:xfrm>
            <a:off x="503049" y="1877725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Alternative à la formation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86" name="Google Shape;486;p59"/>
          <p:cNvSpPr txBox="1"/>
          <p:nvPr/>
        </p:nvSpPr>
        <p:spPr>
          <a:xfrm>
            <a:off x="503039" y="2137525"/>
            <a:ext cx="5325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dans votre stratégie de GEPP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59"/>
          <p:cNvSpPr txBox="1"/>
          <p:nvPr/>
        </p:nvSpPr>
        <p:spPr>
          <a:xfrm>
            <a:off x="503050" y="3716275"/>
            <a:ext cx="4428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Réduction du temps et du coût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88" name="Google Shape;488;p59"/>
          <p:cNvSpPr txBox="1"/>
          <p:nvPr/>
        </p:nvSpPr>
        <p:spPr>
          <a:xfrm>
            <a:off x="503050" y="3955775"/>
            <a:ext cx="3783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d’accès à la certification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59"/>
          <p:cNvSpPr txBox="1"/>
          <p:nvPr/>
        </p:nvSpPr>
        <p:spPr>
          <a:xfrm>
            <a:off x="503049" y="2500750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Synergie entre candidats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90" name="Google Shape;490;p59"/>
          <p:cNvSpPr txBox="1"/>
          <p:nvPr/>
        </p:nvSpPr>
        <p:spPr>
          <a:xfrm>
            <a:off x="503046" y="2774700"/>
            <a:ext cx="35697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impulsée par la dimension collective du projet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59"/>
          <p:cNvSpPr txBox="1"/>
          <p:nvPr/>
        </p:nvSpPr>
        <p:spPr>
          <a:xfrm>
            <a:off x="502550" y="3055788"/>
            <a:ext cx="3077700" cy="10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Posture réflexive renforcée 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des collaborateurs post VAE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92" name="Google Shape;492;p59"/>
          <p:cNvSpPr txBox="1"/>
          <p:nvPr/>
        </p:nvSpPr>
        <p:spPr>
          <a:xfrm>
            <a:off x="503039" y="-1501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BÉNÉFIQUE POUR L’EMPLOYEUR COMME POUR LE COLLABORATEUR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0"/>
          <p:cNvSpPr txBox="1"/>
          <p:nvPr>
            <p:ph idx="2" type="body"/>
          </p:nvPr>
        </p:nvSpPr>
        <p:spPr>
          <a:xfrm>
            <a:off x="3474300" y="2098600"/>
            <a:ext cx="2195400" cy="56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800"/>
              <a:t>Le cercle vertueux </a:t>
            </a:r>
            <a:br>
              <a:rPr lang="fr" sz="1800"/>
            </a:br>
            <a:r>
              <a:rPr lang="fr" sz="1800"/>
              <a:t>de la VAE collective</a:t>
            </a:r>
            <a:endParaRPr sz="1800"/>
          </a:p>
        </p:txBody>
      </p:sp>
      <p:sp>
        <p:nvSpPr>
          <p:cNvPr id="498" name="Google Shape;498;p60"/>
          <p:cNvSpPr txBox="1"/>
          <p:nvPr>
            <p:ph idx="2" type="body"/>
          </p:nvPr>
        </p:nvSpPr>
        <p:spPr>
          <a:xfrm>
            <a:off x="-7148600" y="-2063025"/>
            <a:ext cx="6459300" cy="1362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1. Valorisation et Reconnaissance des Compétences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Permet de recenser, développer et actualiser les compétences internes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Renforce l'image de marque en valorisant l'expertise des équipes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Améliore la crédibilité de l'entreprise vis-à-vis de l'extérieur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Obtention d'une reconnaissance officielle (diplôme, titre ou certification)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Gain en confiance, fierté et légitimité professionnelle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Valorisation officielle des compétences acquises tout au long du parcours professionnel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2. Fidélisation et Motivation des Collaborateurs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Création d'un cadre de travail où les salariés se projettent sur le long terme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Diminution du turnover et des coûts de recrutement associés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Instauration d'une dynamique positive d'équipe et de coopération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Sentiment d'appartenance renforcé à l'entreprise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Plus grand engagement dans leur mission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Motivation accrue par la reconnaissance de leur valeur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3. Développement de l'Employabilité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Constitution d'un vivier de candidats pour la mobilité interne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Résolution des difficultés de recrutement externe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Adaptation de la main-d'œuvre aux évolutions du marché et aux nouveaux besoins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Sécurisation de leur parcours professionnel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Accès facilité à d'autres dispositifs de formation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Capacité d'adaptation face aux évolutions du marché du travail et à l'allongement de la vie professionnelle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4. Optimisation de la Gestion des Ressources Humaines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Outil efficace de gestion prévisionnelle des emplois et des compétences (GPEC)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Cartographie complète des compétences disponibles dans l'organisation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Visibilité sur les compétences en sommeil qui peuvent être réactivées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Redécouverte de l'ensemble de leurs expertises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Prise de recul sur les évolutions de leur métier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Projection vers de nouvelles responsabilités futures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5. Renforcement de la Cohésion et de l'Intelligence Collective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Création d'un "esprit de promotion" qui favorise le partage d'expériences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Développement d'une culture d'apprentissage continu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Émulation positive entre les collaborateurs qui limite les abandons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Partage d'expériences enrichissant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Soutien mutuel et entraide entre participants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Réduction du sentiment d'isolement qui peut exister dans une démarche individuelle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6. Optimisation des Coûts et Ressources de Formation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Réduction de la durée et des coûts des formations traditionnelles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Possibilité de coupler la VAE avec d'autres dispositifs de formation (VAE hybride)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Financement possible par les OPCO pour les entreprises de moins de 50 salariés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Formation reconnue sans devoir s'absenter longuement de leur poste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Valorisation de l'expérience déjà acquise plutôt que de repartir de zéro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Accès à une certification sans suivre un cursus complet de formation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7. Contribution au Dialogue Social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l'entreprise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Instrument au service du dialogue social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Démonstration de l'engagement de l'entreprise envers le développement professionnel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Amélioration des relations avec les partenaires sociaux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800"/>
              <a:t>Pour les salariés :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Reconnaissance de leur contribution à l'entreprise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Meilleure transparence sur les parcours d'évolution possibles</a:t>
            </a:r>
            <a:endParaRPr b="0" sz="800"/>
          </a:p>
          <a:p>
            <a:pPr indent="-279400" lvl="0" marL="457200" rtl="0" algn="l">
              <a:spcBef>
                <a:spcPts val="800"/>
              </a:spcBef>
              <a:spcAft>
                <a:spcPts val="0"/>
              </a:spcAft>
              <a:buSzPts val="800"/>
              <a:buChar char="●"/>
            </a:pPr>
            <a:r>
              <a:rPr b="0" lang="fr" sz="800"/>
              <a:t>Inclusion dans la stratégie de développement de l'entreprise</a:t>
            </a:r>
            <a:endParaRPr b="0" sz="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sz="800"/>
          </a:p>
        </p:txBody>
      </p:sp>
      <p:grpSp>
        <p:nvGrpSpPr>
          <p:cNvPr id="499" name="Google Shape;499;p60"/>
          <p:cNvGrpSpPr/>
          <p:nvPr/>
        </p:nvGrpSpPr>
        <p:grpSpPr>
          <a:xfrm>
            <a:off x="2532678" y="303879"/>
            <a:ext cx="4078634" cy="4078914"/>
            <a:chOff x="3712400" y="-5826350"/>
            <a:chExt cx="2550900" cy="2551075"/>
          </a:xfrm>
        </p:grpSpPr>
        <p:sp>
          <p:nvSpPr>
            <p:cNvPr id="500" name="Google Shape;500;p60"/>
            <p:cNvSpPr/>
            <p:nvPr/>
          </p:nvSpPr>
          <p:spPr>
            <a:xfrm rot="-5400000">
              <a:off x="3712400" y="-5826350"/>
              <a:ext cx="2550900" cy="2550900"/>
            </a:xfrm>
            <a:prstGeom prst="blockArc">
              <a:avLst>
                <a:gd fmla="val 10800000" name="adj1"/>
                <a:gd fmla="val 4642" name="adj2"/>
                <a:gd fmla="val 17340" name="adj3"/>
              </a:avLst>
            </a:prstGeom>
            <a:solidFill>
              <a:srgbClr val="295F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01" name="Google Shape;501;p60"/>
            <p:cNvSpPr/>
            <p:nvPr/>
          </p:nvSpPr>
          <p:spPr>
            <a:xfrm rot="5400000">
              <a:off x="3712400" y="-5826350"/>
              <a:ext cx="2550900" cy="2550900"/>
            </a:xfrm>
            <a:prstGeom prst="blockArc">
              <a:avLst>
                <a:gd fmla="val 10840237" name="adj1"/>
                <a:gd fmla="val 122065" name="adj2"/>
                <a:gd fmla="val 17534" name="adj3"/>
              </a:avLst>
            </a:prstGeom>
            <a:solidFill>
              <a:srgbClr val="104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02" name="Google Shape;502;p60"/>
            <p:cNvSpPr/>
            <p:nvPr/>
          </p:nvSpPr>
          <p:spPr>
            <a:xfrm>
              <a:off x="4731075" y="-3718675"/>
              <a:ext cx="443400" cy="443400"/>
            </a:xfrm>
            <a:prstGeom prst="ellipse">
              <a:avLst/>
            </a:prstGeom>
            <a:solidFill>
              <a:srgbClr val="104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03" name="Google Shape;503;p60"/>
            <p:cNvSpPr/>
            <p:nvPr/>
          </p:nvSpPr>
          <p:spPr>
            <a:xfrm>
              <a:off x="4759642" y="-5826350"/>
              <a:ext cx="443400" cy="443400"/>
            </a:xfrm>
            <a:prstGeom prst="ellipse">
              <a:avLst/>
            </a:prstGeom>
            <a:solidFill>
              <a:srgbClr val="295F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504" name="Google Shape;504;p60"/>
          <p:cNvSpPr/>
          <p:nvPr/>
        </p:nvSpPr>
        <p:spPr>
          <a:xfrm>
            <a:off x="1188150" y="2505524"/>
            <a:ext cx="18153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Dialogue social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Créer une dynamique</a:t>
            </a:r>
            <a:b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collective positive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5" name="Google Shape;505;p60"/>
          <p:cNvSpPr/>
          <p:nvPr/>
        </p:nvSpPr>
        <p:spPr>
          <a:xfrm>
            <a:off x="1618000" y="649100"/>
            <a:ext cx="16767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Reconnaissance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Valoriser l’expérience acquise par vos collaborateurs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6" name="Google Shape;506;p60"/>
          <p:cNvSpPr/>
          <p:nvPr/>
        </p:nvSpPr>
        <p:spPr>
          <a:xfrm>
            <a:off x="5828500" y="649100"/>
            <a:ext cx="18153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Fidélisation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Renforcer l’engagement et réduire le turnover</a:t>
            </a:r>
            <a:endParaRPr>
              <a:solidFill>
                <a:srgbClr val="1041BE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07" name="Google Shape;507;p60"/>
          <p:cNvSpPr/>
          <p:nvPr/>
        </p:nvSpPr>
        <p:spPr>
          <a:xfrm>
            <a:off x="6140650" y="2505525"/>
            <a:ext cx="2428200" cy="1095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Sécurisation des parcours professionnels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L’accès à la certification favorise le maintien de l’employabilité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60"/>
          <p:cNvSpPr/>
          <p:nvPr/>
        </p:nvSpPr>
        <p:spPr>
          <a:xfrm>
            <a:off x="3664400" y="3932006"/>
            <a:ext cx="18153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Marque employeur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Attirer et retenir les talents en instaurant une culture de la reconnaissance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1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étapes-clés </a:t>
            </a:r>
            <a:br>
              <a:rPr lang="fr"/>
            </a:br>
            <a:r>
              <a:rPr lang="fr"/>
              <a:t>d’une VAE collective</a:t>
            </a:r>
            <a:endParaRPr/>
          </a:p>
        </p:txBody>
      </p:sp>
      <p:sp>
        <p:nvSpPr>
          <p:cNvPr id="514" name="Google Shape;514;p61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61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</a:t>
            </a:r>
            <a:endParaRPr/>
          </a:p>
        </p:txBody>
      </p:sp>
    </p:spTree>
  </p:cSld>
  <p:clrMapOvr>
    <a:masterClrMapping/>
  </p:clrMapOvr>
  <mc:AlternateContent>
    <mc:Choice Requires="p14">
      <p:transition p14:dur="2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"/>
          <p:cNvSpPr txBox="1"/>
          <p:nvPr>
            <p:ph idx="4294967295" type="body"/>
          </p:nvPr>
        </p:nvSpPr>
        <p:spPr>
          <a:xfrm>
            <a:off x="502550" y="362525"/>
            <a:ext cx="83601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Bien se préparer avant de démarrer le projet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62"/>
          <p:cNvSpPr txBox="1"/>
          <p:nvPr>
            <p:ph idx="4294967295" type="body"/>
          </p:nvPr>
        </p:nvSpPr>
        <p:spPr>
          <a:xfrm>
            <a:off x="575075" y="1677450"/>
            <a:ext cx="3781500" cy="124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Cibler les typologies d’emploi en lien avec vos enjeux RH ou GEPP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Identifier les certifications pertinentes au regard des compétences internes et des perspectives de l’entreprise</a:t>
            </a:r>
            <a:endParaRPr sz="1200"/>
          </a:p>
        </p:txBody>
      </p:sp>
      <p:sp>
        <p:nvSpPr>
          <p:cNvPr id="522" name="Google Shape;522;p62"/>
          <p:cNvSpPr txBox="1"/>
          <p:nvPr>
            <p:ph idx="2" type="body"/>
          </p:nvPr>
        </p:nvSpPr>
        <p:spPr>
          <a:xfrm>
            <a:off x="575081" y="3297575"/>
            <a:ext cx="3114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041BE"/>
                </a:solidFill>
              </a:rPr>
              <a:t>Sensibiliser et mobiliser</a:t>
            </a:r>
            <a:endParaRPr b="1" sz="1600">
              <a:solidFill>
                <a:srgbClr val="1041BE"/>
              </a:solidFill>
            </a:endParaRPr>
          </a:p>
        </p:txBody>
      </p:sp>
      <p:sp>
        <p:nvSpPr>
          <p:cNvPr id="523" name="Google Shape;523;p62"/>
          <p:cNvSpPr txBox="1"/>
          <p:nvPr>
            <p:ph idx="4294967295" type="body"/>
          </p:nvPr>
        </p:nvSpPr>
        <p:spPr>
          <a:xfrm>
            <a:off x="575075" y="3613150"/>
            <a:ext cx="3114600" cy="849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Informer les collaborateurs sur leurs droits et le parcours proposé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Impliquer les managers de proximité et les partenaires sociaux</a:t>
            </a:r>
            <a:endParaRPr sz="1200"/>
          </a:p>
        </p:txBody>
      </p:sp>
      <p:sp>
        <p:nvSpPr>
          <p:cNvPr id="524" name="Google Shape;524;p62"/>
          <p:cNvSpPr txBox="1"/>
          <p:nvPr>
            <p:ph idx="2" type="body"/>
          </p:nvPr>
        </p:nvSpPr>
        <p:spPr>
          <a:xfrm>
            <a:off x="4787529" y="1350975"/>
            <a:ext cx="37113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041BE"/>
                </a:solidFill>
              </a:rPr>
              <a:t>Organiser la mise en oeuvre </a:t>
            </a:r>
            <a:endParaRPr b="1" sz="1600">
              <a:solidFill>
                <a:srgbClr val="1041BE"/>
              </a:solidFill>
            </a:endParaRPr>
          </a:p>
        </p:txBody>
      </p:sp>
      <p:sp>
        <p:nvSpPr>
          <p:cNvPr id="525" name="Google Shape;525;p62"/>
          <p:cNvSpPr txBox="1"/>
          <p:nvPr>
            <p:ph idx="4294967295" type="body"/>
          </p:nvPr>
        </p:nvSpPr>
        <p:spPr>
          <a:xfrm>
            <a:off x="4787525" y="1666086"/>
            <a:ext cx="3781500" cy="147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Prévoir les besoins logistiques (salles, plannings…)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Anticiper les aménagements d’emploi du temps (remplacements, plages libérées)</a:t>
            </a:r>
            <a:endParaRPr sz="1200"/>
          </a:p>
        </p:txBody>
      </p:sp>
      <p:sp>
        <p:nvSpPr>
          <p:cNvPr id="526" name="Google Shape;526;p62"/>
          <p:cNvSpPr txBox="1"/>
          <p:nvPr>
            <p:ph idx="2" type="body"/>
          </p:nvPr>
        </p:nvSpPr>
        <p:spPr>
          <a:xfrm>
            <a:off x="4787529" y="3297580"/>
            <a:ext cx="2980200" cy="450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041BE"/>
                </a:solidFill>
              </a:rPr>
              <a:t>Sécuriser le financement </a:t>
            </a:r>
            <a:br>
              <a:rPr b="1" lang="fr" sz="1600">
                <a:solidFill>
                  <a:srgbClr val="1041BE"/>
                </a:solidFill>
              </a:rPr>
            </a:br>
            <a:r>
              <a:rPr b="1" lang="fr" sz="1600">
                <a:solidFill>
                  <a:srgbClr val="1041BE"/>
                </a:solidFill>
              </a:rPr>
              <a:t>et la reconnaissance</a:t>
            </a:r>
            <a:endParaRPr b="1" sz="1600">
              <a:solidFill>
                <a:srgbClr val="1041BE"/>
              </a:solidFill>
            </a:endParaRPr>
          </a:p>
        </p:txBody>
      </p:sp>
      <p:sp>
        <p:nvSpPr>
          <p:cNvPr id="527" name="Google Shape;527;p62"/>
          <p:cNvSpPr txBox="1"/>
          <p:nvPr>
            <p:ph idx="4294967295" type="body"/>
          </p:nvPr>
        </p:nvSpPr>
        <p:spPr>
          <a:xfrm>
            <a:off x="4787525" y="3827279"/>
            <a:ext cx="3532500" cy="97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Identifier les financements mobilisables (OPCO, entreprise, autres)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Définir les modalités de reconnaissance des certifications obtenues</a:t>
            </a:r>
            <a:endParaRPr sz="1200"/>
          </a:p>
        </p:txBody>
      </p:sp>
      <p:sp>
        <p:nvSpPr>
          <p:cNvPr id="528" name="Google Shape;528;p62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LES ÉTAPES-CLÉS D’UNE VAE COLLECTIVE</a:t>
            </a:r>
            <a:endParaRPr/>
          </a:p>
        </p:txBody>
      </p:sp>
      <p:sp>
        <p:nvSpPr>
          <p:cNvPr id="529" name="Google Shape;529;p62"/>
          <p:cNvSpPr txBox="1"/>
          <p:nvPr>
            <p:ph idx="2" type="body"/>
          </p:nvPr>
        </p:nvSpPr>
        <p:spPr>
          <a:xfrm>
            <a:off x="575078" y="1350963"/>
            <a:ext cx="34863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041BE"/>
                </a:solidFill>
              </a:rPr>
              <a:t>Identifier les bons leviers internes</a:t>
            </a:r>
            <a:endParaRPr b="1" sz="1600">
              <a:solidFill>
                <a:srgbClr val="1041BE"/>
              </a:solidFill>
            </a:endParaRPr>
          </a:p>
        </p:txBody>
      </p:sp>
    </p:spTree>
  </p:cSld>
  <p:clrMapOvr>
    <a:masterClrMapping/>
  </p:clrMapOvr>
  <mc:AlternateContent>
    <mc:Choice Requires="p14">
      <p:transition p14:dur="1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3"/>
          <p:cNvSpPr txBox="1"/>
          <p:nvPr>
            <p:ph idx="2" type="body"/>
          </p:nvPr>
        </p:nvSpPr>
        <p:spPr>
          <a:xfrm>
            <a:off x="502541" y="360587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 parcours simplifié et balisé via la plateforme France VAE</a:t>
            </a:r>
            <a:endParaRPr/>
          </a:p>
        </p:txBody>
      </p:sp>
      <p:sp>
        <p:nvSpPr>
          <p:cNvPr id="535" name="Google Shape;535;p63"/>
          <p:cNvSpPr txBox="1"/>
          <p:nvPr>
            <p:ph idx="3" type="subTitle"/>
          </p:nvPr>
        </p:nvSpPr>
        <p:spPr>
          <a:xfrm>
            <a:off x="64400" y="2935300"/>
            <a:ext cx="1744500" cy="316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79D61"/>
                </a:solidFill>
              </a:rPr>
              <a:t>Lancement projet </a:t>
            </a:r>
            <a:endParaRPr>
              <a:solidFill>
                <a:srgbClr val="E79D61"/>
              </a:solidFill>
            </a:endParaRPr>
          </a:p>
        </p:txBody>
      </p:sp>
      <p:sp>
        <p:nvSpPr>
          <p:cNvPr id="536" name="Google Shape;536;p63"/>
          <p:cNvSpPr txBox="1"/>
          <p:nvPr>
            <p:ph idx="5" type="subTitle"/>
          </p:nvPr>
        </p:nvSpPr>
        <p:spPr>
          <a:xfrm>
            <a:off x="934175" y="1609875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79D61"/>
                </a:solidFill>
              </a:rPr>
              <a:t>Appel à candidature</a:t>
            </a:r>
            <a:endParaRPr>
              <a:solidFill>
                <a:srgbClr val="E79D61"/>
              </a:solidFill>
            </a:endParaRPr>
          </a:p>
        </p:txBody>
      </p:sp>
      <p:sp>
        <p:nvSpPr>
          <p:cNvPr id="537" name="Google Shape;537;p63"/>
          <p:cNvSpPr txBox="1"/>
          <p:nvPr>
            <p:ph idx="7" type="subTitle"/>
          </p:nvPr>
        </p:nvSpPr>
        <p:spPr>
          <a:xfrm>
            <a:off x="6262925" y="1587250"/>
            <a:ext cx="2597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Suivi de l’accompagnement 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38" name="Google Shape;538;p63"/>
          <p:cNvSpPr txBox="1"/>
          <p:nvPr>
            <p:ph idx="9" type="subTitle"/>
          </p:nvPr>
        </p:nvSpPr>
        <p:spPr>
          <a:xfrm>
            <a:off x="4885075" y="2852225"/>
            <a:ext cx="1404300" cy="48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Dépôt dossiers &amp; calendrier </a:t>
            </a:r>
            <a:endParaRPr>
              <a:solidFill>
                <a:srgbClr val="1041BE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39" name="Google Shape;539;p63"/>
          <p:cNvSpPr txBox="1"/>
          <p:nvPr>
            <p:ph idx="14" type="subTitle"/>
          </p:nvPr>
        </p:nvSpPr>
        <p:spPr>
          <a:xfrm>
            <a:off x="7839475" y="2808675"/>
            <a:ext cx="2066700" cy="290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79D61"/>
                </a:solidFill>
              </a:rPr>
              <a:t>Jury  </a:t>
            </a:r>
            <a:endParaRPr>
              <a:solidFill>
                <a:srgbClr val="E79D61"/>
              </a:solidFill>
            </a:endParaRPr>
          </a:p>
        </p:txBody>
      </p:sp>
      <p:pic>
        <p:nvPicPr>
          <p:cNvPr id="540" name="Google Shape;540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405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994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583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63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312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63"/>
          <p:cNvSpPr txBox="1"/>
          <p:nvPr>
            <p:ph idx="3" type="subTitle"/>
          </p:nvPr>
        </p:nvSpPr>
        <p:spPr>
          <a:xfrm>
            <a:off x="64400" y="3164675"/>
            <a:ext cx="1972500" cy="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Ciblage des typologies d’emploi et certifications…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3"/>
          <p:cNvSpPr txBox="1"/>
          <p:nvPr>
            <p:ph idx="6" type="body"/>
          </p:nvPr>
        </p:nvSpPr>
        <p:spPr>
          <a:xfrm>
            <a:off x="934175" y="1817175"/>
            <a:ext cx="1744500" cy="210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Sur la base du volontariat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3"/>
          <p:cNvSpPr txBox="1"/>
          <p:nvPr>
            <p:ph idx="8" type="body"/>
          </p:nvPr>
        </p:nvSpPr>
        <p:spPr>
          <a:xfrm>
            <a:off x="4872850" y="3275898"/>
            <a:ext cx="19218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Accès aux dates et infos clefs (avis recevabilité, dates jury..)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3"/>
          <p:cNvSpPr txBox="1"/>
          <p:nvPr>
            <p:ph idx="3" type="subTitle"/>
          </p:nvPr>
        </p:nvSpPr>
        <p:spPr>
          <a:xfrm>
            <a:off x="7823900" y="3018174"/>
            <a:ext cx="1490100" cy="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Accès aux résultats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8" name="Google Shape;548;p63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7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63"/>
          <p:cNvSpPr/>
          <p:nvPr/>
        </p:nvSpPr>
        <p:spPr>
          <a:xfrm>
            <a:off x="5407349" y="2407939"/>
            <a:ext cx="237392" cy="290146"/>
          </a:xfrm>
          <a:custGeom>
            <a:rect b="b" l="l" r="r" t="t"/>
            <a:pathLst>
              <a:path extrusionOk="0" h="386861" w="316523">
                <a:moveTo>
                  <a:pt x="200025" y="24179"/>
                </a:moveTo>
                <a:lnTo>
                  <a:pt x="59348" y="24179"/>
                </a:lnTo>
                <a:cubicBezTo>
                  <a:pt x="40005" y="24179"/>
                  <a:pt x="24355" y="40005"/>
                  <a:pt x="24355" y="59348"/>
                </a:cubicBezTo>
                <a:lnTo>
                  <a:pt x="24179" y="340702"/>
                </a:lnTo>
                <a:cubicBezTo>
                  <a:pt x="24179" y="360045"/>
                  <a:pt x="39829" y="375871"/>
                  <a:pt x="59172" y="375871"/>
                </a:cubicBezTo>
                <a:lnTo>
                  <a:pt x="270364" y="375871"/>
                </a:lnTo>
                <a:cubicBezTo>
                  <a:pt x="289707" y="375871"/>
                  <a:pt x="305533" y="360045"/>
                  <a:pt x="305533" y="340702"/>
                </a:cubicBezTo>
                <a:lnTo>
                  <a:pt x="305533" y="129687"/>
                </a:lnTo>
                <a:lnTo>
                  <a:pt x="200025" y="24179"/>
                </a:lnTo>
                <a:close/>
                <a:moveTo>
                  <a:pt x="59348" y="340702"/>
                </a:moveTo>
                <a:lnTo>
                  <a:pt x="59348" y="59348"/>
                </a:lnTo>
                <a:lnTo>
                  <a:pt x="182440" y="59348"/>
                </a:lnTo>
                <a:lnTo>
                  <a:pt x="182440" y="147271"/>
                </a:lnTo>
                <a:lnTo>
                  <a:pt x="270364" y="147271"/>
                </a:lnTo>
                <a:lnTo>
                  <a:pt x="270364" y="340702"/>
                </a:lnTo>
                <a:lnTo>
                  <a:pt x="59348" y="34070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0" name="Google Shape;550;p63"/>
          <p:cNvSpPr/>
          <p:nvPr/>
        </p:nvSpPr>
        <p:spPr>
          <a:xfrm>
            <a:off x="7990955" y="4071153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p63"/>
          <p:cNvSpPr/>
          <p:nvPr/>
        </p:nvSpPr>
        <p:spPr>
          <a:xfrm>
            <a:off x="195497" y="2407939"/>
            <a:ext cx="276958" cy="290146"/>
          </a:xfrm>
          <a:custGeom>
            <a:rect b="b" l="l" r="r" t="t"/>
            <a:pathLst>
              <a:path extrusionOk="0" h="386861" w="369277">
                <a:moveTo>
                  <a:pt x="358287" y="270364"/>
                </a:moveTo>
                <a:lnTo>
                  <a:pt x="358287" y="235194"/>
                </a:lnTo>
                <a:lnTo>
                  <a:pt x="217610" y="147271"/>
                </a:lnTo>
                <a:lnTo>
                  <a:pt x="217610" y="50556"/>
                </a:lnTo>
                <a:cubicBezTo>
                  <a:pt x="217610" y="35961"/>
                  <a:pt x="205828" y="24179"/>
                  <a:pt x="191233" y="24179"/>
                </a:cubicBezTo>
                <a:cubicBezTo>
                  <a:pt x="176638" y="24179"/>
                  <a:pt x="164856" y="35961"/>
                  <a:pt x="164856" y="50556"/>
                </a:cubicBezTo>
                <a:lnTo>
                  <a:pt x="164856" y="147271"/>
                </a:lnTo>
                <a:lnTo>
                  <a:pt x="24179" y="235194"/>
                </a:lnTo>
                <a:lnTo>
                  <a:pt x="24179" y="270364"/>
                </a:lnTo>
                <a:lnTo>
                  <a:pt x="164856" y="226402"/>
                </a:lnTo>
                <a:lnTo>
                  <a:pt x="164856" y="323118"/>
                </a:lnTo>
                <a:lnTo>
                  <a:pt x="129687" y="349494"/>
                </a:lnTo>
                <a:lnTo>
                  <a:pt x="129687" y="375871"/>
                </a:lnTo>
                <a:lnTo>
                  <a:pt x="191233" y="358287"/>
                </a:lnTo>
                <a:lnTo>
                  <a:pt x="252779" y="375871"/>
                </a:lnTo>
                <a:lnTo>
                  <a:pt x="252779" y="349494"/>
                </a:lnTo>
                <a:lnTo>
                  <a:pt x="217610" y="323118"/>
                </a:lnTo>
                <a:lnTo>
                  <a:pt x="217610" y="226402"/>
                </a:lnTo>
                <a:lnTo>
                  <a:pt x="358287" y="2703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2" name="Google Shape;552;p63"/>
          <p:cNvSpPr/>
          <p:nvPr/>
        </p:nvSpPr>
        <p:spPr>
          <a:xfrm>
            <a:off x="3969404" y="2407958"/>
            <a:ext cx="237392" cy="237392"/>
          </a:xfrm>
          <a:custGeom>
            <a:rect b="b" l="l" r="r" t="t"/>
            <a:pathLst>
              <a:path extrusionOk="0" h="316523" w="316523">
                <a:moveTo>
                  <a:pt x="164856" y="59348"/>
                </a:moveTo>
                <a:cubicBezTo>
                  <a:pt x="184199" y="59348"/>
                  <a:pt x="200025" y="75174"/>
                  <a:pt x="200025" y="94517"/>
                </a:cubicBezTo>
                <a:cubicBezTo>
                  <a:pt x="200025" y="113860"/>
                  <a:pt x="184199" y="129687"/>
                  <a:pt x="164856" y="129687"/>
                </a:cubicBezTo>
                <a:cubicBezTo>
                  <a:pt x="145513" y="129687"/>
                  <a:pt x="129687" y="113860"/>
                  <a:pt x="129687" y="94517"/>
                </a:cubicBezTo>
                <a:cubicBezTo>
                  <a:pt x="129687" y="75174"/>
                  <a:pt x="145513" y="59348"/>
                  <a:pt x="164856" y="59348"/>
                </a:cubicBezTo>
                <a:moveTo>
                  <a:pt x="164856" y="235194"/>
                </a:moveTo>
                <a:cubicBezTo>
                  <a:pt x="212334" y="235194"/>
                  <a:pt x="266847" y="257879"/>
                  <a:pt x="270364" y="270364"/>
                </a:cubicBezTo>
                <a:lnTo>
                  <a:pt x="59348" y="270364"/>
                </a:lnTo>
                <a:cubicBezTo>
                  <a:pt x="63393" y="257703"/>
                  <a:pt x="117553" y="235194"/>
                  <a:pt x="164856" y="235194"/>
                </a:cubicBezTo>
                <a:moveTo>
                  <a:pt x="164856" y="24179"/>
                </a:moveTo>
                <a:cubicBezTo>
                  <a:pt x="125994" y="24179"/>
                  <a:pt x="94517" y="55655"/>
                  <a:pt x="94517" y="94517"/>
                </a:cubicBezTo>
                <a:cubicBezTo>
                  <a:pt x="94517" y="133379"/>
                  <a:pt x="125994" y="164856"/>
                  <a:pt x="164856" y="164856"/>
                </a:cubicBezTo>
                <a:cubicBezTo>
                  <a:pt x="203718" y="164856"/>
                  <a:pt x="235194" y="133379"/>
                  <a:pt x="235194" y="94517"/>
                </a:cubicBezTo>
                <a:cubicBezTo>
                  <a:pt x="235194" y="55655"/>
                  <a:pt x="203718" y="24179"/>
                  <a:pt x="164856" y="24179"/>
                </a:cubicBezTo>
                <a:close/>
                <a:moveTo>
                  <a:pt x="164856" y="200025"/>
                </a:moveTo>
                <a:cubicBezTo>
                  <a:pt x="117905" y="200025"/>
                  <a:pt x="24179" y="223589"/>
                  <a:pt x="24179" y="270364"/>
                </a:cubicBezTo>
                <a:lnTo>
                  <a:pt x="24179" y="305533"/>
                </a:lnTo>
                <a:lnTo>
                  <a:pt x="305533" y="305533"/>
                </a:lnTo>
                <a:lnTo>
                  <a:pt x="305533" y="270364"/>
                </a:lnTo>
                <a:cubicBezTo>
                  <a:pt x="305533" y="223589"/>
                  <a:pt x="211807" y="200025"/>
                  <a:pt x="164856" y="2000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3" name="Google Shape;553;p63"/>
          <p:cNvSpPr/>
          <p:nvPr/>
        </p:nvSpPr>
        <p:spPr>
          <a:xfrm>
            <a:off x="6806865" y="2447504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4" name="Google Shape;554;p63"/>
          <p:cNvSpPr txBox="1"/>
          <p:nvPr>
            <p:ph idx="6" type="body"/>
          </p:nvPr>
        </p:nvSpPr>
        <p:spPr>
          <a:xfrm>
            <a:off x="6277625" y="1825467"/>
            <a:ext cx="17445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Suivi de l’avancement des parcours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5" name="Google Shape;555;p63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16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63"/>
          <p:cNvSpPr/>
          <p:nvPr/>
        </p:nvSpPr>
        <p:spPr>
          <a:xfrm>
            <a:off x="1386192" y="2433279"/>
            <a:ext cx="290146" cy="276958"/>
          </a:xfrm>
          <a:custGeom>
            <a:rect b="b" l="l" r="r" t="t"/>
            <a:pathLst>
              <a:path extrusionOk="0" h="369277" w="386861">
                <a:moveTo>
                  <a:pt x="279156" y="24179"/>
                </a:moveTo>
                <a:cubicBezTo>
                  <a:pt x="248559" y="24179"/>
                  <a:pt x="219192" y="38422"/>
                  <a:pt x="200025" y="60931"/>
                </a:cubicBezTo>
                <a:cubicBezTo>
                  <a:pt x="180858" y="38422"/>
                  <a:pt x="151492" y="24179"/>
                  <a:pt x="120894" y="24179"/>
                </a:cubicBezTo>
                <a:cubicBezTo>
                  <a:pt x="66734" y="24179"/>
                  <a:pt x="24179" y="66734"/>
                  <a:pt x="24179" y="120894"/>
                </a:cubicBezTo>
                <a:cubicBezTo>
                  <a:pt x="24179" y="187364"/>
                  <a:pt x="83967" y="241525"/>
                  <a:pt x="174527" y="323821"/>
                </a:cubicBezTo>
                <a:lnTo>
                  <a:pt x="200025" y="346857"/>
                </a:lnTo>
                <a:lnTo>
                  <a:pt x="225523" y="323645"/>
                </a:lnTo>
                <a:cubicBezTo>
                  <a:pt x="316084" y="241525"/>
                  <a:pt x="375871" y="187364"/>
                  <a:pt x="375871" y="120894"/>
                </a:cubicBezTo>
                <a:cubicBezTo>
                  <a:pt x="375871" y="66734"/>
                  <a:pt x="333317" y="24179"/>
                  <a:pt x="279156" y="24179"/>
                </a:cubicBezTo>
                <a:close/>
                <a:moveTo>
                  <a:pt x="201784" y="297620"/>
                </a:moveTo>
                <a:lnTo>
                  <a:pt x="200025" y="299378"/>
                </a:lnTo>
                <a:lnTo>
                  <a:pt x="198267" y="297620"/>
                </a:lnTo>
                <a:cubicBezTo>
                  <a:pt x="114564" y="221830"/>
                  <a:pt x="59348" y="171714"/>
                  <a:pt x="59348" y="120894"/>
                </a:cubicBezTo>
                <a:cubicBezTo>
                  <a:pt x="59348" y="85725"/>
                  <a:pt x="85725" y="59348"/>
                  <a:pt x="120894" y="59348"/>
                </a:cubicBezTo>
                <a:cubicBezTo>
                  <a:pt x="147975" y="59348"/>
                  <a:pt x="174352" y="76757"/>
                  <a:pt x="183671" y="100848"/>
                </a:cubicBezTo>
                <a:lnTo>
                  <a:pt x="216555" y="100848"/>
                </a:lnTo>
                <a:cubicBezTo>
                  <a:pt x="225699" y="76757"/>
                  <a:pt x="252076" y="59348"/>
                  <a:pt x="279156" y="59348"/>
                </a:cubicBezTo>
                <a:cubicBezTo>
                  <a:pt x="314325" y="59348"/>
                  <a:pt x="340702" y="85725"/>
                  <a:pt x="340702" y="120894"/>
                </a:cubicBezTo>
                <a:cubicBezTo>
                  <a:pt x="340702" y="171714"/>
                  <a:pt x="285486" y="221830"/>
                  <a:pt x="201784" y="2976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7" name="Google Shape;557;p63"/>
          <p:cNvSpPr txBox="1"/>
          <p:nvPr>
            <p:ph idx="5" type="subTitle"/>
          </p:nvPr>
        </p:nvSpPr>
        <p:spPr>
          <a:xfrm>
            <a:off x="3691400" y="1616392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Inscription candidats 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58" name="Google Shape;558;p63"/>
          <p:cNvSpPr txBox="1"/>
          <p:nvPr>
            <p:ph idx="6" type="body"/>
          </p:nvPr>
        </p:nvSpPr>
        <p:spPr>
          <a:xfrm>
            <a:off x="3691400" y="1823692"/>
            <a:ext cx="22446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Paramétrage et envoi d’un lien d’inscription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63"/>
          <p:cNvSpPr/>
          <p:nvPr/>
        </p:nvSpPr>
        <p:spPr>
          <a:xfrm>
            <a:off x="575075" y="4194975"/>
            <a:ext cx="8060100" cy="48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Tableau de bord de suivi de toutes les étapes à disposition du porteur de projet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0" name="Google Shape;560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0240" y="2325763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3"/>
          <p:cNvSpPr txBox="1"/>
          <p:nvPr>
            <p:ph idx="4" type="body"/>
          </p:nvPr>
        </p:nvSpPr>
        <p:spPr>
          <a:xfrm>
            <a:off x="2356975" y="2929075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1041BE"/>
                </a:solidFill>
              </a:rPr>
              <a:t>Sélection du prestataire </a:t>
            </a:r>
            <a:endParaRPr sz="1400">
              <a:solidFill>
                <a:srgbClr val="1041BE"/>
              </a:solidFill>
            </a:endParaRPr>
          </a:p>
        </p:txBody>
      </p:sp>
      <p:sp>
        <p:nvSpPr>
          <p:cNvPr id="562" name="Google Shape;562;p63"/>
          <p:cNvSpPr txBox="1"/>
          <p:nvPr>
            <p:ph idx="6" type="body"/>
          </p:nvPr>
        </p:nvSpPr>
        <p:spPr>
          <a:xfrm>
            <a:off x="2367119" y="3164675"/>
            <a:ext cx="19218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Depuis la liste des AAP référencés chez FVAE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63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LES ÉTAPES-CLÉS D’UNE VAE COLLECTIVE</a:t>
            </a:r>
            <a:endParaRPr/>
          </a:p>
        </p:txBody>
      </p:sp>
      <p:sp>
        <p:nvSpPr>
          <p:cNvPr id="564" name="Google Shape;564;p63"/>
          <p:cNvSpPr/>
          <p:nvPr/>
        </p:nvSpPr>
        <p:spPr>
          <a:xfrm>
            <a:off x="2679927" y="2406701"/>
            <a:ext cx="290146" cy="290146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65" name="Google Shape;565;p63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980" y="891090"/>
            <a:ext cx="152400" cy="170568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63"/>
          <p:cNvSpPr/>
          <p:nvPr/>
        </p:nvSpPr>
        <p:spPr>
          <a:xfrm>
            <a:off x="778388" y="4278513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7" name="Google Shape;567;p63"/>
          <p:cNvSpPr txBox="1"/>
          <p:nvPr>
            <p:ph idx="6" type="body"/>
          </p:nvPr>
        </p:nvSpPr>
        <p:spPr>
          <a:xfrm>
            <a:off x="818388" y="857724"/>
            <a:ext cx="1921800" cy="23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 sein de votre organisation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8" name="Google Shape;568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0105" y="891090"/>
            <a:ext cx="152400" cy="170568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63"/>
          <p:cNvSpPr/>
          <p:nvPr/>
        </p:nvSpPr>
        <p:spPr>
          <a:xfrm>
            <a:off x="8018028" y="2406708"/>
            <a:ext cx="237392" cy="290146"/>
          </a:xfrm>
          <a:custGeom>
            <a:rect b="b" l="l" r="r" t="t"/>
            <a:pathLst>
              <a:path extrusionOk="0" h="386861" w="316523">
                <a:moveTo>
                  <a:pt x="270364" y="24179"/>
                </a:moveTo>
                <a:lnTo>
                  <a:pt x="59348" y="24179"/>
                </a:lnTo>
                <a:cubicBezTo>
                  <a:pt x="40005" y="24179"/>
                  <a:pt x="24179" y="40005"/>
                  <a:pt x="24179" y="59348"/>
                </a:cubicBezTo>
                <a:lnTo>
                  <a:pt x="24179" y="340702"/>
                </a:lnTo>
                <a:cubicBezTo>
                  <a:pt x="24179" y="360045"/>
                  <a:pt x="40005" y="375871"/>
                  <a:pt x="59348" y="375871"/>
                </a:cubicBezTo>
                <a:lnTo>
                  <a:pt x="270364" y="375871"/>
                </a:lnTo>
                <a:cubicBezTo>
                  <a:pt x="289707" y="375871"/>
                  <a:pt x="305533" y="360045"/>
                  <a:pt x="305533" y="340702"/>
                </a:cubicBezTo>
                <a:lnTo>
                  <a:pt x="305533" y="59348"/>
                </a:lnTo>
                <a:cubicBezTo>
                  <a:pt x="305533" y="40005"/>
                  <a:pt x="289707" y="24179"/>
                  <a:pt x="270364" y="24179"/>
                </a:cubicBezTo>
                <a:close/>
                <a:moveTo>
                  <a:pt x="112102" y="59348"/>
                </a:moveTo>
                <a:lnTo>
                  <a:pt x="147271" y="59348"/>
                </a:lnTo>
                <a:lnTo>
                  <a:pt x="147271" y="147271"/>
                </a:lnTo>
                <a:lnTo>
                  <a:pt x="129687" y="134083"/>
                </a:lnTo>
                <a:lnTo>
                  <a:pt x="112102" y="147271"/>
                </a:lnTo>
                <a:lnTo>
                  <a:pt x="112102" y="59348"/>
                </a:lnTo>
                <a:close/>
                <a:moveTo>
                  <a:pt x="270364" y="340702"/>
                </a:moveTo>
                <a:lnTo>
                  <a:pt x="59348" y="340702"/>
                </a:lnTo>
                <a:lnTo>
                  <a:pt x="59348" y="59348"/>
                </a:lnTo>
                <a:lnTo>
                  <a:pt x="76933" y="59348"/>
                </a:lnTo>
                <a:lnTo>
                  <a:pt x="76933" y="217610"/>
                </a:lnTo>
                <a:lnTo>
                  <a:pt x="129687" y="178044"/>
                </a:lnTo>
                <a:lnTo>
                  <a:pt x="182440" y="217610"/>
                </a:lnTo>
                <a:lnTo>
                  <a:pt x="182440" y="59348"/>
                </a:lnTo>
                <a:lnTo>
                  <a:pt x="270364" y="59348"/>
                </a:lnTo>
                <a:lnTo>
                  <a:pt x="270364" y="34070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0" name="Google Shape;570;p63"/>
          <p:cNvSpPr txBox="1"/>
          <p:nvPr>
            <p:ph idx="6" type="body"/>
          </p:nvPr>
        </p:nvSpPr>
        <p:spPr>
          <a:xfrm>
            <a:off x="2892513" y="857724"/>
            <a:ext cx="1921800" cy="23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 sein de votre interface FVAE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63"/>
          <p:cNvSpPr/>
          <p:nvPr/>
        </p:nvSpPr>
        <p:spPr>
          <a:xfrm>
            <a:off x="561450" y="814450"/>
            <a:ext cx="4302300" cy="31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  <mc:AlternateContent>
    <mc:Choice Requires="p14">
      <p:transition p14:dur="2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4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Notre approche</a:t>
            </a:r>
            <a:endParaRPr/>
          </a:p>
        </p:txBody>
      </p:sp>
      <p:sp>
        <p:nvSpPr>
          <p:cNvPr id="577" name="Google Shape;577;p64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64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5"/>
          <p:cNvSpPr txBox="1"/>
          <p:nvPr>
            <p:ph idx="2" type="body"/>
          </p:nvPr>
        </p:nvSpPr>
        <p:spPr>
          <a:xfrm>
            <a:off x="503039" y="-1501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LA VAE COLLECTIVE, DE QUOI S’AGIT-IL ?</a:t>
            </a:r>
            <a:endParaRPr/>
          </a:p>
        </p:txBody>
      </p:sp>
      <p:sp>
        <p:nvSpPr>
          <p:cNvPr id="584" name="Google Shape;584;p65"/>
          <p:cNvSpPr txBox="1"/>
          <p:nvPr>
            <p:ph idx="3" type="body"/>
          </p:nvPr>
        </p:nvSpPr>
        <p:spPr>
          <a:xfrm>
            <a:off x="502541" y="334922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Plan des tests IRL et de la co-création</a:t>
            </a:r>
            <a:endParaRPr/>
          </a:p>
        </p:txBody>
      </p:sp>
      <p:cxnSp>
        <p:nvCxnSpPr>
          <p:cNvPr id="585" name="Google Shape;585;p65"/>
          <p:cNvCxnSpPr>
            <a:endCxn id="586" idx="1"/>
          </p:cNvCxnSpPr>
          <p:nvPr/>
        </p:nvCxnSpPr>
        <p:spPr>
          <a:xfrm>
            <a:off x="-345825" y="2699325"/>
            <a:ext cx="1697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7" name="Google Shape;587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75" y="2573237"/>
            <a:ext cx="225324" cy="25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1575" y="2573237"/>
            <a:ext cx="225324" cy="252176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65"/>
          <p:cNvSpPr txBox="1"/>
          <p:nvPr/>
        </p:nvSpPr>
        <p:spPr>
          <a:xfrm>
            <a:off x="422675" y="2087676"/>
            <a:ext cx="11454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MAR 25</a:t>
            </a:r>
            <a:b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1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Priorisation politique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65"/>
          <p:cNvSpPr txBox="1"/>
          <p:nvPr/>
        </p:nvSpPr>
        <p:spPr>
          <a:xfrm>
            <a:off x="1794903" y="3357824"/>
            <a:ext cx="11454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AVR 2025</a:t>
            </a:r>
            <a:b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MEP Version MVP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65"/>
          <p:cNvSpPr txBox="1"/>
          <p:nvPr/>
        </p:nvSpPr>
        <p:spPr>
          <a:xfrm>
            <a:off x="4372250" y="1250675"/>
            <a:ext cx="34392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Espace commanditaire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" name="Google Shape;591;p65"/>
          <p:cNvCxnSpPr>
            <a:stCxn id="586" idx="3"/>
          </p:cNvCxnSpPr>
          <p:nvPr/>
        </p:nvCxnSpPr>
        <p:spPr>
          <a:xfrm flipH="1" rot="10800000">
            <a:off x="1576899" y="1659825"/>
            <a:ext cx="2250300" cy="10395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65"/>
          <p:cNvCxnSpPr/>
          <p:nvPr/>
        </p:nvCxnSpPr>
        <p:spPr>
          <a:xfrm>
            <a:off x="3850000" y="1652275"/>
            <a:ext cx="5069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65"/>
          <p:cNvCxnSpPr>
            <a:stCxn id="586" idx="3"/>
          </p:cNvCxnSpPr>
          <p:nvPr/>
        </p:nvCxnSpPr>
        <p:spPr>
          <a:xfrm>
            <a:off x="1576899" y="2699325"/>
            <a:ext cx="2273100" cy="1200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65"/>
          <p:cNvCxnSpPr/>
          <p:nvPr/>
        </p:nvCxnSpPr>
        <p:spPr>
          <a:xfrm>
            <a:off x="3850000" y="3897050"/>
            <a:ext cx="5069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" name="Google Shape;595;p65"/>
          <p:cNvSpPr txBox="1"/>
          <p:nvPr/>
        </p:nvSpPr>
        <p:spPr>
          <a:xfrm>
            <a:off x="4372250" y="3481113"/>
            <a:ext cx="34392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Beta-test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Google Shape;596;p65"/>
          <p:cNvSpPr/>
          <p:nvPr/>
        </p:nvSpPr>
        <p:spPr>
          <a:xfrm>
            <a:off x="2550625" y="1903700"/>
            <a:ext cx="1145400" cy="25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 Medium"/>
                <a:ea typeface="Roboto Medium"/>
                <a:cs typeface="Roboto Medium"/>
                <a:sym typeface="Roboto Medium"/>
              </a:rPr>
              <a:t>Entreprises</a:t>
            </a:r>
            <a:endParaRPr sz="10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97" name="Google Shape;597;p65"/>
          <p:cNvSpPr/>
          <p:nvPr/>
        </p:nvSpPr>
        <p:spPr>
          <a:xfrm>
            <a:off x="1763100" y="2937825"/>
            <a:ext cx="1145400" cy="41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 Medium"/>
                <a:ea typeface="Roboto Medium"/>
                <a:cs typeface="Roboto Medium"/>
                <a:sym typeface="Roboto Medium"/>
              </a:rPr>
              <a:t>Certificateurs,</a:t>
            </a:r>
            <a:br>
              <a:rPr lang="fr" sz="1000"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fr" sz="1000">
                <a:latin typeface="Roboto Medium"/>
                <a:ea typeface="Roboto Medium"/>
                <a:cs typeface="Roboto Medium"/>
                <a:sym typeface="Roboto Medium"/>
              </a:rPr>
              <a:t>AAP, Candidats</a:t>
            </a:r>
            <a:endParaRPr sz="10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98" name="Google Shape;598;p65"/>
          <p:cNvSpPr txBox="1"/>
          <p:nvPr/>
        </p:nvSpPr>
        <p:spPr>
          <a:xfrm>
            <a:off x="4372250" y="1652275"/>
            <a:ext cx="34392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o-construire l’offre avec les entreprises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9" name="Google Shape;599;p65" title="icons8-loop-30.png"/>
          <p:cNvPicPr preferRelativeResize="0"/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5138900" y="3584313"/>
            <a:ext cx="225325" cy="2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65" title="icons8-loop-30.png"/>
          <p:cNvPicPr preferRelativeResize="0"/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5602423" y="3584313"/>
            <a:ext cx="225325" cy="2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65" title="icons8-loop-30.png"/>
          <p:cNvPicPr preferRelativeResize="0"/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6065946" y="3584313"/>
            <a:ext cx="225325" cy="2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65" title="icons8-loop-30.png"/>
          <p:cNvPicPr preferRelativeResize="0"/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6529469" y="3584313"/>
            <a:ext cx="225325" cy="2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65" title="icons8-loop-30.png"/>
          <p:cNvPicPr preferRelativeResize="0"/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6992992" y="3584313"/>
            <a:ext cx="225325" cy="2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65" title="icons8-loop-30.png"/>
          <p:cNvPicPr preferRelativeResize="0"/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7456514" y="3584313"/>
            <a:ext cx="225325" cy="22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65" title="icons8-loop-30.png"/>
          <p:cNvPicPr preferRelativeResize="0"/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7920037" y="3584313"/>
            <a:ext cx="225325" cy="22532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65"/>
          <p:cNvSpPr txBox="1"/>
          <p:nvPr/>
        </p:nvSpPr>
        <p:spPr>
          <a:xfrm>
            <a:off x="4372250" y="3897050"/>
            <a:ext cx="3092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Enrichir le produit FVAE à partir de la gestion individuelle vers la gestion collective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65"/>
          <p:cNvSpPr/>
          <p:nvPr/>
        </p:nvSpPr>
        <p:spPr>
          <a:xfrm>
            <a:off x="4364675" y="2050725"/>
            <a:ext cx="4594500" cy="30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 Medium"/>
                <a:ea typeface="Roboto Medium"/>
                <a:cs typeface="Roboto Medium"/>
                <a:sym typeface="Roboto Medium"/>
              </a:rPr>
              <a:t>Obj : Rendre l’entreprise autonome pour gérer et piloter ses projets collectifs</a:t>
            </a:r>
            <a:endParaRPr sz="10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08" name="Google Shape;608;p65"/>
          <p:cNvSpPr/>
          <p:nvPr/>
        </p:nvSpPr>
        <p:spPr>
          <a:xfrm>
            <a:off x="6073469" y="1326871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rgbClr val="E101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9" name="Google Shape;609;p65"/>
          <p:cNvSpPr/>
          <p:nvPr/>
        </p:nvSpPr>
        <p:spPr>
          <a:xfrm>
            <a:off x="6725644" y="1326871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rgbClr val="E101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0" name="Google Shape;610;p65"/>
          <p:cNvSpPr/>
          <p:nvPr/>
        </p:nvSpPr>
        <p:spPr>
          <a:xfrm>
            <a:off x="4381825" y="4449225"/>
            <a:ext cx="3871200" cy="326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 Medium"/>
                <a:ea typeface="Roboto Medium"/>
                <a:cs typeface="Roboto Medium"/>
                <a:sym typeface="Roboto Medium"/>
              </a:rPr>
              <a:t>Obj : Améliorer fléchage candidats, filtres, gestion candidatures</a:t>
            </a:r>
            <a:endParaRPr sz="10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1" name="Google Shape;611;p65"/>
          <p:cNvSpPr/>
          <p:nvPr/>
        </p:nvSpPr>
        <p:spPr>
          <a:xfrm>
            <a:off x="5962125" y="915425"/>
            <a:ext cx="1731000" cy="25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latin typeface="Roboto Medium"/>
                <a:ea typeface="Roboto Medium"/>
                <a:cs typeface="Roboto Medium"/>
                <a:sym typeface="Roboto Medium"/>
              </a:rPr>
              <a:t>Présentations</a:t>
            </a:r>
            <a:endParaRPr sz="8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latin typeface="Roboto Medium"/>
                <a:ea typeface="Roboto Medium"/>
                <a:cs typeface="Roboto Medium"/>
                <a:sym typeface="Roboto Medium"/>
              </a:rPr>
              <a:t>et embarquement</a:t>
            </a:r>
            <a:endParaRPr sz="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2" name="Google Shape;612;p65"/>
          <p:cNvSpPr/>
          <p:nvPr/>
        </p:nvSpPr>
        <p:spPr>
          <a:xfrm>
            <a:off x="5745875" y="3092738"/>
            <a:ext cx="1505400" cy="25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latin typeface="Roboto Medium"/>
                <a:ea typeface="Roboto Medium"/>
                <a:cs typeface="Roboto Medium"/>
                <a:sym typeface="Roboto Medium"/>
              </a:rPr>
              <a:t>Tests réels</a:t>
            </a:r>
            <a:endParaRPr sz="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613" name="Google Shape;613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1850" y="1526187"/>
            <a:ext cx="225324" cy="25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65"/>
          <p:cNvSpPr txBox="1"/>
          <p:nvPr/>
        </p:nvSpPr>
        <p:spPr>
          <a:xfrm>
            <a:off x="8111750" y="891076"/>
            <a:ext cx="11454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SEPT 2025</a:t>
            </a:r>
            <a:b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Métabase sur 5 indicateurs clés pour le pilotage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65"/>
          <p:cNvSpPr/>
          <p:nvPr/>
        </p:nvSpPr>
        <p:spPr>
          <a:xfrm>
            <a:off x="7298019" y="1326871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rgbClr val="E101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6" name="Google Shape;616;p65"/>
          <p:cNvSpPr txBox="1"/>
          <p:nvPr/>
        </p:nvSpPr>
        <p:spPr>
          <a:xfrm>
            <a:off x="2575050" y="1393026"/>
            <a:ext cx="11454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MAI</a:t>
            </a: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 2025</a:t>
            </a:r>
            <a:b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Démarrage Expérimentation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6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</a:pPr>
            <a:r>
              <a:rPr lang="fr"/>
              <a:t>LANCEMENT DE VOTRE PROJET COLLECTIF</a:t>
            </a:r>
            <a:endParaRPr/>
          </a:p>
        </p:txBody>
      </p:sp>
      <p:pic>
        <p:nvPicPr>
          <p:cNvPr id="622" name="Google Shape;622;p66" title="Capture d’écran 2025-05-20 à 11.38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475" y="538727"/>
            <a:ext cx="8496876" cy="3916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7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</a:t>
            </a:r>
            <a:r>
              <a:rPr lang="fr"/>
              <a:t>ê</a:t>
            </a:r>
            <a:r>
              <a:rPr lang="fr"/>
              <a:t>ta-tests</a:t>
            </a:r>
            <a:endParaRPr/>
          </a:p>
        </p:txBody>
      </p:sp>
      <p:sp>
        <p:nvSpPr>
          <p:cNvPr id="628" name="Google Shape;628;p67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67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847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9412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68"/>
          <p:cNvSpPr/>
          <p:nvPr/>
        </p:nvSpPr>
        <p:spPr>
          <a:xfrm>
            <a:off x="1250209" y="1992093"/>
            <a:ext cx="222600" cy="22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00009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</a:t>
            </a:r>
            <a:endParaRPr i="0" sz="1100" u="none" cap="none" strike="noStrike">
              <a:solidFill>
                <a:srgbClr val="00009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38" name="Google Shape;638;p68"/>
          <p:cNvSpPr/>
          <p:nvPr/>
        </p:nvSpPr>
        <p:spPr>
          <a:xfrm>
            <a:off x="4433968" y="1992093"/>
            <a:ext cx="222600" cy="22260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</a:t>
            </a:r>
            <a:endParaRPr i="0" sz="1100" u="none" cap="none" strike="noStrike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639" name="Google Shape;63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5309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0" name="Google Shape;640;p68"/>
          <p:cNvCxnSpPr>
            <a:stCxn id="636" idx="3"/>
            <a:endCxn id="639" idx="1"/>
          </p:cNvCxnSpPr>
          <p:nvPr/>
        </p:nvCxnSpPr>
        <p:spPr>
          <a:xfrm>
            <a:off x="5261275" y="2797773"/>
            <a:ext cx="363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641" name="Google Shape;64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1203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2" name="Google Shape;642;p68"/>
          <p:cNvCxnSpPr>
            <a:endCxn id="641" idx="1"/>
          </p:cNvCxnSpPr>
          <p:nvPr/>
        </p:nvCxnSpPr>
        <p:spPr>
          <a:xfrm>
            <a:off x="7039803" y="2797773"/>
            <a:ext cx="371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3" name="Google Shape;643;p68"/>
          <p:cNvSpPr/>
          <p:nvPr/>
        </p:nvSpPr>
        <p:spPr>
          <a:xfrm>
            <a:off x="8015905" y="1992093"/>
            <a:ext cx="222600" cy="22260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5</a:t>
            </a:r>
            <a:endParaRPr i="0" sz="1100" u="none" cap="none" strike="noStrike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44" name="Google Shape;644;p68"/>
          <p:cNvSpPr/>
          <p:nvPr/>
        </p:nvSpPr>
        <p:spPr>
          <a:xfrm>
            <a:off x="788788" y="1292756"/>
            <a:ext cx="1145400" cy="19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Aujourd’hui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5" name="Google Shape;645;p68"/>
          <p:cNvCxnSpPr>
            <a:stCxn id="644" idx="2"/>
            <a:endCxn id="637" idx="0"/>
          </p:cNvCxnSpPr>
          <p:nvPr/>
        </p:nvCxnSpPr>
        <p:spPr>
          <a:xfrm>
            <a:off x="1361488" y="1490156"/>
            <a:ext cx="0" cy="501900"/>
          </a:xfrm>
          <a:prstGeom prst="straightConnector1">
            <a:avLst/>
          </a:prstGeom>
          <a:noFill/>
          <a:ln cap="flat" cmpd="sng" w="9525">
            <a:solidFill>
              <a:srgbClr val="00009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6" name="Google Shape;646;p68"/>
          <p:cNvSpPr txBox="1"/>
          <p:nvPr/>
        </p:nvSpPr>
        <p:spPr>
          <a:xfrm>
            <a:off x="729075" y="2408928"/>
            <a:ext cx="11454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Rdv avec une chargée de déploiement France VAE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68"/>
          <p:cNvSpPr txBox="1"/>
          <p:nvPr/>
        </p:nvSpPr>
        <p:spPr>
          <a:xfrm>
            <a:off x="3977719" y="2573034"/>
            <a:ext cx="1145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Renseignement d’un formulaire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infos clés sur votre projet de VAE collective 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68"/>
          <p:cNvSpPr txBox="1"/>
          <p:nvPr/>
        </p:nvSpPr>
        <p:spPr>
          <a:xfrm>
            <a:off x="5763541" y="2501484"/>
            <a:ext cx="114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Création de </a:t>
            </a:r>
            <a:b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votre compte et de votre cohorte  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par France VAE</a:t>
            </a:r>
            <a:b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(sous 48h)</a:t>
            </a:r>
            <a:endParaRPr sz="9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68"/>
          <p:cNvSpPr txBox="1"/>
          <p:nvPr/>
        </p:nvSpPr>
        <p:spPr>
          <a:xfrm>
            <a:off x="7549509" y="2429934"/>
            <a:ext cx="11454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Réception d’un lien d’inscription</a:t>
            </a:r>
            <a:endParaRPr b="1" sz="9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à communiquer à vos candidats</a:t>
            </a:r>
            <a:endParaRPr sz="9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68">
            <a:hlinkClick r:id="rId4"/>
          </p:cNvPr>
          <p:cNvSpPr/>
          <p:nvPr/>
        </p:nvSpPr>
        <p:spPr>
          <a:xfrm>
            <a:off x="3767325" y="3617150"/>
            <a:ext cx="1590600" cy="222600"/>
          </a:xfrm>
          <a:prstGeom prst="roundRect">
            <a:avLst>
              <a:gd fmla="val 16667" name="adj"/>
            </a:avLst>
          </a:prstGeom>
          <a:solidFill>
            <a:srgbClr val="1041BE"/>
          </a:solidFill>
          <a:ln>
            <a:noFill/>
          </a:ln>
        </p:spPr>
        <p:txBody>
          <a:bodyPr anchorCtr="0" anchor="ctr" bIns="0" lIns="135000" spcFirstLastPara="1" rIns="135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fr" sz="9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Accéder au formulaire -&gt;</a:t>
            </a:r>
            <a:endParaRPr b="1" i="0" sz="9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68"/>
          <p:cNvSpPr/>
          <p:nvPr/>
        </p:nvSpPr>
        <p:spPr>
          <a:xfrm>
            <a:off x="3834350" y="1292756"/>
            <a:ext cx="1421700" cy="197400"/>
          </a:xfrm>
          <a:prstGeom prst="roundRect">
            <a:avLst>
              <a:gd fmla="val 16667" name="adj"/>
            </a:avLst>
          </a:prstGeom>
          <a:solidFill>
            <a:srgbClr val="00009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prochaine étape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2" name="Google Shape;652;p68"/>
          <p:cNvCxnSpPr>
            <a:stCxn id="651" idx="2"/>
            <a:endCxn id="638" idx="0"/>
          </p:cNvCxnSpPr>
          <p:nvPr/>
        </p:nvCxnSpPr>
        <p:spPr>
          <a:xfrm>
            <a:off x="4545200" y="1490156"/>
            <a:ext cx="0" cy="501900"/>
          </a:xfrm>
          <a:prstGeom prst="straightConnector1">
            <a:avLst/>
          </a:prstGeom>
          <a:noFill/>
          <a:ln cap="flat" cmpd="sng" w="9525">
            <a:solidFill>
              <a:srgbClr val="000091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653" name="Google Shape;65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5122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68"/>
          <p:cNvSpPr txBox="1"/>
          <p:nvPr/>
        </p:nvSpPr>
        <p:spPr>
          <a:xfrm>
            <a:off x="2390053" y="2640534"/>
            <a:ext cx="11454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Consultation et sélection d’un AAP référencé France VAE 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68"/>
          <p:cNvSpPr/>
          <p:nvPr/>
        </p:nvSpPr>
        <p:spPr>
          <a:xfrm>
            <a:off x="7728925" y="1292756"/>
            <a:ext cx="1421700" cy="197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🏁 Le projet est lancé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68"/>
          <p:cNvSpPr/>
          <p:nvPr/>
        </p:nvSpPr>
        <p:spPr>
          <a:xfrm>
            <a:off x="2814743" y="1992093"/>
            <a:ext cx="222600" cy="22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00009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</a:t>
            </a:r>
            <a:endParaRPr sz="1100">
              <a:solidFill>
                <a:srgbClr val="00009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57" name="Google Shape;657;p68"/>
          <p:cNvSpPr/>
          <p:nvPr/>
        </p:nvSpPr>
        <p:spPr>
          <a:xfrm>
            <a:off x="6172830" y="1992093"/>
            <a:ext cx="222600" cy="22260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</a:t>
            </a:r>
            <a:endParaRPr i="0" sz="1100" u="none" cap="none" strike="noStrike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58" name="Google Shape;658;p68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LANCEMENT DE VOTRE PROJET COLLECTIF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68"/>
          <p:cNvSpPr txBox="1"/>
          <p:nvPr/>
        </p:nvSpPr>
        <p:spPr>
          <a:xfrm>
            <a:off x="502541" y="360587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Démarrage d’un projet collectif en 5 étapes</a:t>
            </a:r>
            <a:endParaRPr b="1" sz="23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0" name="Google Shape;660;p68"/>
          <p:cNvCxnSpPr>
            <a:stCxn id="635" idx="3"/>
            <a:endCxn id="653" idx="1"/>
          </p:cNvCxnSpPr>
          <p:nvPr/>
        </p:nvCxnSpPr>
        <p:spPr>
          <a:xfrm>
            <a:off x="2012710" y="2797773"/>
            <a:ext cx="202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61" name="Google Shape;661;p68"/>
          <p:cNvCxnSpPr>
            <a:stCxn id="653" idx="3"/>
            <a:endCxn id="636" idx="1"/>
          </p:cNvCxnSpPr>
          <p:nvPr/>
        </p:nvCxnSpPr>
        <p:spPr>
          <a:xfrm>
            <a:off x="3636985" y="2797773"/>
            <a:ext cx="202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9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LANCEMENT DE VOTRE PROJET COLLECTIF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69"/>
          <p:cNvSpPr txBox="1"/>
          <p:nvPr/>
        </p:nvSpPr>
        <p:spPr>
          <a:xfrm>
            <a:off x="502541" y="360587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Adaptation et itération sur les espaces AAP, certificateurs et candidat</a:t>
            </a:r>
            <a:endParaRPr b="1"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9" name="Google Shape;669;p69"/>
          <p:cNvPicPr preferRelativeResize="0"/>
          <p:nvPr/>
        </p:nvPicPr>
        <p:blipFill rotWithShape="1">
          <a:blip r:embed="rId3">
            <a:alphaModFix/>
          </a:blip>
          <a:srcRect b="12724" l="0" r="0" t="19048"/>
          <a:stretch/>
        </p:blipFill>
        <p:spPr>
          <a:xfrm>
            <a:off x="4107725" y="1021050"/>
            <a:ext cx="4829999" cy="291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922" y="1184636"/>
            <a:ext cx="1421863" cy="15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69"/>
          <p:cNvSpPr txBox="1"/>
          <p:nvPr/>
        </p:nvSpPr>
        <p:spPr>
          <a:xfrm>
            <a:off x="971150" y="1580253"/>
            <a:ext cx="11454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AAP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Isoler et gérer un groupe de salariés candidats, le suivre de manière collective 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2" name="Google Shape;672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922" y="2753549"/>
            <a:ext cx="1421863" cy="15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9"/>
          <p:cNvSpPr txBox="1"/>
          <p:nvPr/>
        </p:nvSpPr>
        <p:spPr>
          <a:xfrm>
            <a:off x="971150" y="3149165"/>
            <a:ext cx="11454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Certificateur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es candidats doivent avancer en m</a:t>
            </a:r>
            <a:r>
              <a:rPr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ême temps </a:t>
            </a:r>
            <a:r>
              <a:rPr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(recevabilité, jury etc…)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4" name="Google Shape;674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4772" y="2039224"/>
            <a:ext cx="1421863" cy="15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69"/>
          <p:cNvSpPr txBox="1"/>
          <p:nvPr/>
        </p:nvSpPr>
        <p:spPr>
          <a:xfrm>
            <a:off x="2393000" y="2434840"/>
            <a:ext cx="11454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Candidat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 On-boarding et fléchage ultra simplifié (bon AAP et bon certificateur)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70"/>
          <p:cNvSpPr txBox="1"/>
          <p:nvPr>
            <p:ph type="ctrTitle"/>
          </p:nvPr>
        </p:nvSpPr>
        <p:spPr>
          <a:xfrm>
            <a:off x="2863400" y="2125275"/>
            <a:ext cx="5705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Co-construction de l’outil de pilotage commanditaire</a:t>
            </a:r>
            <a:endParaRPr/>
          </a:p>
        </p:txBody>
      </p:sp>
      <p:sp>
        <p:nvSpPr>
          <p:cNvPr id="681" name="Google Shape;681;p70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70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1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LANCEMENT DE VOTRE PROJET COLLECTIF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71"/>
          <p:cNvSpPr txBox="1"/>
          <p:nvPr/>
        </p:nvSpPr>
        <p:spPr>
          <a:xfrm>
            <a:off x="502541" y="360587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Adaptation et itération sur les espaces AAP, certificateurs et candidat</a:t>
            </a:r>
            <a:endParaRPr b="1"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0" name="Google Shape;69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247" y="1787299"/>
            <a:ext cx="1421863" cy="15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71"/>
          <p:cNvSpPr txBox="1"/>
          <p:nvPr/>
        </p:nvSpPr>
        <p:spPr>
          <a:xfrm>
            <a:off x="871475" y="2182915"/>
            <a:ext cx="11454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Commanditaire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Créer et piloter les cohortes de salariés. Accéder à des indicateurs clés.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71"/>
          <p:cNvSpPr/>
          <p:nvPr/>
        </p:nvSpPr>
        <p:spPr>
          <a:xfrm>
            <a:off x="3170100" y="1412125"/>
            <a:ext cx="5440500" cy="30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3" name="Google Shape;693;p71"/>
          <p:cNvSpPr/>
          <p:nvPr/>
        </p:nvSpPr>
        <p:spPr>
          <a:xfrm>
            <a:off x="3180800" y="1422825"/>
            <a:ext cx="5429700" cy="36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Votre espace entreprise</a:t>
            </a:r>
            <a:endParaRPr b="1"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71"/>
          <p:cNvSpPr/>
          <p:nvPr/>
        </p:nvSpPr>
        <p:spPr>
          <a:xfrm>
            <a:off x="3421625" y="1957950"/>
            <a:ext cx="2434800" cy="1102200"/>
          </a:xfrm>
          <a:prstGeom prst="roundRect">
            <a:avLst>
              <a:gd fmla="val 8252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J’accède à mon espace connecté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5" name="Google Shape;695;p71"/>
          <p:cNvSpPr/>
          <p:nvPr/>
        </p:nvSpPr>
        <p:spPr>
          <a:xfrm>
            <a:off x="5990900" y="1957950"/>
            <a:ext cx="2386500" cy="1102200"/>
          </a:xfrm>
          <a:prstGeom prst="roundRect">
            <a:avLst>
              <a:gd fmla="val 818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crée ma cohorte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6" name="Google Shape;696;p71"/>
          <p:cNvSpPr/>
          <p:nvPr/>
        </p:nvSpPr>
        <p:spPr>
          <a:xfrm>
            <a:off x="3421625" y="3181675"/>
            <a:ext cx="2434800" cy="1102200"/>
          </a:xfrm>
          <a:prstGeom prst="roundRect">
            <a:avLst>
              <a:gd fmla="val 873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suis ma cohorte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7" name="Google Shape;697;p71"/>
          <p:cNvSpPr/>
          <p:nvPr/>
        </p:nvSpPr>
        <p:spPr>
          <a:xfrm>
            <a:off x="5990900" y="3181675"/>
            <a:ext cx="2386500" cy="1102200"/>
          </a:xfrm>
          <a:prstGeom prst="roundRect">
            <a:avLst>
              <a:gd fmla="val 818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pilote mon projet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Une image contenant Graphique, graphisme, Police, logo&#10;&#10;Description générée automatiquement" id="698" name="Google Shape;698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0797" y="1419599"/>
            <a:ext cx="669027" cy="36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2"/>
          <p:cNvSpPr txBox="1"/>
          <p:nvPr>
            <p:ph idx="4294967295" type="body"/>
          </p:nvPr>
        </p:nvSpPr>
        <p:spPr>
          <a:xfrm>
            <a:off x="970479" y="-60887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Espace dédié</a:t>
            </a:r>
            <a:endParaRPr b="1" sz="2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4" name="Google Shape;704;p72" title="vae collective - video parcours - creation cohorte - H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8762" y="0"/>
            <a:ext cx="9281520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VAE">
  <a:themeElements>
    <a:clrScheme name="Personnalisé 1">
      <a:dk1>
        <a:srgbClr val="182759"/>
      </a:dk1>
      <a:lt1>
        <a:srgbClr val="FFFFFF"/>
      </a:lt1>
      <a:dk2>
        <a:srgbClr val="434749"/>
      </a:dk2>
      <a:lt2>
        <a:srgbClr val="E8EBF5"/>
      </a:lt2>
      <a:accent1>
        <a:srgbClr val="E1010F"/>
      </a:accent1>
      <a:accent2>
        <a:srgbClr val="3BB649"/>
      </a:accent2>
      <a:accent3>
        <a:srgbClr val="00929D"/>
      </a:accent3>
      <a:accent4>
        <a:srgbClr val="FE993F"/>
      </a:accent4>
      <a:accent5>
        <a:srgbClr val="A82586"/>
      </a:accent5>
      <a:accent6>
        <a:srgbClr val="7AB1E8"/>
      </a:accent6>
      <a:hlink>
        <a:srgbClr val="3838E7"/>
      </a:hlink>
      <a:folHlink>
        <a:srgbClr val="7F042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